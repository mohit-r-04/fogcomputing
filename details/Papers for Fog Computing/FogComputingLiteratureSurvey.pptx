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30"/>
  </p:notesMasterIdLst>
  <p:handoutMasterIdLst>
    <p:handoutMasterId r:id="rId31"/>
  </p:handoutMasterIdLst>
  <p:sldIdLst>
    <p:sldId id="631" r:id="rId2"/>
    <p:sldId id="632" r:id="rId3"/>
    <p:sldId id="657" r:id="rId4"/>
    <p:sldId id="681" r:id="rId5"/>
    <p:sldId id="658" r:id="rId6"/>
    <p:sldId id="659" r:id="rId7"/>
    <p:sldId id="660" r:id="rId8"/>
    <p:sldId id="662" r:id="rId9"/>
    <p:sldId id="676" r:id="rId10"/>
    <p:sldId id="682" r:id="rId11"/>
    <p:sldId id="663" r:id="rId12"/>
    <p:sldId id="661" r:id="rId13"/>
    <p:sldId id="667" r:id="rId14"/>
    <p:sldId id="666" r:id="rId15"/>
    <p:sldId id="683" r:id="rId16"/>
    <p:sldId id="665" r:id="rId17"/>
    <p:sldId id="664" r:id="rId18"/>
    <p:sldId id="680" r:id="rId19"/>
    <p:sldId id="670" r:id="rId20"/>
    <p:sldId id="684" r:id="rId21"/>
    <p:sldId id="669" r:id="rId22"/>
    <p:sldId id="668" r:id="rId23"/>
    <p:sldId id="675" r:id="rId24"/>
    <p:sldId id="679" r:id="rId25"/>
    <p:sldId id="685" r:id="rId26"/>
    <p:sldId id="673" r:id="rId27"/>
    <p:sldId id="672" r:id="rId28"/>
    <p:sldId id="640" r:id="rId29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90B0D4"/>
    <a:srgbClr val="B4593C"/>
    <a:srgbClr val="0066CC"/>
    <a:srgbClr val="547B9C"/>
    <a:srgbClr val="C0309A"/>
    <a:srgbClr val="0079BC"/>
    <a:srgbClr val="3E708E"/>
    <a:srgbClr val="3399FF"/>
    <a:srgbClr val="A54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46D32-F80F-424D-A623-B5669E45673F}" v="260" dt="2026-07-14T17:36:51.572"/>
    <p1510:client id="{6800D300-D7CA-4816-BB08-0E34630EB35A}" v="662" dt="2026-07-14T04:52:55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73" y="1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/>
          <a:lstStyle>
            <a:lvl1pPr algn="r">
              <a:defRPr sz="1200"/>
            </a:lvl1pPr>
          </a:lstStyle>
          <a:p>
            <a:fld id="{006C233A-9D74-4117-ACA8-060D36B7D83A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824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73" y="8829824"/>
            <a:ext cx="3037628" cy="464981"/>
          </a:xfrm>
          <a:prstGeom prst="rect">
            <a:avLst/>
          </a:prstGeom>
        </p:spPr>
        <p:txBody>
          <a:bodyPr vert="horz" lIns="92153" tIns="46077" rIns="92153" bIns="46077" rtlCol="0" anchor="b"/>
          <a:lstStyle>
            <a:lvl1pPr algn="r">
              <a:defRPr sz="1200"/>
            </a:lvl1pPr>
          </a:lstStyle>
          <a:p>
            <a:fld id="{A28E399E-F7B0-4ADD-938A-755F22AEF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749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7840" cy="464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3" y="0"/>
            <a:ext cx="3037840" cy="464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8500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1" y="4415792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1581"/>
            <a:ext cx="3037840" cy="464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3" y="8831581"/>
            <a:ext cx="3037840" cy="464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05" tIns="46603" rIns="93205" bIns="4660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8BB432-97C3-4B7D-8D6F-1BA494990E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537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41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0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60DB-9608-1710-64E6-57240519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35A1EA8-DD06-14F5-69D1-C1A92349E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40A24D33-9369-7EF7-14E1-984E06634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4DBDE6DE-3992-54C9-57CE-A5365AAE5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3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FA37-D9B8-BB12-5EBC-A9A82B29F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B936067-43D1-AEF8-98DC-1046B16B1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3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DD90ACA6-BF34-9C38-F869-924091E24C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66633CD4-A186-C3CD-9340-184E57E826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98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4CBEC-409E-9321-9770-99EBE5E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CAFE8C6-61B7-920D-D9F8-606C9012F2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4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D16B2262-72D8-FB25-D486-19923BB3AE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59794C95-07E0-B179-53F8-5960E85B8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15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D9FF7-3DFE-E4C4-060D-A0F86A5C1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6A540B5-A2C8-7E82-D930-7A8129E6F3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5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76ECB15F-D2F4-F51F-5F3D-C94344D54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E1D2F741-672D-43FC-E9AA-4A0B45610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22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EACE2-92FB-AA32-9272-3DCA9C93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34CD8B-BC40-C495-3D40-F3441E2EC7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6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5691C638-A445-BB0D-D8A0-BF019EBE59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F98BD090-E39B-C842-AD80-B28261C51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27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D604B-BCC7-4936-CFE9-4CF8FD85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5E5E89F-E827-8B13-57A6-4F1ABE9830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7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26788AB8-D6A5-B85F-06B8-B2D097C68D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4D9C34D4-99D7-F533-7671-8F925BFDC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25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C1C4-2E7F-5345-C000-AF91B1A6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E3169F3-2398-4222-8632-BD84D91A86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8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A0D272E9-1A9D-D414-7C3C-6CB007C0D9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6FEAC68C-8D10-1F9C-43AE-685D01209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847A5-4E99-604F-F44D-7C01C1B15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99EF1A-109C-9E60-B6F9-10544B77AC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5754CB6E-DFF4-1605-FA69-B74C91E8DF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D52E55CA-5557-D2A9-C864-B8BBBA0847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38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A6115-EFAC-4BE5-6785-0F993EAD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2C3F2DB-A828-B905-15D4-EF24FF1659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9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D9F08AE9-8CCE-DA78-DF63-31F7D0C8D0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21DFF9C6-77B3-B654-D389-93A25038F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88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7B4C-34C6-47EE-1696-BB5A7D9A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050FF0E-D5B2-36EF-4DFD-D3EB10E520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10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5DDD8BE4-F289-8073-6D9B-BA23E21E0B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A0E5502B-BED9-59AC-280F-13EFC062F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7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2F1E-794F-5085-9FA6-305B37CD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E68D6AA-DCDD-353A-A302-92E753A82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C3279892-6004-2ED5-369D-A33F8FC606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B7093BFC-A1CA-241F-5475-FD79A73EF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37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CB40B-BE1D-0467-92DF-F9393F3B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B6D35B2-D7F3-D74A-D117-20EF40E48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12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1F8D7E6A-FC93-6653-41A4-A4FBD74ECB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BDB9A199-6AA2-D30A-C422-C61C18BE0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33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C3A8-D46B-D720-9F56-5ADA95E5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A9D2C69-1BB0-1F47-76C8-69B80799E0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11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69A01070-26E5-5F4B-7222-4947983F41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578FD4AD-2CC2-9BBE-27F4-3C69DA505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34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E8048-72D8-5928-FA59-B355FD46E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9EE545D-05D6-8FC3-7A11-BD49055A37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13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655FFF1B-1DD6-694A-6C83-D7F8719EF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5D092738-044C-A33F-55AE-156989D1B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70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408E0-0E4E-BED9-201B-78BFEC66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3620422-AE5A-E83B-CEE2-C87A05BDA4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14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CECF9A51-C828-8389-477F-ED65603DB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05C5AD63-48DB-07DB-A51C-59F44941C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124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54134-C6E2-A241-A0FD-9ECD9BD73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0A239AC-3368-3456-ACD8-DCB25C8CC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15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75F87BB1-855D-BC3C-D938-3826E30641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CE2DDF12-C627-0DE9-9857-AA6FDDDD4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09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177DD-C66F-DA14-F23D-2AD61AC2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411C84B-70B8-2A1A-B652-DC4F125782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16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5C624E9A-6EBB-6E4A-DC38-580D86436C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B2A55141-D208-2BD5-DA2E-E384EE136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126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DA2C7-7BE8-5D1C-3944-5909F14E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E993711-074A-23CC-0CAF-D68E5A08DF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5D64C107-7FBB-3C55-99F4-08F7008701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EEC9D7C8-602B-A26F-E5B5-D4A02CB0A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60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BA4FC-BF70-7B5C-E5E1-069BEBDF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B90ACE-3D43-E6AB-2C51-D6B596DF9C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17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7E9C7683-51E5-B25B-F47F-308B328A41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B1A6B431-B483-A6E8-AFE4-CEB9ECF17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64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763C-1089-CDEF-2128-8B101AC0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F04AC36-BFE1-96BA-FB97-AD2EB990E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18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0A28B9D8-B254-BA1F-1BEA-6AD8A31230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E85C5608-CC8A-9848-FE91-1DD099DD5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52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3C1D-7CA5-6395-8C79-583A23AE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A9DD6E5-536F-6E4B-3D22-D107A6C304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19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225304F4-40BB-4169-3851-926BF0F6CE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633F8FC4-5077-0C55-0E16-F2E5F311E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857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3A18-09CC-DDE3-F78D-CF5CEEED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9C22E45-47D3-7177-0E3A-09271F3494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20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AEE3DE4C-662A-DCD0-6271-319694F170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320D6B24-8CF4-0C58-1D7D-5FB85BBCD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063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E632C-746A-B90E-14FF-4A452082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6956DBD-6869-AE3A-1311-68754D87E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25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EEA23C56-444B-FFED-FC33-6058EA8D92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A07680CF-47C4-B103-D071-0F35CE641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9856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C75A-0F1F-B6D1-FAA5-DB19BE98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9BD0930-DCC5-B16D-F317-CD5433E0C6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21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986BE40C-2343-F70C-5622-89042A9D48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74573301-990A-3306-7581-2BCB616C01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82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217D-E5FC-D1FA-AC76-9A9AD804C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5406044-BC20-FB35-0784-94DAE635F1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136D09-445F-4409-95BE-72AAD8FC2949}" type="slidenum">
              <a:rPr lang="en-US"/>
              <a:pPr/>
              <a:t>22</a:t>
            </a:fld>
            <a:endParaRPr lang="en-US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0003D435-BC51-D775-1C65-95B82C4257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8500"/>
            <a:ext cx="6197600" cy="3486150"/>
          </a:xfrm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3D9D45CB-1261-7ACB-5328-071C66E21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88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ba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589588"/>
            <a:ext cx="11988800" cy="1268412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1F4039-2622-4E0D-BA5F-DF613486E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93D3DE-0D14-436D-A6F8-99F9FCD45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F9CD4C-826D-4353-97CC-FD6B600239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A862DA-0300-4660-A6BD-320860488E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15D3E4-362F-49DE-85B9-977E4CF2496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670509-8842-45C7-8721-9FA549B616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F190B-BFCC-43ED-94C1-8545E36134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E2E50-6244-4F8C-BC21-0143E7B1D6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B17A84-1EF1-46E0-86F0-87EE23199E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A6033A-ADCD-4E5D-B795-05F53A6B4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E765331A-FB16-4349-BB1E-9292E7905A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CA127EDD-5AE7-4F7E-A3D2-1207827997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0" y="6321425"/>
            <a:ext cx="12192000" cy="476250"/>
          </a:xfrm>
        </p:spPr>
        <p:txBody>
          <a:bodyPr/>
          <a:lstStyle>
            <a:lvl1pPr>
              <a:defRPr/>
            </a:lvl1pPr>
          </a:lstStyle>
          <a:p>
            <a:fld id="{50D1D595-6F66-4A04-B04D-68C711B507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61710"/>
              </p:ext>
            </p:extLst>
          </p:nvPr>
        </p:nvGraphicFramePr>
        <p:xfrm>
          <a:off x="0" y="6117455"/>
          <a:ext cx="12191999" cy="7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6" imgW="9570600" imgH="657720" progId="">
                  <p:embed/>
                </p:oleObj>
              </mc:Choice>
              <mc:Fallback>
                <p:oleObj name="CorelDRAW" r:id="rId16" imgW="9570600" imgH="657720" progId="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117455"/>
                        <a:ext cx="12191999" cy="78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126164"/>
            <a:ext cx="12192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8AFEF79D-0508-431A-9382-43A6F8BABA3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98120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3000" b="1">
                <a:solidFill>
                  <a:schemeClr val="bg1"/>
                </a:solidFill>
                <a:latin typeface="Times New Roman"/>
                <a:cs typeface="Times New Roman"/>
              </a:rPr>
              <a:t>Proactive Fault Tolerance in Fog Computing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304800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rgbClr val="0066CC"/>
                </a:solidFill>
                <a:latin typeface="Times New Roman"/>
                <a:cs typeface="Times New Roman"/>
              </a:rPr>
              <a:t>Literature Survey</a:t>
            </a:r>
            <a:endParaRPr lang="en-US" sz="3200" b="1">
              <a:solidFill>
                <a:srgbClr val="0066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4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1800" b="1"/>
              <a:t>Paper 1: Dynamic Fault Tolerance Aware Scheduling for Healthcare System on Fog Computing</a:t>
            </a:r>
            <a:br>
              <a:rPr lang="en-US" sz="1800" b="1"/>
            </a:br>
            <a:r>
              <a:rPr lang="en-US" sz="1800" b="1">
                <a:solidFill>
                  <a:schemeClr val="bg1"/>
                </a:solidFill>
              </a:rPr>
              <a:t>Journal</a:t>
            </a:r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Iraqi Journal of Science (2021)</a:t>
            </a:r>
            <a:endParaRPr lang="en-US" sz="1800">
              <a:solidFill>
                <a:schemeClr val="bg1"/>
              </a:solidFill>
              <a:ea typeface="Verdana"/>
            </a:endParaRPr>
          </a:p>
          <a:p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2093-Article+Text-32231-35264-10-20210129.pdf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0" y="1738850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800" b="1"/>
              <a:t>Problem:</a:t>
            </a:r>
            <a:endParaRPr lang="en-US" sz="1800" dirty="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This paper proposes a </a:t>
            </a:r>
            <a:r>
              <a:rPr lang="en-US" sz="1800" b="1">
                <a:ea typeface="+mn-lt"/>
                <a:cs typeface="+mn-lt"/>
              </a:rPr>
              <a:t>Dynamic Fault Tolerance Aware Scheduling</a:t>
            </a:r>
            <a:r>
              <a:rPr lang="en-US" sz="1800">
                <a:ea typeface="+mn-lt"/>
                <a:cs typeface="+mn-lt"/>
              </a:rPr>
              <a:t> approach for healthcare applications in fog computing. It combines </a:t>
            </a:r>
            <a:r>
              <a:rPr lang="en-US" sz="1800" b="1">
                <a:ea typeface="+mn-lt"/>
                <a:cs typeface="+mn-lt"/>
              </a:rPr>
              <a:t>Dynamic Weighted Round Robin (DWRR)</a:t>
            </a:r>
            <a:r>
              <a:rPr lang="en-US" sz="1800">
                <a:ea typeface="+mn-lt"/>
                <a:cs typeface="+mn-lt"/>
              </a:rPr>
              <a:t> scheduling, </a:t>
            </a:r>
            <a:r>
              <a:rPr lang="en-US" sz="1800" b="1">
                <a:ea typeface="+mn-lt"/>
                <a:cs typeface="+mn-lt"/>
              </a:rPr>
              <a:t>Primary-Backup Replication</a:t>
            </a:r>
            <a:r>
              <a:rPr lang="en-US" sz="1800">
                <a:ea typeface="+mn-lt"/>
                <a:cs typeface="+mn-lt"/>
              </a:rPr>
              <a:t>, and </a:t>
            </a:r>
            <a:r>
              <a:rPr lang="en-US" sz="1800" b="1">
                <a:ea typeface="+mn-lt"/>
                <a:cs typeface="+mn-lt"/>
              </a:rPr>
              <a:t>Dynamic Checkpointing</a:t>
            </a:r>
            <a:r>
              <a:rPr lang="en-US" sz="1800">
                <a:ea typeface="+mn-lt"/>
                <a:cs typeface="+mn-lt"/>
              </a:rPr>
              <a:t> to ensure reliable task execution. </a:t>
            </a:r>
            <a:endParaRPr lang="en-US" sz="1800" dirty="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The proposed system: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Distributes tasks based on CPU and memory utilization.</a:t>
            </a:r>
          </a:p>
          <a:p>
            <a:pPr algn="just"/>
            <a:r>
              <a:rPr lang="en-US" sz="1800">
                <a:ea typeface="+mn-lt"/>
                <a:cs typeface="+mn-lt"/>
              </a:rPr>
              <a:t>Maintains backup copies of critical tasks.</a:t>
            </a:r>
          </a:p>
          <a:p>
            <a:pPr algn="just"/>
            <a:r>
              <a:rPr lang="en-US" sz="1800">
                <a:ea typeface="+mn-lt"/>
                <a:cs typeface="+mn-lt"/>
              </a:rPr>
              <a:t>Creates checkpoints only when needed.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Allows backup servers to continue execution if the primary server fails.</a:t>
            </a:r>
          </a:p>
          <a:p>
            <a:pPr indent="0" algn="just">
              <a:buNone/>
            </a:pPr>
            <a:r>
              <a:rPr lang="en-US" sz="1800" b="1">
                <a:ea typeface="+mn-lt"/>
                <a:cs typeface="+mn-lt"/>
              </a:rPr>
              <a:t>Key Contribution: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Intelligent task scheduling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Dynamic checkpointing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Primary-backup replication</a:t>
            </a:r>
            <a:endParaRPr lang="en-US" sz="1800" dirty="0">
              <a:ea typeface="Verdana"/>
            </a:endParaRPr>
          </a:p>
          <a:p>
            <a:pPr marL="0" indent="0" algn="just"/>
            <a:endParaRPr lang="en-US" sz="18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3326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12F4B-DBBF-66B5-3AC4-264EC9293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FE8F4010-4787-6547-3B91-3F5B4441C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Algorithm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240F0D-EA67-875B-5DB3-3B03FC3B77BB}"/>
              </a:ext>
            </a:extLst>
          </p:cNvPr>
          <p:cNvSpPr txBox="1">
            <a:spLocks/>
          </p:cNvSpPr>
          <p:nvPr/>
        </p:nvSpPr>
        <p:spPr bwMode="auto">
          <a:xfrm>
            <a:off x="297366" y="1217341"/>
            <a:ext cx="553844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400" b="1"/>
              <a:t>Step 1: Receive IoT Tasks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Patient sensors continuously generate healthcare data (ECG, heart rate, temperature, etc.).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data is sent to the Fog Scheduler.</a:t>
            </a:r>
          </a:p>
          <a:p>
            <a:pPr marL="0" indent="0" algn="just">
              <a:buNone/>
            </a:pPr>
            <a:r>
              <a:rPr lang="en-US" sz="1400" b="1"/>
              <a:t>Step 2: Dynamic Weighted Round Robin (DWRR) Scheduling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scheduler checks the </a:t>
            </a:r>
            <a:r>
              <a:rPr lang="en-US" sz="1400" b="1">
                <a:ea typeface="+mn-lt"/>
                <a:cs typeface="+mn-lt"/>
              </a:rPr>
              <a:t>CPU</a:t>
            </a:r>
            <a:r>
              <a:rPr lang="en-US" sz="1400">
                <a:ea typeface="+mn-lt"/>
                <a:cs typeface="+mn-lt"/>
              </a:rPr>
              <a:t> and </a:t>
            </a:r>
            <a:r>
              <a:rPr lang="en-US" sz="1400" b="1">
                <a:ea typeface="+mn-lt"/>
                <a:cs typeface="+mn-lt"/>
              </a:rPr>
              <a:t>memory utilization</a:t>
            </a:r>
            <a:r>
              <a:rPr lang="en-US" sz="1400">
                <a:ea typeface="+mn-lt"/>
                <a:cs typeface="+mn-lt"/>
              </a:rPr>
              <a:t> of all available fog servers.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A weight is assigned to each server based on its current load.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Verdana"/>
              </a:rPr>
              <a:t>The task is allocated to the fog server with the most suitable (highest) weight.</a:t>
            </a:r>
          </a:p>
          <a:p>
            <a:pPr marL="0" indent="0" algn="just">
              <a:buNone/>
            </a:pPr>
            <a:r>
              <a:rPr lang="en-US" sz="1400" b="1"/>
              <a:t>Step 3: Task Execution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selected </a:t>
            </a:r>
            <a:r>
              <a:rPr lang="en-US" sz="1400" b="1">
                <a:ea typeface="+mn-lt"/>
                <a:cs typeface="+mn-lt"/>
              </a:rPr>
              <a:t>Primary Fog Server</a:t>
            </a:r>
            <a:r>
              <a:rPr lang="en-US" sz="1400">
                <a:ea typeface="+mn-lt"/>
                <a:cs typeface="+mn-lt"/>
              </a:rPr>
              <a:t> begins processing the healthcare task.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4: Dynamic Checkpointing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During execution, the system continuously monitors CPU utilization.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If </a:t>
            </a:r>
            <a:r>
              <a:rPr lang="en-US" sz="1400" b="1">
                <a:ea typeface="+mn-lt"/>
                <a:cs typeface="+mn-lt"/>
              </a:rPr>
              <a:t>CPU utilization &gt; 20%</a:t>
            </a:r>
            <a:r>
              <a:rPr lang="en-US" sz="1400">
                <a:ea typeface="+mn-lt"/>
                <a:cs typeface="+mn-lt"/>
              </a:rPr>
              <a:t>, a checkpoint is created.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checkpoint stores the current execution state so processing can resume later if needed.</a:t>
            </a:r>
            <a:endParaRPr lang="en-US" sz="1400">
              <a:ea typeface="Verdan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BB3D7-C494-1DD1-2BFF-0B8B426CF053}"/>
              </a:ext>
            </a:extLst>
          </p:cNvPr>
          <p:cNvSpPr txBox="1">
            <a:spLocks/>
          </p:cNvSpPr>
          <p:nvPr/>
        </p:nvSpPr>
        <p:spPr bwMode="auto">
          <a:xfrm>
            <a:off x="6356195" y="1217340"/>
            <a:ext cx="553844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400" b="1">
                <a:ea typeface="Verdana"/>
              </a:rPr>
              <a:t>Step 5: Primary-Backup Replication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Verdana"/>
              </a:rPr>
              <a:t>Every newly created checkpoint is replicated to a designated </a:t>
            </a:r>
            <a:r>
              <a:rPr lang="en-US" sz="1400" b="1">
                <a:ea typeface="Verdana"/>
              </a:rPr>
              <a:t>Backup Fog Server</a:t>
            </a:r>
            <a:r>
              <a:rPr lang="en-US" sz="1400">
                <a:ea typeface="Verdana"/>
              </a:rPr>
              <a:t>.</a:t>
            </a:r>
          </a:p>
          <a:p>
            <a:pPr algn="just"/>
            <a:r>
              <a:rPr lang="en-US" sz="1400">
                <a:ea typeface="Verdana"/>
              </a:rPr>
              <a:t>The backup server remains synchronized with the primary server.</a:t>
            </a:r>
          </a:p>
          <a:p>
            <a:pPr marL="0" indent="0" algn="just">
              <a:buNone/>
            </a:pPr>
            <a:r>
              <a:rPr lang="en-US" sz="1400" b="1">
                <a:ea typeface="Verdana"/>
              </a:rPr>
              <a:t>Step 6: Failure Detection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Verdana"/>
              </a:rPr>
              <a:t>The system continuously checks whether the primary fog server is functioning normally.</a:t>
            </a:r>
          </a:p>
          <a:p>
            <a:pPr marL="0" indent="0" algn="just">
              <a:buNone/>
            </a:pPr>
            <a:r>
              <a:rPr lang="en-US" sz="1400" b="1">
                <a:ea typeface="Verdana"/>
              </a:rPr>
              <a:t>Step 7: Fault Recovery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Verdana"/>
              </a:rPr>
              <a:t>If the primary server fails:</a:t>
            </a:r>
          </a:p>
          <a:p>
            <a:pPr lvl="1" algn="just"/>
            <a:r>
              <a:rPr lang="en-US" sz="1400">
                <a:ea typeface="Verdana"/>
              </a:rPr>
              <a:t>The backup server immediately takes over.</a:t>
            </a:r>
          </a:p>
          <a:p>
            <a:pPr lvl="1" algn="just"/>
            <a:r>
              <a:rPr lang="en-US" sz="1400">
                <a:ea typeface="Verdana"/>
              </a:rPr>
              <a:t>Execution resumes from the </a:t>
            </a:r>
            <a:r>
              <a:rPr lang="en-US" sz="1400" b="1">
                <a:ea typeface="Verdana"/>
              </a:rPr>
              <a:t>latest checkpoint</a:t>
            </a:r>
            <a:r>
              <a:rPr lang="en-US" sz="1400">
                <a:ea typeface="Verdana"/>
              </a:rPr>
              <a:t> instead of restarting from the beginning.</a:t>
            </a:r>
          </a:p>
          <a:p>
            <a:pPr marL="0" indent="0" algn="just">
              <a:buNone/>
            </a:pPr>
            <a:r>
              <a:rPr lang="en-US" sz="1400" b="1">
                <a:ea typeface="Verdana"/>
              </a:rPr>
              <a:t>Step 8: Continue Processing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Verdana"/>
              </a:rPr>
              <a:t>The task completes successfully.</a:t>
            </a:r>
          </a:p>
          <a:p>
            <a:pPr algn="just"/>
            <a:r>
              <a:rPr lang="en-US" sz="1400">
                <a:ea typeface="Verdana"/>
              </a:rPr>
              <a:t>Final results are delivered to the healthcare application and, if required, forwarded to the cloud for long-term storage.</a:t>
            </a:r>
          </a:p>
          <a:p>
            <a:pPr algn="just"/>
            <a:endParaRPr lang="en-US" sz="1400">
              <a:ea typeface="Verdana"/>
            </a:endParaRPr>
          </a:p>
          <a:p>
            <a:pPr marL="0" indent="0" algn="just"/>
            <a:endParaRPr lang="en-US" sz="14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9779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B649-325E-C6DD-3D07-8ECFCAD8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D6516DF3-D9A8-0A54-4A33-F770F8A48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Techniques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CAFBE2-9A51-A412-4DEA-CF4831783C9D}"/>
              </a:ext>
            </a:extLst>
          </p:cNvPr>
          <p:cNvSpPr txBox="1">
            <a:spLocks/>
          </p:cNvSpPr>
          <p:nvPr/>
        </p:nvSpPr>
        <p:spPr bwMode="auto">
          <a:xfrm>
            <a:off x="0" y="1234670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800" b="1"/>
              <a:t>DWRR (Dynamic Weighted Round Robin)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Distributes incoming tasks among fog servers based on their current CPU and memory utilization, ensuring balanced workload and preventing server overload.</a:t>
            </a:r>
          </a:p>
          <a:p>
            <a:pPr algn="just"/>
            <a:r>
              <a:rPr lang="en-US" sz="1800">
                <a:ea typeface="+mn-lt"/>
                <a:cs typeface="+mn-lt"/>
              </a:rPr>
              <a:t>This improves throughput (up to 3290 requests/sec in the paper) and reduces response time by avoiding overloaded servers.</a:t>
            </a:r>
            <a:endParaRPr lang="en-US" sz="1800"/>
          </a:p>
          <a:p>
            <a:pPr marL="0" indent="0" algn="just">
              <a:buNone/>
            </a:pPr>
            <a:r>
              <a:rPr lang="en-US" sz="1800" b="1"/>
              <a:t>Primary–Backup Replication</a:t>
            </a:r>
            <a:endParaRPr lang="en-US" sz="180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Each primary fog server has a backup server that stores replicated task information. If the primary server fails, the backup immediately continues execution.</a:t>
            </a:r>
          </a:p>
          <a:p>
            <a:pPr algn="just"/>
            <a:r>
              <a:rPr lang="en-US" sz="1800">
                <a:ea typeface="+mn-lt"/>
                <a:cs typeface="+mn-lt"/>
              </a:rPr>
              <a:t>This minimizes service interruption and increases system reliability for critical healthcare applications.</a:t>
            </a:r>
            <a:endParaRPr lang="en-US" sz="1800" dirty="0">
              <a:ea typeface="Verdana"/>
            </a:endParaRPr>
          </a:p>
          <a:p>
            <a:pPr marL="0" indent="0" algn="just">
              <a:buNone/>
            </a:pPr>
            <a:r>
              <a:rPr lang="en-US" sz="1800" b="1"/>
              <a:t>Dynamic Checkpointing</a:t>
            </a:r>
            <a:endParaRPr lang="en-US" sz="180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Instead of saving task progress at fixed intervals, checkpoints are created only when CPU usage exceeds a threshold (CPU &gt; 0.2).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This reduces unnecessary checkpoint overhead while ensuring faster recovery during server failures.</a:t>
            </a:r>
            <a:endParaRPr lang="en-US" sz="1800" dirty="0">
              <a:ea typeface="Verdana"/>
            </a:endParaRPr>
          </a:p>
          <a:p>
            <a:pPr algn="just"/>
            <a:endParaRPr lang="en-US" sz="18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47328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DD78-6134-4A16-8A5F-FA828A34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D6C0E59F-6669-430B-A5DB-82B2B0B11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Methodology</a:t>
            </a:r>
            <a:endParaRPr lang="en-US" sz="2800">
              <a:ea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DCCA11-BEF8-3AAB-7D65-E25C292C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91"/>
          <a:stretch>
            <a:fillRect/>
          </a:stretch>
        </p:blipFill>
        <p:spPr>
          <a:xfrm>
            <a:off x="842210" y="1256514"/>
            <a:ext cx="10221113" cy="485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82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6B99-BDB2-42DF-93D9-08013548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302C79C3-918D-7515-66F5-C9AF1A88A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Drawbacks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8CD093-C228-5028-A308-104CA8C052A5}"/>
              </a:ext>
            </a:extLst>
          </p:cNvPr>
          <p:cNvSpPr txBox="1">
            <a:spLocks/>
          </p:cNvSpPr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800" b="1"/>
              <a:t>1. Fixed Threshold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The CPU threshold is fixed at </a:t>
            </a:r>
            <a:r>
              <a:rPr lang="en-US" sz="1800" b="1">
                <a:ea typeface="+mn-lt"/>
                <a:cs typeface="+mn-lt"/>
              </a:rPr>
              <a:t>20%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Different workloads might require different thresholds.</a:t>
            </a:r>
          </a:p>
          <a:p>
            <a:pPr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/>
              <a:t>2. Extra Storage</a:t>
            </a:r>
            <a:endParaRPr lang="en-US" sz="1800">
              <a:ea typeface="Verdana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The backup server stores replicated checkpoints.</a:t>
            </a:r>
            <a:endParaRPr lang="en-US" sz="1800">
              <a:ea typeface="Verdana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This increases storage requirements.</a:t>
            </a:r>
            <a:endParaRPr lang="en-US" sz="1800">
              <a:ea typeface="Verdana"/>
            </a:endParaRPr>
          </a:p>
          <a:p>
            <a:pPr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/>
              <a:t>3. Only Healthcare Tested</a:t>
            </a:r>
            <a:endParaRPr lang="en-US" sz="1800">
              <a:ea typeface="Verdana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The experiments focus on a healthcare scenario.</a:t>
            </a:r>
            <a:endParaRPr lang="en-US" sz="1800">
              <a:ea typeface="Verdana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Performance for other IoT applications (e.g., smart cities, industrial IoT) is not evaluated.</a:t>
            </a:r>
            <a:endParaRPr lang="en-US" sz="1800">
              <a:ea typeface="Verdana"/>
            </a:endParaRPr>
          </a:p>
          <a:p>
            <a:pPr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/>
              <a:t>4. No Failure Prediction</a:t>
            </a:r>
            <a:endParaRPr lang="en-US" sz="1800">
              <a:ea typeface="Verdana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The system reacts when conditions reach the threshold or when a failure occurs.</a:t>
            </a:r>
            <a:endParaRPr lang="en-US" sz="1800">
              <a:ea typeface="Verdana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It does </a:t>
            </a:r>
            <a:r>
              <a:rPr lang="en-US" sz="1800" b="1">
                <a:ea typeface="+mn-lt"/>
                <a:cs typeface="+mn-lt"/>
              </a:rPr>
              <a:t>not</a:t>
            </a:r>
            <a:r>
              <a:rPr lang="en-US" sz="1800">
                <a:ea typeface="+mn-lt"/>
                <a:cs typeface="+mn-lt"/>
              </a:rPr>
              <a:t> use AI or machine learning to predict failures before they happen.</a:t>
            </a:r>
            <a:endParaRPr lang="en-US" sz="1800">
              <a:ea typeface="Verdana"/>
            </a:endParaRPr>
          </a:p>
          <a:p>
            <a:pPr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2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3387-9753-7822-A9B0-E6CD5636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602D5F36-0A9B-0A02-DBF4-90F0918792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  <a:ln/>
        </p:spPr>
        <p:txBody>
          <a:bodyPr/>
          <a:lstStyle/>
          <a:p>
            <a:br>
              <a:rPr lang="en-US" sz="1800" b="1"/>
            </a:br>
            <a:r>
              <a:rPr lang="en-US" sz="1800" b="1"/>
              <a:t>Paper 2: QoS Aware and Fault Tolerance Based Software-Defined Vehicular Networks Using Cloud-Fog Computing</a:t>
            </a:r>
            <a:endParaRPr lang="en-US" sz="1800">
              <a:ea typeface="Verdana"/>
            </a:endParaRPr>
          </a:p>
          <a:p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Journal: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Sensors (2022) </a:t>
            </a:r>
            <a:endParaRPr lang="en-US" sz="1800">
              <a:solidFill>
                <a:schemeClr val="bg1"/>
              </a:solidFill>
              <a:ea typeface="Verdana"/>
            </a:endParaRPr>
          </a:p>
          <a:p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b33ca3499970ca4152ba9af462f1cb1a9674.pdf</a:t>
            </a:r>
          </a:p>
          <a:p>
            <a:endParaRPr lang="en-US" sz="1800">
              <a:solidFill>
                <a:schemeClr val="bg1"/>
              </a:solidFill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030811-52DF-F43A-5728-7F6E364C6477}"/>
              </a:ext>
            </a:extLst>
          </p:cNvPr>
          <p:cNvSpPr txBox="1">
            <a:spLocks/>
          </p:cNvSpPr>
          <p:nvPr/>
        </p:nvSpPr>
        <p:spPr bwMode="auto">
          <a:xfrm>
            <a:off x="0" y="1681556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2000" b="1"/>
              <a:t>Problem:</a:t>
            </a:r>
            <a:endParaRPr lang="en-US" sz="2000">
              <a:ea typeface="Verdana"/>
            </a:endParaRPr>
          </a:p>
          <a:p>
            <a:pPr algn="just">
              <a:buNone/>
            </a:pPr>
            <a:r>
              <a:rPr lang="en-US" sz="2000">
                <a:ea typeface="+mn-lt"/>
                <a:cs typeface="+mn-lt"/>
              </a:rPr>
              <a:t>This paper proposes </a:t>
            </a:r>
            <a:r>
              <a:rPr lang="en-US" sz="2000" b="1">
                <a:ea typeface="+mn-lt"/>
                <a:cs typeface="+mn-lt"/>
              </a:rPr>
              <a:t>QAFT-SDVN (QoS Aware Fault Tolerant Software-Defined Vehicular Network)</a:t>
            </a:r>
            <a:r>
              <a:rPr lang="en-US" sz="2000">
                <a:ea typeface="+mn-lt"/>
                <a:cs typeface="+mn-lt"/>
              </a:rPr>
              <a:t>, which integrates </a:t>
            </a:r>
            <a:r>
              <a:rPr lang="en-US" sz="2000" b="1">
                <a:ea typeface="+mn-lt"/>
                <a:cs typeface="+mn-lt"/>
              </a:rPr>
              <a:t>Software-Defined Networking (SDN)</a:t>
            </a:r>
            <a:r>
              <a:rPr lang="en-US" sz="2000">
                <a:ea typeface="+mn-lt"/>
                <a:cs typeface="+mn-lt"/>
              </a:rPr>
              <a:t>, </a:t>
            </a:r>
            <a:r>
              <a:rPr lang="en-US" sz="2000" b="1">
                <a:ea typeface="+mn-lt"/>
                <a:cs typeface="+mn-lt"/>
              </a:rPr>
              <a:t>Fog Computing</a:t>
            </a:r>
            <a:r>
              <a:rPr lang="en-US" sz="2000">
                <a:ea typeface="+mn-lt"/>
                <a:cs typeface="+mn-lt"/>
              </a:rPr>
              <a:t>, and </a:t>
            </a:r>
            <a:r>
              <a:rPr lang="en-US" sz="2000" b="1">
                <a:ea typeface="+mn-lt"/>
                <a:cs typeface="+mn-lt"/>
              </a:rPr>
              <a:t>Quality of Service (QoS)</a:t>
            </a:r>
            <a:r>
              <a:rPr lang="en-US" sz="2000">
                <a:ea typeface="+mn-lt"/>
                <a:cs typeface="+mn-lt"/>
              </a:rPr>
              <a:t> to provide reliable communication in vehicular networks.</a:t>
            </a:r>
          </a:p>
          <a:p>
            <a:pPr algn="just">
              <a:buNone/>
            </a:pPr>
            <a:r>
              <a:rPr lang="en-US" sz="2000">
                <a:ea typeface="+mn-lt"/>
                <a:cs typeface="+mn-lt"/>
              </a:rPr>
              <a:t>The proposed system: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Prioritizes safety-critical messages using QoS.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Processes urgent messages at nearby fog nodes to reduce latency.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Uses </a:t>
            </a:r>
            <a:r>
              <a:rPr lang="en-US" sz="2000" b="1">
                <a:ea typeface="+mn-lt"/>
                <a:cs typeface="+mn-lt"/>
              </a:rPr>
              <a:t>ACK-based retransmission</a:t>
            </a:r>
            <a:r>
              <a:rPr lang="en-US" sz="2000">
                <a:ea typeface="+mn-lt"/>
                <a:cs typeface="+mn-lt"/>
              </a:rPr>
              <a:t> to ensure reliable message delivery.</a:t>
            </a:r>
          </a:p>
          <a:p>
            <a:pPr indent="0" algn="just">
              <a:buNone/>
            </a:pPr>
            <a:r>
              <a:rPr lang="en-US" sz="2000" b="1">
                <a:ea typeface="+mn-lt"/>
                <a:cs typeface="+mn-lt"/>
              </a:rPr>
              <a:t>Key Contribution: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SDN-based intelligent routing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QoS-aware message prioritization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Reliable communication through ACK retransmission</a:t>
            </a:r>
            <a:endParaRPr lang="en-US" sz="2000">
              <a:ea typeface="Verdana"/>
            </a:endParaRPr>
          </a:p>
          <a:p>
            <a:pPr marL="0" indent="0" algn="just"/>
            <a:endParaRPr lang="en-US" sz="20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4409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220E-A01C-A694-24E9-8A8F199D9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9271D8EF-8F9D-A321-5041-E6A647836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Algorithm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3D5A68-E731-CDDC-E6E3-6E30B936B70D}"/>
              </a:ext>
            </a:extLst>
          </p:cNvPr>
          <p:cNvSpPr txBox="1">
            <a:spLocks/>
          </p:cNvSpPr>
          <p:nvPr/>
        </p:nvSpPr>
        <p:spPr bwMode="auto">
          <a:xfrm>
            <a:off x="149196" y="1085708"/>
            <a:ext cx="11926912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600" b="1"/>
              <a:t>Algorithm 1: Priority-Based Message Scheduling</a:t>
            </a:r>
            <a:endParaRPr lang="en-US" sz="1600" dirty="0">
              <a:ea typeface="Verdana"/>
            </a:endParaRPr>
          </a:p>
          <a:p>
            <a:pPr algn="just">
              <a:buNone/>
            </a:pPr>
            <a:r>
              <a:rPr lang="en-US" sz="1600" b="1"/>
              <a:t>Step 1: Generate Message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A vehicle generates a message (e.g., accident alert, traffic update, navigation request).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2: Send to SDN Node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message is forwarded to the nearest </a:t>
            </a:r>
            <a:r>
              <a:rPr lang="en-US" sz="1600" b="1">
                <a:ea typeface="+mn-lt"/>
                <a:cs typeface="+mn-lt"/>
              </a:rPr>
              <a:t>Road-Side Unit (RSU)/SDN Node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3: Forward to SDN Controller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SDN Controller receives the message and makes centralized routing decisions.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4: Classify the Message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controller determines: </a:t>
            </a:r>
            <a:r>
              <a:rPr lang="en-US" sz="1600" b="1">
                <a:ea typeface="+mn-lt"/>
                <a:cs typeface="+mn-lt"/>
              </a:rPr>
              <a:t>Message Type</a:t>
            </a:r>
            <a:r>
              <a:rPr lang="en-US" sz="1600">
                <a:ea typeface="+mn-lt"/>
                <a:cs typeface="+mn-lt"/>
              </a:rPr>
              <a:t> (Safety or Non-Safety), </a:t>
            </a:r>
            <a:r>
              <a:rPr lang="en-US" sz="1600" b="1">
                <a:ea typeface="+mn-lt"/>
                <a:cs typeface="+mn-lt"/>
              </a:rPr>
              <a:t>Deadline &amp; Message Size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5: Assign Priority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Priority is assigned based on: </a:t>
            </a:r>
            <a:r>
              <a:rPr lang="en-US" sz="1600" b="1">
                <a:ea typeface="+mn-lt"/>
                <a:cs typeface="+mn-lt"/>
              </a:rPr>
              <a:t>Nature of the message (Highest Priority), </a:t>
            </a:r>
            <a:r>
              <a:rPr lang="en-US" sz="1600">
                <a:ea typeface="+mn-lt"/>
                <a:cs typeface="+mn-lt"/>
              </a:rPr>
              <a:t>Deadline, Message size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Ambulance Alert → Very High Priority, Entertainment Data → Low Priority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6: Schedule the Message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 b="1">
                <a:ea typeface="+mn-lt"/>
                <a:cs typeface="+mn-lt"/>
              </a:rPr>
              <a:t>Safety messages</a:t>
            </a:r>
            <a:r>
              <a:rPr lang="en-US" sz="1600">
                <a:ea typeface="+mn-lt"/>
                <a:cs typeface="+mn-lt"/>
              </a:rPr>
              <a:t> are immediately forwarded to the nearest fog node.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 b="1">
                <a:ea typeface="+mn-lt"/>
                <a:cs typeface="+mn-lt"/>
              </a:rPr>
              <a:t>Non-safety messages</a:t>
            </a:r>
            <a:r>
              <a:rPr lang="en-US" sz="1600">
                <a:ea typeface="+mn-lt"/>
                <a:cs typeface="+mn-lt"/>
              </a:rPr>
              <a:t> are placed in a lower-priority queue.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7: Process the Message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selected fog node processes the message.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processed message is delivered to the destination vehicle.</a:t>
            </a:r>
            <a:endParaRPr lang="en-US" sz="1600" dirty="0">
              <a:ea typeface="Verdana"/>
            </a:endParaRPr>
          </a:p>
          <a:p>
            <a:pPr marL="0" indent="0" algn="just"/>
            <a:endParaRPr lang="en-US" sz="16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4851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429CA-0C33-4EA2-2F51-A8DC97B5D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C523AD69-EE93-ABC1-4A13-194007A45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Algorithm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6D23A1-A4E0-3426-27F0-2529C9DFF20A}"/>
              </a:ext>
            </a:extLst>
          </p:cNvPr>
          <p:cNvSpPr txBox="1">
            <a:spLocks/>
          </p:cNvSpPr>
          <p:nvPr/>
        </p:nvSpPr>
        <p:spPr bwMode="auto">
          <a:xfrm>
            <a:off x="177842" y="1143000"/>
            <a:ext cx="9961756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600" b="1"/>
              <a:t>Algorithm 2: ACK-Based Fault Tolerance</a:t>
            </a:r>
            <a:endParaRPr lang="en-US" sz="1600" dirty="0">
              <a:ea typeface="Verdana"/>
            </a:endParaRPr>
          </a:p>
          <a:p>
            <a:pPr algn="just">
              <a:buNone/>
            </a:pPr>
            <a:r>
              <a:rPr lang="en-US" sz="1600" b="1"/>
              <a:t>Step 1: Send Message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processed message is transmitted to the destination vehicle.</a:t>
            </a:r>
          </a:p>
          <a:p>
            <a:pPr marL="0" indent="0" algn="just">
              <a:buNone/>
            </a:pPr>
            <a:r>
              <a:rPr lang="en-US" sz="1600" b="1"/>
              <a:t>Step 2: Wait for ACK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sender waits for an </a:t>
            </a:r>
            <a:r>
              <a:rPr lang="en-US" sz="1600" b="1">
                <a:ea typeface="+mn-lt"/>
                <a:cs typeface="+mn-lt"/>
              </a:rPr>
              <a:t>Acknowledgement (ACK)</a:t>
            </a:r>
            <a:r>
              <a:rPr lang="en-US" sz="1600">
                <a:ea typeface="+mn-lt"/>
                <a:cs typeface="+mn-lt"/>
              </a:rPr>
              <a:t> from the receiver.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3: Verify Delivery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If the ACK is received, the message has been delivered successfully.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If no ACK is received within the expected time, the system assumes the message was lost.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4: Retransmit Message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sender retransmits the message.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r>
              <a:rPr lang="en-US" sz="1600" b="1"/>
              <a:t>Step 5: Repeat Until Successful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The process continues until an ACK is received.</a:t>
            </a:r>
            <a:endParaRPr lang="en-US" sz="1600" dirty="0">
              <a:ea typeface="Verdana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This ensures reliable message delivery despite network or communication failures.</a:t>
            </a:r>
            <a:endParaRPr lang="en-US" sz="1600" dirty="0">
              <a:ea typeface="Verdana"/>
            </a:endParaRPr>
          </a:p>
          <a:p>
            <a:pPr marL="0" indent="0" algn="just">
              <a:buNone/>
            </a:pPr>
            <a:endParaRPr lang="en-US" sz="16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0324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619DF-3328-92D4-E09A-2223206A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7820F56A-DF90-DC67-B03A-E93783160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Techniques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9B6124-CD8B-B885-DF8F-C62809AA4555}"/>
              </a:ext>
            </a:extLst>
          </p:cNvPr>
          <p:cNvSpPr txBox="1">
            <a:spLocks/>
          </p:cNvSpPr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2000" b="1"/>
              <a:t>Software Defined Networking (SDN)</a:t>
            </a:r>
            <a:endParaRPr lang="en-US" sz="2000" dirty="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Uses a centralized controller to intelligently manage network traffic and prioritize safety-critical vehicle messages over non-critical ones.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This reduces response time by nearly 50% and improves Quality of Service (QoS) for vehicular communication.</a:t>
            </a:r>
            <a:endParaRPr lang="en-US" sz="2000"/>
          </a:p>
          <a:p>
            <a:pPr marL="0" indent="0" algn="just">
              <a:buNone/>
            </a:pPr>
            <a:endParaRPr lang="en-US" sz="2000" b="1" dirty="0"/>
          </a:p>
          <a:p>
            <a:pPr marL="0" indent="0" algn="just">
              <a:buNone/>
            </a:pPr>
            <a:r>
              <a:rPr lang="en-US" sz="2000" b="1"/>
              <a:t>ACK-based Retransmission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After sending a message, the system waits for an acknowledgement (ACK). If no ACK is received, the message is automatically retransmitted to ensure reliable delivery.</a:t>
            </a:r>
            <a:endParaRPr lang="en-US" sz="2000" dirty="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This significantly reduces the message/task failure ratio and improves communication reliability.</a:t>
            </a:r>
          </a:p>
          <a:p>
            <a:pPr algn="just"/>
            <a:endParaRPr lang="en-US" sz="20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30889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F6B5-A5FE-9365-2734-948131EE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8956834D-50C1-AB1D-8D12-7B75FF1B5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Methodology</a:t>
            </a:r>
            <a:endParaRPr lang="en-US" sz="2800">
              <a:ea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253F4C-DA66-EF30-C915-5CD123135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" t="21864" r="-403" b="19217"/>
          <a:stretch>
            <a:fillRect/>
          </a:stretch>
        </p:blipFill>
        <p:spPr>
          <a:xfrm>
            <a:off x="322146" y="1712951"/>
            <a:ext cx="11560112" cy="340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5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6AAE-2EFF-E6F2-38E4-64D2438C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D7FFA308-F9F1-104C-B6FA-40E45E14A5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Drawbacks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0339FA-32FD-CA23-03EB-3196AD446B38}"/>
              </a:ext>
            </a:extLst>
          </p:cNvPr>
          <p:cNvSpPr txBox="1">
            <a:spLocks/>
          </p:cNvSpPr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800" b="1"/>
              <a:t>1. No Prediction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The system </a:t>
            </a:r>
            <a:r>
              <a:rPr lang="en-US" sz="1800" b="1">
                <a:ea typeface="+mn-lt"/>
                <a:cs typeface="+mn-lt"/>
              </a:rPr>
              <a:t>does not predict failures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It only reacts after a message is lost.</a:t>
            </a:r>
          </a:p>
          <a:p>
            <a:pPr algn="just"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/>
              <a:t>2. Extra Communication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ACK packets and retransmissions increase network traffic.</a:t>
            </a:r>
            <a:endParaRPr lang="en-US" sz="1800">
              <a:ea typeface="Verdana"/>
            </a:endParaRPr>
          </a:p>
          <a:p>
            <a:pPr algn="just"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/>
              <a:t>3. Limited Domain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The work is designed specifically for </a:t>
            </a:r>
            <a:r>
              <a:rPr lang="en-US" sz="1800" b="1">
                <a:ea typeface="+mn-lt"/>
                <a:cs typeface="+mn-lt"/>
              </a:rPr>
              <a:t>vehicular networks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It may need modifications for healthcare, smart homes, or industrial IoT.</a:t>
            </a:r>
            <a:endParaRPr lang="en-US" sz="1800">
              <a:ea typeface="Verdana"/>
            </a:endParaRPr>
          </a:p>
          <a:p>
            <a:pPr algn="just"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/>
              <a:t>4. Simple Recovery Strategy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If a message is lost, the only recovery action is retransmission.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There is no backup execution, checkpointing, or replica management.</a:t>
            </a:r>
            <a:endParaRPr lang="en-US" sz="1800">
              <a:ea typeface="Verdana"/>
            </a:endParaRPr>
          </a:p>
          <a:p>
            <a:pPr algn="just"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7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7A26-AC5D-1EAB-CA3B-2ED0D514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8BDFB19A-077E-B122-E9E7-1646BEA347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  <a:ln/>
        </p:spPr>
        <p:txBody>
          <a:bodyPr/>
          <a:lstStyle/>
          <a:p>
            <a:br>
              <a:rPr lang="en-US" sz="1800" b="1"/>
            </a:br>
            <a:r>
              <a:rPr lang="en-US" sz="1800" b="1"/>
              <a:t>Paper 3: Fault Tolerance Mechanism for Software Application Through Fog Computing as Middleware</a:t>
            </a:r>
            <a:endParaRPr lang="en-US" sz="1800">
              <a:ea typeface="Verdana"/>
            </a:endParaRPr>
          </a:p>
          <a:p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Journal: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International Journal of Computing and Digital Systems (2016)</a:t>
            </a:r>
          </a:p>
          <a:p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b76d44b6ebca4db2fa8529aadae3d438878d.pdf</a:t>
            </a:r>
          </a:p>
          <a:p>
            <a:endParaRPr lang="en-US" sz="1800" b="1">
              <a:solidFill>
                <a:srgbClr val="000000"/>
              </a:solidFill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571E884-94E4-AD48-8115-06616CEF3F46}"/>
              </a:ext>
            </a:extLst>
          </p:cNvPr>
          <p:cNvSpPr txBox="1">
            <a:spLocks/>
          </p:cNvSpPr>
          <p:nvPr/>
        </p:nvSpPr>
        <p:spPr bwMode="auto">
          <a:xfrm>
            <a:off x="0" y="1767496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2000" b="1"/>
              <a:t>Problem:</a:t>
            </a:r>
            <a:endParaRPr lang="en-US" sz="2000">
              <a:ea typeface="Verdana"/>
            </a:endParaRPr>
          </a:p>
          <a:p>
            <a:pPr algn="just">
              <a:buNone/>
            </a:pPr>
            <a:r>
              <a:rPr lang="en-US" sz="2000">
                <a:ea typeface="+mn-lt"/>
                <a:cs typeface="+mn-lt"/>
              </a:rPr>
              <a:t>This paper proposes a </a:t>
            </a:r>
            <a:r>
              <a:rPr lang="en-US" sz="2000" b="1">
                <a:ea typeface="+mn-lt"/>
                <a:cs typeface="+mn-lt"/>
              </a:rPr>
              <a:t>Fog Middleware-based fault tolerance mechanism</a:t>
            </a:r>
            <a:r>
              <a:rPr lang="en-US" sz="2000">
                <a:ea typeface="+mn-lt"/>
                <a:cs typeface="+mn-lt"/>
              </a:rPr>
              <a:t> to improve the availability of applications running on local servers. </a:t>
            </a:r>
            <a:endParaRPr lang="en-US" sz="2000">
              <a:ea typeface="Verdana"/>
            </a:endParaRPr>
          </a:p>
          <a:p>
            <a:pPr algn="just">
              <a:buNone/>
            </a:pPr>
            <a:r>
              <a:rPr lang="en-US" sz="2000">
                <a:ea typeface="+mn-lt"/>
                <a:cs typeface="+mn-lt"/>
              </a:rPr>
              <a:t>Instead of allowing users to communicate directly with the server, a </a:t>
            </a:r>
            <a:r>
              <a:rPr lang="en-US" sz="2000" b="1">
                <a:ea typeface="+mn-lt"/>
                <a:cs typeface="+mn-lt"/>
              </a:rPr>
              <a:t>Fog Middleware</a:t>
            </a:r>
            <a:r>
              <a:rPr lang="en-US" sz="2000">
                <a:ea typeface="+mn-lt"/>
                <a:cs typeface="+mn-lt"/>
              </a:rPr>
              <a:t> is placed between users and servers to: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Continuously monitor server health using </a:t>
            </a:r>
            <a:r>
              <a:rPr lang="en-US" sz="2000" b="1">
                <a:ea typeface="+mn-lt"/>
                <a:cs typeface="+mn-lt"/>
              </a:rPr>
              <a:t>heartbeat messages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Maintain a </a:t>
            </a:r>
            <a:r>
              <a:rPr lang="en-US" sz="2000" b="1">
                <a:ea typeface="+mn-lt"/>
                <a:cs typeface="+mn-lt"/>
              </a:rPr>
              <a:t>replicated backup server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Automatically switch users to the backup server if the primary server fails.</a:t>
            </a:r>
          </a:p>
          <a:p>
            <a:pPr indent="0" algn="just">
              <a:buNone/>
            </a:pPr>
            <a:r>
              <a:rPr lang="en-US" sz="2000" b="1">
                <a:ea typeface="+mn-lt"/>
                <a:cs typeface="+mn-lt"/>
              </a:rPr>
              <a:t>Key Contribution: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Middleware-based fault tolerance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Heartbeat failure detection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Service replication</a:t>
            </a:r>
            <a:endParaRPr lang="en-US" sz="2000">
              <a:ea typeface="Verdana"/>
            </a:endParaRPr>
          </a:p>
          <a:p>
            <a:pPr marL="0" indent="0" algn="just"/>
            <a:endParaRPr lang="en-US" sz="20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7370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750FF-2766-63F9-22C4-790E7CF47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2A9FB0CA-808D-1820-CC1D-75CEC287C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Algorithm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D04601-916E-C671-CC05-C146CFF9AE68}"/>
              </a:ext>
            </a:extLst>
          </p:cNvPr>
          <p:cNvSpPr txBox="1">
            <a:spLocks/>
          </p:cNvSpPr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400" b="1"/>
              <a:t>Step 1: User Request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A user sends a request to access the application.</a:t>
            </a:r>
          </a:p>
          <a:p>
            <a:pPr algn="just"/>
            <a:r>
              <a:rPr lang="en-US" sz="1400">
                <a:ea typeface="+mn-lt"/>
                <a:cs typeface="+mn-lt"/>
              </a:rPr>
              <a:t>The request is first received by the </a:t>
            </a:r>
            <a:r>
              <a:rPr lang="en-US" sz="1400" b="1">
                <a:ea typeface="+mn-lt"/>
                <a:cs typeface="+mn-lt"/>
              </a:rPr>
              <a:t>Fog Middleware</a:t>
            </a:r>
            <a:r>
              <a:rPr lang="en-US" sz="1400">
                <a:ea typeface="+mn-lt"/>
                <a:cs typeface="+mn-lt"/>
              </a:rPr>
              <a:t> instead of directly reaching the server.</a:t>
            </a:r>
          </a:p>
          <a:p>
            <a:pPr marL="0" indent="0" algn="just">
              <a:buNone/>
            </a:pPr>
            <a:r>
              <a:rPr lang="en-US" sz="1400" b="1"/>
              <a:t>Step 2: Heartbeat Monitoring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middleware continuously sends </a:t>
            </a:r>
            <a:r>
              <a:rPr lang="en-US" sz="1400" b="1">
                <a:ea typeface="+mn-lt"/>
                <a:cs typeface="+mn-lt"/>
              </a:rPr>
              <a:t>heartbeat requests</a:t>
            </a:r>
            <a:r>
              <a:rPr lang="en-US" sz="1400">
                <a:ea typeface="+mn-lt"/>
                <a:cs typeface="+mn-lt"/>
              </a:rPr>
              <a:t> to the primary server.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primary server responds with a </a:t>
            </a:r>
            <a:r>
              <a:rPr lang="en-US" sz="1400" b="1">
                <a:ea typeface="+mn-lt"/>
                <a:cs typeface="+mn-lt"/>
              </a:rPr>
              <a:t>heartbeat message</a:t>
            </a:r>
            <a:r>
              <a:rPr lang="en-US" sz="1400">
                <a:ea typeface="+mn-lt"/>
                <a:cs typeface="+mn-lt"/>
              </a:rPr>
              <a:t> indicating it is functioning normally.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3: Server Health Verification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If heartbeat messages are received, the middleware considers the primary server healthy.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User requests continue to be forwarded to the primary server.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4: Failure Detection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If the middleware does </a:t>
            </a:r>
            <a:r>
              <a:rPr lang="en-US" sz="1400" b="1">
                <a:ea typeface="+mn-lt"/>
                <a:cs typeface="+mn-lt"/>
              </a:rPr>
              <a:t>not receive a heartbeat response</a:t>
            </a:r>
            <a:r>
              <a:rPr lang="en-US" sz="1400">
                <a:ea typeface="+mn-lt"/>
                <a:cs typeface="+mn-lt"/>
              </a:rPr>
              <a:t> within the expected time, it detects that the primary server has failed.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5: Activate Backup Service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middleware immediately activates the </a:t>
            </a:r>
            <a:r>
              <a:rPr lang="en-US" sz="1400" b="1">
                <a:ea typeface="+mn-lt"/>
                <a:cs typeface="+mn-lt"/>
              </a:rPr>
              <a:t>replicated backup server</a:t>
            </a:r>
            <a:r>
              <a:rPr lang="en-US" sz="1400">
                <a:ea typeface="+mn-lt"/>
                <a:cs typeface="+mn-lt"/>
              </a:rPr>
              <a:t>, which contains the same application and data as the primary server.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6: Automatic Failover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All incoming user requests are automatically redirected from the failed primary server to the backup server.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No manual intervention from users is required.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7: Continue Service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backup server continues processing requests, ensuring uninterrupted application availability until the primary server is repaired.</a:t>
            </a:r>
            <a:endParaRPr lang="en-US" sz="1400">
              <a:ea typeface="Verdana"/>
            </a:endParaRPr>
          </a:p>
          <a:p>
            <a:pPr marL="0" indent="0" algn="just"/>
            <a:endParaRPr lang="en-US" sz="14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0657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BFE9-A038-3DF9-8391-F28AC50F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8A463F9C-47BC-7213-4A6D-25D320B00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Techniques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A99417-45F9-C481-B723-0202F0BADC65}"/>
              </a:ext>
            </a:extLst>
          </p:cNvPr>
          <p:cNvSpPr txBox="1">
            <a:spLocks/>
          </p:cNvSpPr>
          <p:nvPr/>
        </p:nvSpPr>
        <p:spPr bwMode="auto">
          <a:xfrm>
            <a:off x="0" y="1183105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2000" b="1"/>
              <a:t>Heartbeat Monitoring</a:t>
            </a:r>
            <a:endParaRPr lang="en-US" sz="2000" dirty="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The middleware continuously receives heartbeat signals from the primary server to check whether it is functioning correctly.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If heartbeat messages stop, the middleware immediately detects server failure and initiates recovery.</a:t>
            </a:r>
          </a:p>
          <a:p>
            <a:pPr indent="0" algn="just">
              <a:buNone/>
            </a:pPr>
            <a:r>
              <a:rPr lang="en-US" sz="2000" b="1"/>
              <a:t>Service Replication</a:t>
            </a:r>
            <a:endParaRPr lang="en-US" sz="2000" dirty="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Application services and data are continuously copied from the primary server to a backup server, ensuring an up-to-date backup is always available.</a:t>
            </a:r>
            <a:endParaRPr lang="en-US" sz="2000" dirty="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This prevents data loss and enables the backup server to resume execution with minimal interruption.</a:t>
            </a:r>
            <a:endParaRPr lang="en-US" sz="2000" dirty="0">
              <a:ea typeface="Verdana"/>
            </a:endParaRPr>
          </a:p>
          <a:p>
            <a:pPr indent="0" algn="just">
              <a:buNone/>
            </a:pPr>
            <a:r>
              <a:rPr lang="en-US" sz="2000" b="1"/>
              <a:t>Automatic Failover</a:t>
            </a:r>
            <a:endParaRPr lang="en-US" sz="2000" dirty="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When the primary server fails, the middleware automatically switches user requests to the backup server, allowing the application to continue with minimal downtime.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The prototype successfully recovered from 3 out of 4 simulated failure scenarios without manual intervention.</a:t>
            </a:r>
          </a:p>
          <a:p>
            <a:pPr algn="just"/>
            <a:endParaRPr lang="en-US" sz="20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20426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59AA-D695-5925-B060-C3C7F993F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A2ED6108-C4E3-9D09-F60F-498FE21B9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Methodology</a:t>
            </a:r>
            <a:endParaRPr lang="en-US" sz="2800">
              <a:ea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ACB086-2BC2-7B66-A5E9-9D7B38008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50" b="-115"/>
          <a:stretch>
            <a:fillRect/>
          </a:stretch>
        </p:blipFill>
        <p:spPr>
          <a:xfrm>
            <a:off x="0" y="1610990"/>
            <a:ext cx="12192000" cy="440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29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16A94-E5CE-086C-CFBB-04CB871E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802F170D-6EAE-4394-47D7-8EBE4BC6F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Drawbacks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ACBE71-627F-A49C-7031-9850E94860E2}"/>
              </a:ext>
            </a:extLst>
          </p:cNvPr>
          <p:cNvSpPr txBox="1">
            <a:spLocks/>
          </p:cNvSpPr>
          <p:nvPr/>
        </p:nvSpPr>
        <p:spPr bwMode="auto">
          <a:xfrm>
            <a:off x="0" y="1120082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800" b="1"/>
              <a:t>1. No Prediction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The middleware waits until the server stops responding.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It cannot predict future failures.</a:t>
            </a:r>
          </a:p>
          <a:p>
            <a:pPr algn="just">
              <a:buNone/>
            </a:pPr>
            <a:endParaRPr lang="en-US" sz="1800" b="1">
              <a:ea typeface="+mn-lt"/>
              <a:cs typeface="+mn-lt"/>
            </a:endParaRPr>
          </a:p>
          <a:p>
            <a:pPr algn="just">
              <a:buNone/>
            </a:pPr>
            <a:r>
              <a:rPr lang="en-US" sz="1800" b="1"/>
              <a:t>2. Single Backup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Only one backup server is considered.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If both the primary and backup fail,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the system stops.</a:t>
            </a:r>
          </a:p>
          <a:p>
            <a:pPr algn="just">
              <a:buNone/>
            </a:pPr>
            <a:endParaRPr lang="en-US" sz="1800" b="1">
              <a:ea typeface="Verdana"/>
            </a:endParaRPr>
          </a:p>
          <a:p>
            <a:pPr algn="just">
              <a:buNone/>
            </a:pPr>
            <a:r>
              <a:rPr lang="en-US" sz="1800" b="1"/>
              <a:t>3. Heartbeat Overhead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Heartbeat messages are sent continuously.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While each message is small, they consume network bandwidth and processing resources over time.</a:t>
            </a:r>
            <a:endParaRPr lang="en-US" sz="1800">
              <a:ea typeface="Verdana"/>
            </a:endParaRPr>
          </a:p>
          <a:p>
            <a:pPr algn="just"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/>
              <a:t>4. No Load Balancing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Unlike Paper 1, the middleware does </a:t>
            </a:r>
            <a:r>
              <a:rPr lang="en-US" sz="1800" b="1">
                <a:ea typeface="+mn-lt"/>
                <a:cs typeface="+mn-lt"/>
              </a:rPr>
              <a:t>not</a:t>
            </a:r>
            <a:r>
              <a:rPr lang="en-US" sz="1800">
                <a:ea typeface="+mn-lt"/>
                <a:cs typeface="+mn-lt"/>
              </a:rPr>
              <a:t> decide which server is less busy.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It only switches servers after a failure.</a:t>
            </a:r>
            <a:endParaRPr lang="en-US" sz="1800">
              <a:ea typeface="Verdana"/>
            </a:endParaRPr>
          </a:p>
          <a:p>
            <a:pPr algn="just">
              <a:buNone/>
            </a:pPr>
            <a:endParaRPr lang="en-US" sz="1800" b="1"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1800"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1800" b="1">
              <a:ea typeface="Verdan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9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60DD6-193F-D8B3-7F14-78E67E0E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56504B4C-EF24-EE60-5262-313227EE2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1800" b="1"/>
              <a:t>Paper 4: Opportunities of IoT in Fog Computing for High Fault Tolerance and Sustainable Energy Optimization</a:t>
            </a:r>
            <a:endParaRPr lang="en-US" sz="1800">
              <a:ea typeface="Verdana"/>
            </a:endParaRPr>
          </a:p>
          <a:p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Journal: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Sustainability (2023)</a:t>
            </a:r>
          </a:p>
          <a:p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sustainability-15-08702.pdf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B93604-6288-3FCE-0BED-F53D75A027DD}"/>
              </a:ext>
            </a:extLst>
          </p:cNvPr>
          <p:cNvSpPr txBox="1">
            <a:spLocks/>
          </p:cNvSpPr>
          <p:nvPr/>
        </p:nvSpPr>
        <p:spPr bwMode="auto">
          <a:xfrm>
            <a:off x="0" y="1742716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2000" b="1">
                <a:ea typeface="+mn-lt"/>
                <a:cs typeface="+mn-lt"/>
              </a:rPr>
              <a:t>Problem:</a:t>
            </a:r>
            <a:endParaRPr lang="en-US" sz="2000">
              <a:ea typeface="+mn-lt"/>
              <a:cs typeface="+mn-lt"/>
            </a:endParaRPr>
          </a:p>
          <a:p>
            <a:pPr algn="just">
              <a:buNone/>
            </a:pPr>
            <a:r>
              <a:rPr lang="en-US" sz="2000">
                <a:ea typeface="+mn-lt"/>
                <a:cs typeface="+mn-lt"/>
              </a:rPr>
              <a:t>This paper proposes </a:t>
            </a:r>
            <a:r>
              <a:rPr lang="en-US" sz="2000" b="1">
                <a:ea typeface="+mn-lt"/>
                <a:cs typeface="+mn-lt"/>
              </a:rPr>
              <a:t>QoS-EO (Quality of Service – Energy Optimization)</a:t>
            </a:r>
            <a:r>
              <a:rPr lang="en-US" sz="2000">
                <a:ea typeface="+mn-lt"/>
                <a:cs typeface="+mn-lt"/>
              </a:rPr>
              <a:t>, a hybrid optimization approach for intelligent task placement in fog computing.</a:t>
            </a:r>
            <a:endParaRPr lang="en-US" sz="2000">
              <a:ea typeface="Verdana"/>
            </a:endParaRPr>
          </a:p>
          <a:p>
            <a:pPr algn="just">
              <a:buNone/>
            </a:pPr>
            <a:r>
              <a:rPr lang="en-US" sz="2000">
                <a:ea typeface="+mn-lt"/>
                <a:cs typeface="+mn-lt"/>
              </a:rPr>
              <a:t>Instead of assigning IoT tasks randomly, it combines </a:t>
            </a:r>
            <a:r>
              <a:rPr lang="en-US" sz="2000" b="1">
                <a:ea typeface="+mn-lt"/>
                <a:cs typeface="+mn-lt"/>
              </a:rPr>
              <a:t>Particle Swarm Optimization (PSO)</a:t>
            </a:r>
            <a:r>
              <a:rPr lang="en-US" sz="2000">
                <a:ea typeface="+mn-lt"/>
                <a:cs typeface="+mn-lt"/>
              </a:rPr>
              <a:t> and </a:t>
            </a:r>
            <a:r>
              <a:rPr lang="en-US" sz="2000" b="1">
                <a:ea typeface="+mn-lt"/>
                <a:cs typeface="+mn-lt"/>
              </a:rPr>
              <a:t>Artificial Bee Colony (ABC)</a:t>
            </a:r>
            <a:r>
              <a:rPr lang="en-US" sz="2000">
                <a:ea typeface="+mn-lt"/>
                <a:cs typeface="+mn-lt"/>
              </a:rPr>
              <a:t> algorithms to: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Select the most suitable fog node for each task.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Optimize Quality of Service (QoS) and energy consumption.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Reduce node overload and improve fault tolerance through better resource allocation.</a:t>
            </a:r>
            <a:endParaRPr lang="en-US" sz="2000">
              <a:ea typeface="Verdana"/>
            </a:endParaRPr>
          </a:p>
          <a:p>
            <a:pPr indent="0" algn="just">
              <a:buNone/>
            </a:pPr>
            <a:r>
              <a:rPr lang="en-US" sz="2000" b="1">
                <a:ea typeface="+mn-lt"/>
                <a:cs typeface="+mn-lt"/>
              </a:rPr>
              <a:t>Key Contribution: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Intelligent task placement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Hybrid PSO + ABC optimization</a:t>
            </a:r>
            <a:endParaRPr lang="en-US" sz="2000">
              <a:ea typeface="Verdana"/>
            </a:endParaRPr>
          </a:p>
          <a:p>
            <a:pPr marL="0" indent="0" algn="just"/>
            <a:endParaRPr lang="en-US" sz="20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9690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2C56-EE73-C433-D497-2164CF2BF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732EF51F-9DAC-0B23-AF45-4C06C9246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3084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Algorithm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852C6F-0DF4-F9C1-36A2-1966143C1B1F}"/>
              </a:ext>
            </a:extLst>
          </p:cNvPr>
          <p:cNvSpPr txBox="1">
            <a:spLocks/>
          </p:cNvSpPr>
          <p:nvPr/>
        </p:nvSpPr>
        <p:spPr bwMode="auto">
          <a:xfrm>
            <a:off x="148683" y="1118220"/>
            <a:ext cx="5947318" cy="4901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Algorithm: Hybrid PSO–ABC Task Placement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1: Generate IoT Tasks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IoT devices (sensors, cameras, smart traffic lights, etc.) continuously generate tasks.</a:t>
            </a:r>
          </a:p>
          <a:p>
            <a:pPr algn="just"/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These tasks are sent to the Fog Layer for processing.</a:t>
            </a:r>
          </a:p>
          <a:p>
            <a:pPr marL="0" indent="0"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2: Collect Fog Node Information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latin typeface="Verdana"/>
                <a:ea typeface="Verdana"/>
                <a:cs typeface="Times New Roman"/>
              </a:rPr>
              <a:t>The system gathers information about all available fog nodes, </a:t>
            </a:r>
            <a:r>
              <a:rPr lang="en-US" sz="1400" err="1">
                <a:latin typeface="Verdana"/>
                <a:ea typeface="Verdana"/>
                <a:cs typeface="Times New Roman"/>
              </a:rPr>
              <a:t>including:</a:t>
            </a:r>
            <a:r>
              <a:rPr lang="en-US" sz="1400">
                <a:latin typeface="Verdana"/>
                <a:ea typeface="Verdana"/>
                <a:cs typeface="Times New Roman"/>
              </a:rPr>
              <a:t> CPU utilization, Available resources, Energy consumption, Network conditions, QoS parameters</a:t>
            </a:r>
          </a:p>
          <a:p>
            <a:pPr marL="0" indent="0"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3: Initialize PSO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latin typeface="Verdana"/>
                <a:ea typeface="Verdana"/>
                <a:cs typeface="Times New Roman"/>
              </a:rPr>
              <a:t>Each particle represents a </a:t>
            </a:r>
            <a:r>
              <a:rPr lang="en-US" sz="1400" b="1">
                <a:latin typeface="Verdana"/>
                <a:ea typeface="Verdana"/>
                <a:cs typeface="Times New Roman"/>
              </a:rPr>
              <a:t>possible task-to-fog node assignment</a:t>
            </a:r>
            <a:r>
              <a:rPr lang="en-US" sz="1400">
                <a:latin typeface="Verdana"/>
                <a:ea typeface="Verdana"/>
                <a:cs typeface="Times New Roman"/>
              </a:rPr>
              <a:t>. The particles are initialized with random task placement solutions.</a:t>
            </a:r>
          </a:p>
          <a:p>
            <a:pPr marL="0" indent="0"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4: Evaluate Fitness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Each solution is evaluated using a </a:t>
            </a: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fitness function</a:t>
            </a:r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 based on: Response time, Energy consumption, Reliability, Throughput, Execution cost</a:t>
            </a:r>
          </a:p>
          <a:p>
            <a:pPr marL="0" indent="0"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5: Update Particle Positions (PSO)</a:t>
            </a:r>
          </a:p>
          <a:p>
            <a:pPr algn="just"/>
            <a:r>
              <a:rPr lang="en-US" sz="1400">
                <a:latin typeface="Verdana"/>
                <a:ea typeface="Verdana"/>
                <a:cs typeface="Times New Roman"/>
              </a:rPr>
              <a:t>Each particle updates its </a:t>
            </a:r>
            <a:r>
              <a:rPr lang="en-US" sz="1400" b="1">
                <a:latin typeface="Verdana"/>
                <a:ea typeface="Verdana"/>
                <a:cs typeface="Times New Roman"/>
              </a:rPr>
              <a:t>velocity</a:t>
            </a:r>
            <a:r>
              <a:rPr lang="en-US" sz="1400">
                <a:latin typeface="Verdana"/>
                <a:ea typeface="Verdana"/>
                <a:cs typeface="Times New Roman"/>
              </a:rPr>
              <a:t> and </a:t>
            </a:r>
            <a:r>
              <a:rPr lang="en-US" sz="1400" b="1">
                <a:latin typeface="Verdana"/>
                <a:ea typeface="Verdana"/>
                <a:cs typeface="Times New Roman"/>
              </a:rPr>
              <a:t>position</a:t>
            </a:r>
            <a:r>
              <a:rPr lang="en-US" sz="1400">
                <a:latin typeface="Verdana"/>
                <a:ea typeface="Verdana"/>
                <a:cs typeface="Times New Roman"/>
              </a:rPr>
              <a:t> using: Personal Best (</a:t>
            </a:r>
            <a:r>
              <a:rPr lang="en-US" sz="1400" err="1">
                <a:latin typeface="Verdana"/>
                <a:ea typeface="Verdana"/>
                <a:cs typeface="Times New Roman"/>
              </a:rPr>
              <a:t>PBest</a:t>
            </a:r>
            <a:r>
              <a:rPr lang="en-US" sz="1400">
                <a:latin typeface="Verdana"/>
                <a:ea typeface="Verdana"/>
                <a:cs typeface="Times New Roman"/>
              </a:rPr>
              <a:t>) &amp; Global Best (</a:t>
            </a:r>
            <a:r>
              <a:rPr lang="en-US" sz="1400" err="1">
                <a:latin typeface="Verdana"/>
                <a:ea typeface="Verdana"/>
                <a:cs typeface="Times New Roman"/>
              </a:rPr>
              <a:t>GBest</a:t>
            </a:r>
            <a:r>
              <a:rPr lang="en-US" sz="1400">
                <a:latin typeface="Verdana"/>
                <a:ea typeface="Verdana"/>
                <a:cs typeface="Times New Roman"/>
              </a:rPr>
              <a:t>)</a:t>
            </a:r>
          </a:p>
          <a:p>
            <a:pPr algn="just"/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The swarm gradually moves toward better task placement solutions.</a:t>
            </a:r>
          </a:p>
          <a:p>
            <a:pPr marL="0" indent="0" algn="just">
              <a:buNone/>
            </a:pPr>
            <a:endParaRPr lang="en-US" sz="1400" b="1">
              <a:latin typeface="Verdana"/>
              <a:ea typeface="Verdana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B6F84-1DA0-05B3-60C6-6E9242719E89}"/>
              </a:ext>
            </a:extLst>
          </p:cNvPr>
          <p:cNvSpPr txBox="1">
            <a:spLocks/>
          </p:cNvSpPr>
          <p:nvPr/>
        </p:nvSpPr>
        <p:spPr bwMode="auto">
          <a:xfrm>
            <a:off x="6096000" y="1118219"/>
            <a:ext cx="5928733" cy="4889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400" b="1">
                <a:latin typeface="Verdana"/>
                <a:ea typeface="Verdana"/>
                <a:cs typeface="Times New Roman"/>
              </a:rPr>
              <a:t>Step 6: Improve Solution Using ABC</a:t>
            </a:r>
            <a:endParaRPr lang="en-US" sz="1400">
              <a:latin typeface="Verdana"/>
              <a:ea typeface="Verdana"/>
              <a:cs typeface="Times New Roman"/>
            </a:endParaRPr>
          </a:p>
          <a:p>
            <a:pPr algn="just"/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Worker Bees</a:t>
            </a:r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 evaluate the quality of the selected fog nodes.</a:t>
            </a:r>
          </a:p>
          <a:p>
            <a:pPr algn="just"/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Onlooker Bees</a:t>
            </a:r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 choose the best solutions found by worker bees.</a:t>
            </a:r>
          </a:p>
          <a:p>
            <a:pPr algn="just"/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Scout Bees</a:t>
            </a:r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 search for new solutions if existing ones are not satisfactory.</a:t>
            </a:r>
          </a:p>
          <a:p>
            <a:pPr marL="0" indent="0"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7: Select the Best Fog Node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The hybrid PSO-ABC algorithm selects the fog node with: Lowest energy consumption, Lowest delay, Highest reliability, Best Quality of Service (QoS)</a:t>
            </a:r>
          </a:p>
          <a:p>
            <a:pPr marL="0" indent="0"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8: Execute the Task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The selected fog node executes the IoT task.</a:t>
            </a:r>
          </a:p>
          <a:p>
            <a:pPr marL="0" indent="0"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9: Monitor Performance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The system continuously measures: Response Time, Turnaround Time, Throughput, Reliability, Energy Consumption</a:t>
            </a:r>
          </a:p>
          <a:p>
            <a:pPr marL="0" indent="0" algn="just">
              <a:buNone/>
            </a:pPr>
            <a:r>
              <a:rPr lang="en-US" sz="1400" b="1">
                <a:latin typeface="Verdana"/>
                <a:ea typeface="Verdana"/>
                <a:cs typeface="Times New Roman" panose="02020603050405020304" pitchFamily="18" charset="0"/>
              </a:rPr>
              <a:t>Step 10: Repeat</a:t>
            </a:r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latin typeface="Verdana"/>
                <a:ea typeface="Verdana"/>
                <a:cs typeface="Times New Roman" panose="02020603050405020304" pitchFamily="18" charset="0"/>
              </a:rPr>
              <a:t>The optimization process repeats whenever new IoT tasks arrive, ensuring continuous resource optimization.</a:t>
            </a:r>
          </a:p>
          <a:p>
            <a:pPr indent="0" algn="just"/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  <a:p>
            <a:pPr marL="0" indent="0" algn="just"/>
            <a:endParaRPr lang="en-US" sz="1400">
              <a:latin typeface="Verdana"/>
              <a:ea typeface="Verdan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41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7676A-40A7-4145-27CE-A2ACE02FC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48064E50-C86A-84CE-7C9A-532D61F76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Techniques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FB04F7-9798-E4AC-4306-B5E9911AA115}"/>
              </a:ext>
            </a:extLst>
          </p:cNvPr>
          <p:cNvSpPr txBox="1">
            <a:spLocks/>
          </p:cNvSpPr>
          <p:nvPr/>
        </p:nvSpPr>
        <p:spPr bwMode="auto">
          <a:xfrm>
            <a:off x="0" y="1194564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2000" b="1"/>
              <a:t>FTAPA (Fault-Tolerance Aware Placement Algorithm)</a:t>
            </a:r>
            <a:endParaRPr lang="en-US" sz="2000" dirty="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A hybrid algorithm that combines intelligent service placement, backup selection, and proactive migration to improve reliability in fog environments.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It maintains high system reliability (&gt;0.85 in single-failure scenarios) while reducing service downtime.</a:t>
            </a:r>
            <a:endParaRPr lang="en-US" sz="2000"/>
          </a:p>
          <a:p>
            <a:pPr marL="0" indent="0" algn="just">
              <a:buNone/>
            </a:pPr>
            <a:r>
              <a:rPr lang="en-US" sz="2000" b="1"/>
              <a:t>DCLB (Dynamic Connections Load Balancer)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Selects the healthiest and least-loaded fog node based on active connections, ensuring balanced resource utilization.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This prevents node overload and improves overall resource efficiency across distributed fog nodes.</a:t>
            </a:r>
          </a:p>
          <a:p>
            <a:pPr marL="0" indent="0" algn="just">
              <a:buNone/>
            </a:pPr>
            <a:r>
              <a:rPr lang="en-US" sz="2000" b="1"/>
              <a:t>Threshold-Based Migration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Continuously monitors node health. If a node crosses a predefined fault threshold, the microservice is migrated to a backup node before failure occurs.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This proactive migration minimizes service disruption and reduces recovery time compared to reactive approaches.</a:t>
            </a:r>
          </a:p>
          <a:p>
            <a:pPr algn="just"/>
            <a:endParaRPr lang="en-US" sz="20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736751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3871-7441-FF56-7BD5-9E79194C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F949AB2F-D054-CB4E-DBA6-D7DE94663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Methodology</a:t>
            </a:r>
            <a:endParaRPr lang="en-US" sz="2800">
              <a:ea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763599-80F0-B19E-5941-1AB4E572F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84" b="13006"/>
          <a:stretch>
            <a:fillRect/>
          </a:stretch>
        </p:blipFill>
        <p:spPr>
          <a:xfrm>
            <a:off x="0" y="1539587"/>
            <a:ext cx="12192000" cy="403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4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88E5F-F581-E253-9CB6-06CCBC83B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25EB8189-ABD3-F40E-943B-9C815305A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Drawbacks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6F017B-82B6-8EDD-B2BA-AB73F1D85961}"/>
              </a:ext>
            </a:extLst>
          </p:cNvPr>
          <p:cNvSpPr txBox="1">
            <a:spLocks/>
          </p:cNvSpPr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800" b="1"/>
              <a:t>1. High Computational Complexity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Running </a:t>
            </a:r>
            <a:r>
              <a:rPr lang="en-US" sz="1800" b="1">
                <a:ea typeface="+mn-lt"/>
                <a:cs typeface="+mn-lt"/>
              </a:rPr>
              <a:t>two optimization algorithms</a:t>
            </a:r>
            <a:r>
              <a:rPr lang="en-US" sz="1800">
                <a:ea typeface="+mn-lt"/>
                <a:cs typeface="+mn-lt"/>
              </a:rPr>
              <a:t> (PSO and ABC) increases computation time.</a:t>
            </a:r>
          </a:p>
          <a:p>
            <a:pPr algn="just"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/>
              <a:t>2. Parameter Sensitivity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The performance depends on selecting appropriate values for PSO parameters (such as inertia weight and learning factors) and ABC settings.</a:t>
            </a:r>
          </a:p>
          <a:p>
            <a:pPr algn="just">
              <a:buNone/>
            </a:pPr>
            <a:endParaRPr lang="en-US" sz="1800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/>
              <a:t>3. Scalability Challenges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As the number of IoT devices grows, the optimization process can become slower due to the larger search space.</a:t>
            </a:r>
            <a:endParaRPr lang="en-US" sz="1800">
              <a:ea typeface="Verdana"/>
            </a:endParaRPr>
          </a:p>
          <a:p>
            <a:pPr algn="just">
              <a:buNone/>
            </a:pPr>
            <a:endParaRPr lang="en-US" sz="1800">
              <a:latin typeface="Verdana"/>
              <a:ea typeface="Verdan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20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75AF5-9CA7-31E9-5C6C-859C3E39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3635315C-B581-E640-6F83-C34391DEC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578428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1800" b="1"/>
              <a:t>Paper 5: Optimized Fault-Tolerant Placement of Microservices in Distributed Fog Networks</a:t>
            </a:r>
            <a:endParaRPr lang="en-US" sz="1800">
              <a:ea typeface="Verdana"/>
            </a:endParaRPr>
          </a:p>
          <a:p>
            <a:r>
              <a:rPr lang="en-US" sz="1800" b="1">
                <a:solidFill>
                  <a:schemeClr val="bg1"/>
                </a:solidFill>
                <a:ea typeface="+mj-lt"/>
                <a:cs typeface="+mj-lt"/>
              </a:rPr>
              <a:t>Journal:</a:t>
            </a:r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 International Journal of Data Informatics and Intelligent Computing (2025)</a:t>
            </a:r>
          </a:p>
          <a:p>
            <a:r>
              <a:rPr lang="en-US" sz="1800">
                <a:solidFill>
                  <a:schemeClr val="bg1"/>
                </a:solidFill>
                <a:ea typeface="+mj-lt"/>
                <a:cs typeface="+mj-lt"/>
              </a:rPr>
              <a:t>ijdiic_v4n4a5.pdf</a:t>
            </a:r>
          </a:p>
          <a:p>
            <a:endParaRPr lang="en-US" sz="1800" b="1">
              <a:solidFill>
                <a:srgbClr val="000000"/>
              </a:solidFill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EFDA7F-ADD6-FD99-518D-3EAB30B915A3}"/>
              </a:ext>
            </a:extLst>
          </p:cNvPr>
          <p:cNvSpPr txBox="1">
            <a:spLocks/>
          </p:cNvSpPr>
          <p:nvPr/>
        </p:nvSpPr>
        <p:spPr bwMode="auto">
          <a:xfrm>
            <a:off x="0" y="1841978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2000" b="1">
                <a:ea typeface="+mn-lt"/>
                <a:cs typeface="+mn-lt"/>
              </a:rPr>
              <a:t>Problem:</a:t>
            </a:r>
          </a:p>
          <a:p>
            <a:pPr algn="just">
              <a:buNone/>
            </a:pPr>
            <a:r>
              <a:rPr lang="en-US" sz="2000">
                <a:ea typeface="+mn-lt"/>
                <a:cs typeface="+mn-lt"/>
              </a:rPr>
              <a:t>This paper proposes a </a:t>
            </a:r>
            <a:r>
              <a:rPr lang="en-US" sz="2000" b="1">
                <a:ea typeface="+mn-lt"/>
                <a:cs typeface="+mn-lt"/>
              </a:rPr>
              <a:t>Fault-Tolerance Aware Placement Algorithm (FTAPA)</a:t>
            </a:r>
            <a:r>
              <a:rPr lang="en-US" sz="2000">
                <a:ea typeface="+mn-lt"/>
                <a:cs typeface="+mn-lt"/>
              </a:rPr>
              <a:t> for fog computing that improves the reliability of microservice-based IoT applications.</a:t>
            </a:r>
            <a:endParaRPr lang="en-US"/>
          </a:p>
          <a:p>
            <a:pPr algn="just">
              <a:buNone/>
            </a:pPr>
            <a:r>
              <a:rPr lang="en-US" sz="2000">
                <a:ea typeface="+mn-lt"/>
                <a:cs typeface="+mn-lt"/>
              </a:rPr>
              <a:t>Instead of waiting for a fog node to fail, the algorithm: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Selects the healthiest and least-loaded fog node using </a:t>
            </a:r>
            <a:r>
              <a:rPr lang="en-US" sz="2000" b="1">
                <a:ea typeface="+mn-lt"/>
                <a:cs typeface="+mn-lt"/>
              </a:rPr>
              <a:t>Dynamic Connections Load Balancing (DCLB)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Deploys the microservice on the selected node.</a:t>
            </a:r>
            <a:endParaRPr lang="en-US" sz="2000">
              <a:ea typeface="Verdana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Preselects a backup node for recovery.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Continuously monitors the health of the primary node.</a:t>
            </a:r>
          </a:p>
          <a:p>
            <a:pPr algn="just"/>
            <a:r>
              <a:rPr lang="en-US" sz="2000">
                <a:ea typeface="+mn-lt"/>
                <a:cs typeface="+mn-lt"/>
              </a:rPr>
              <a:t>Proactively migrates the microservice to the backup node before a failure occurs.</a:t>
            </a:r>
          </a:p>
          <a:p>
            <a:pPr marL="0" indent="0" algn="just"/>
            <a:endParaRPr lang="en-US" sz="200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7938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08205-E9F0-5CAF-2D67-2C0EAC0B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B513650E-9D80-50F0-FAD0-50B8B655C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Algorithm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D9D806-E361-2250-2AB7-E954D25A2429}"/>
              </a:ext>
            </a:extLst>
          </p:cNvPr>
          <p:cNvSpPr txBox="1">
            <a:spLocks/>
          </p:cNvSpPr>
          <p:nvPr/>
        </p:nvSpPr>
        <p:spPr bwMode="auto">
          <a:xfrm>
            <a:off x="167268" y="1130610"/>
            <a:ext cx="5761464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</a:pPr>
            <a:r>
              <a:rPr lang="en-US" sz="1400" b="1"/>
              <a:t>Algorithm: Fault-Tolerance Aware Placement Algorithm (FTAPA)</a:t>
            </a:r>
            <a:endParaRPr lang="en-US" sz="1400" b="1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1: Receive Microservice Request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A new microservice request arrives from an IoT application.</a:t>
            </a:r>
          </a:p>
          <a:p>
            <a:pPr algn="just"/>
            <a:r>
              <a:rPr lang="en-US" sz="1400">
                <a:ea typeface="+mn-lt"/>
                <a:cs typeface="+mn-lt"/>
              </a:rPr>
              <a:t>The request is forwarded to the Fog Layer.</a:t>
            </a:r>
          </a:p>
          <a:p>
            <a:pPr marL="0" indent="0" algn="just">
              <a:buNone/>
            </a:pPr>
            <a:r>
              <a:rPr lang="en-US" sz="1400" b="1"/>
              <a:t>Step 2: Dynamic Connections Load Balancer (DCLB)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DCLB evaluates all available fog nodes based on:</a:t>
            </a:r>
            <a:endParaRPr lang="en-US" sz="1400">
              <a:ea typeface="Verdana"/>
            </a:endParaRPr>
          </a:p>
          <a:p>
            <a:pPr lvl="1" algn="just"/>
            <a:r>
              <a:rPr lang="en-US" sz="1400">
                <a:ea typeface="+mn-lt"/>
                <a:cs typeface="+mn-lt"/>
              </a:rPr>
              <a:t>Active connections</a:t>
            </a:r>
            <a:endParaRPr lang="en-US" sz="1400">
              <a:ea typeface="Verdana"/>
            </a:endParaRPr>
          </a:p>
          <a:p>
            <a:pPr lvl="1" algn="just"/>
            <a:r>
              <a:rPr lang="en-US" sz="1400">
                <a:ea typeface="+mn-lt"/>
                <a:cs typeface="+mn-lt"/>
              </a:rPr>
              <a:t>Resource availability (CPU, memory)</a:t>
            </a:r>
            <a:endParaRPr lang="en-US" sz="1400">
              <a:ea typeface="Verdana"/>
            </a:endParaRPr>
          </a:p>
          <a:p>
            <a:pPr lvl="1" algn="just"/>
            <a:r>
              <a:rPr lang="en-US" sz="1400">
                <a:ea typeface="+mn-lt"/>
                <a:cs typeface="+mn-lt"/>
              </a:rPr>
              <a:t>Node health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3: Select the Best Fog Node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healthiest and least-loaded fog node is selected.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microservice is deployed on the selected </a:t>
            </a:r>
            <a:r>
              <a:rPr lang="en-US" sz="1400" b="1">
                <a:ea typeface="+mn-lt"/>
                <a:cs typeface="+mn-lt"/>
              </a:rPr>
              <a:t>Primary Node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4: Predetermine a Backup Node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At the same time, the system selects a </a:t>
            </a:r>
            <a:r>
              <a:rPr lang="en-US" sz="1400" b="1">
                <a:ea typeface="+mn-lt"/>
                <a:cs typeface="+mn-lt"/>
              </a:rPr>
              <a:t>Backup Node</a:t>
            </a:r>
            <a:r>
              <a:rPr lang="en-US" sz="1400">
                <a:ea typeface="+mn-lt"/>
                <a:cs typeface="+mn-lt"/>
              </a:rPr>
              <a:t> in advance.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backup node is kept ready in case the primary node becomes unhealthy.</a:t>
            </a:r>
            <a:endParaRPr lang="en-US" sz="1400">
              <a:ea typeface="Verdana"/>
            </a:endParaRPr>
          </a:p>
          <a:p>
            <a:pPr algn="just"/>
            <a:endParaRPr lang="en-US" sz="1400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algn="just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A587E5D-588F-373C-6F1F-57A3DEBBEFD6}"/>
              </a:ext>
            </a:extLst>
          </p:cNvPr>
          <p:cNvSpPr txBox="1">
            <a:spLocks/>
          </p:cNvSpPr>
          <p:nvPr/>
        </p:nvSpPr>
        <p:spPr bwMode="auto">
          <a:xfrm>
            <a:off x="6095999" y="1130609"/>
            <a:ext cx="5761464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</a:pPr>
            <a:r>
              <a:rPr lang="en-US" sz="1400" b="1"/>
              <a:t>Step 5: Monitor Node Health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system continuously monitors the health of the primary node.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A </a:t>
            </a:r>
            <a:r>
              <a:rPr lang="en-US" sz="1400" b="1">
                <a:ea typeface="+mn-lt"/>
                <a:cs typeface="+mn-lt"/>
              </a:rPr>
              <a:t>fault threshold</a:t>
            </a:r>
            <a:r>
              <a:rPr lang="en-US" sz="1400">
                <a:ea typeface="+mn-lt"/>
                <a:cs typeface="+mn-lt"/>
              </a:rPr>
              <a:t> is calculated to estimate the likelihood of failure.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6: Compare with Fault Threshold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If the node health remains above the threshold, the service continues normally.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If the node health falls below the threshold, the system predicts an upcoming failure.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7: Proactive Migration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Before the node completely fails, the microservice is migrated to the predetermined backup node.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This minimizes service interruption.</a:t>
            </a:r>
            <a:endParaRPr lang="en-US" sz="1400">
              <a:ea typeface="Verdana"/>
            </a:endParaRPr>
          </a:p>
          <a:p>
            <a:pPr marL="0" indent="0" algn="just">
              <a:buNone/>
            </a:pPr>
            <a:r>
              <a:rPr lang="en-US" sz="1400" b="1"/>
              <a:t>Step 8: Continue Service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The backup node continues executing the microservice.</a:t>
            </a:r>
            <a:endParaRPr lang="en-US" sz="1400">
              <a:ea typeface="Verdana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Users experience little or no downtime.</a:t>
            </a:r>
            <a:endParaRPr lang="en-US" sz="1400">
              <a:ea typeface="Verdana"/>
            </a:endParaRPr>
          </a:p>
          <a:p>
            <a:pPr algn="just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01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919F5-E606-623F-F3C9-76630F59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0346BE6E-B616-3307-EA02-D831C9D8A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667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Techniques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397DC3-3511-EFE0-30A3-4D0A966C2998}"/>
              </a:ext>
            </a:extLst>
          </p:cNvPr>
          <p:cNvSpPr txBox="1">
            <a:spLocks/>
          </p:cNvSpPr>
          <p:nvPr/>
        </p:nvSpPr>
        <p:spPr bwMode="auto">
          <a:xfrm>
            <a:off x="0" y="1131542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800" b="1"/>
              <a:t>QoS-EO (Quality of Service – Energy Optimization)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Evaluates QoS parameters such as latency, reliability, and workload to select the most suitable fog node while minimizing energy consumption.</a:t>
            </a:r>
          </a:p>
          <a:p>
            <a:pPr marL="0" indent="0" algn="just">
              <a:buNone/>
            </a:pPr>
            <a:r>
              <a:rPr lang="en-US" sz="1800" b="1"/>
              <a:t>Particle Swarm Optimization (PSO)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A swarm intelligence algorithm inspired by bird flocking that searches for the optimal resource allocation by iteratively improving candidate solutions.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It helps identify resource allocations that reduce execution delay and improve overall system performance.</a:t>
            </a:r>
            <a:endParaRPr lang="en-US" sz="1800" dirty="0">
              <a:ea typeface="Verdana"/>
            </a:endParaRPr>
          </a:p>
          <a:p>
            <a:pPr marL="0" indent="0" algn="just">
              <a:buNone/>
            </a:pPr>
            <a:r>
              <a:rPr lang="en-US" sz="1800" b="1"/>
              <a:t>Ant–Bee Optimization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A hybrid optimization technique combining Ant Colony Optimization and Artificial Bee Colony algorithms to identify efficient execution paths and improve resource utilization.</a:t>
            </a:r>
          </a:p>
          <a:p>
            <a:pPr algn="just"/>
            <a:r>
              <a:rPr lang="en-US" sz="1800">
                <a:ea typeface="+mn-lt"/>
                <a:cs typeface="+mn-lt"/>
              </a:rPr>
              <a:t>It finds lower-cost execution paths while balancing energy consumption and Quality of Service.</a:t>
            </a:r>
            <a:endParaRPr lang="en-US" sz="1800">
              <a:ea typeface="Verdana"/>
            </a:endParaRPr>
          </a:p>
          <a:p>
            <a:pPr marL="0" indent="0" algn="just">
              <a:buNone/>
            </a:pPr>
            <a:r>
              <a:rPr lang="en-US" sz="1800" b="1"/>
              <a:t>Checkpointing</a:t>
            </a:r>
            <a:endParaRPr lang="en-US" sz="1800" dirty="0">
              <a:ea typeface="Verdana"/>
            </a:endParaRPr>
          </a:p>
          <a:p>
            <a:pPr algn="just"/>
            <a:r>
              <a:rPr lang="en-US" sz="1800">
                <a:ea typeface="+mn-lt"/>
                <a:cs typeface="+mn-lt"/>
              </a:rPr>
              <a:t>Periodically saves the current execution state of tasks so that processing can resume from the latest saved point if a failure occurs.</a:t>
            </a:r>
          </a:p>
          <a:p>
            <a:pPr algn="just"/>
            <a:r>
              <a:rPr lang="en-US" sz="1800">
                <a:ea typeface="+mn-lt"/>
                <a:cs typeface="+mn-lt"/>
              </a:rPr>
              <a:t>This improves fault tolerance by reducing task re-execution time and preventing complete loss of processing progress.</a:t>
            </a:r>
          </a:p>
          <a:p>
            <a:pPr algn="just"/>
            <a:endParaRPr lang="en-US" sz="1800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61312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FA7B9-9B2C-AAFF-6DEB-0743C153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057D4974-EA22-52E3-D1CC-CB4CAAB7D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7210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Methodology</a:t>
            </a:r>
            <a:endParaRPr lang="en-US" sz="2800">
              <a:ea typeface="Verdan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80299A-35BE-DF51-722E-2FEA8A21F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51" b="12812"/>
          <a:stretch>
            <a:fillRect/>
          </a:stretch>
        </p:blipFill>
        <p:spPr>
          <a:xfrm>
            <a:off x="0" y="1237211"/>
            <a:ext cx="12192000" cy="422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0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8AB84-410E-B85C-0C18-DDDA3162A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3E10914A-D2C7-2D7C-CE6A-55C94013C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88309"/>
          </a:xfrm>
          <a:solidFill>
            <a:srgbClr val="0079BC"/>
          </a:solidFill>
          <a:ln/>
        </p:spPr>
        <p:txBody>
          <a:bodyPr/>
          <a:lstStyle/>
          <a:p>
            <a:r>
              <a:rPr lang="en-US" sz="2800" b="1"/>
              <a:t>Drawbacks</a:t>
            </a:r>
            <a:endParaRPr lang="en-US" sz="2800">
              <a:ea typeface="Verdan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B0497E-F770-4777-A506-052472FE0746}"/>
              </a:ext>
            </a:extLst>
          </p:cNvPr>
          <p:cNvSpPr txBox="1">
            <a:spLocks/>
          </p:cNvSpPr>
          <p:nvPr/>
        </p:nvSpPr>
        <p:spPr bwMode="auto">
          <a:xfrm>
            <a:off x="0" y="1143000"/>
            <a:ext cx="1219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None/>
            </a:pPr>
            <a:r>
              <a:rPr lang="en-US" sz="1800" b="1"/>
              <a:t>1. Backup Resource Cost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Maintaining backup nodes consumes additional memory and processing resources, even when failures never occur.</a:t>
            </a:r>
          </a:p>
          <a:p>
            <a:pPr algn="just">
              <a:buNone/>
            </a:pPr>
            <a:endParaRPr lang="en-US" sz="1800" b="1">
              <a:ea typeface="+mn-lt"/>
              <a:cs typeface="+mn-lt"/>
            </a:endParaRPr>
          </a:p>
          <a:p>
            <a:pPr algn="just">
              <a:buNone/>
            </a:pPr>
            <a:r>
              <a:rPr lang="en-US" sz="1800" b="1"/>
              <a:t>2. Threshold Selection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If the fault threshold is set too low, migration may happen too late.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If it is set too high, unnecessary migrations may occur.</a:t>
            </a:r>
            <a:endParaRPr lang="en-US" sz="1800">
              <a:ea typeface="Verdana"/>
            </a:endParaRPr>
          </a:p>
          <a:p>
            <a:pPr algn="just">
              <a:buNone/>
            </a:pPr>
            <a:endParaRPr lang="en-US" sz="1800" b="1">
              <a:latin typeface="Verdana"/>
              <a:ea typeface="Verdana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b="1"/>
              <a:t>3. Health Monitoring Overhead</a:t>
            </a:r>
            <a:endParaRPr lang="en-US" sz="1800">
              <a:ea typeface="Verdana"/>
            </a:endParaRPr>
          </a:p>
          <a:p>
            <a:pPr algn="just">
              <a:buNone/>
            </a:pPr>
            <a:r>
              <a:rPr lang="en-US" sz="1800">
                <a:ea typeface="+mn-lt"/>
                <a:cs typeface="+mn-lt"/>
              </a:rPr>
              <a:t>Continuously monitoring node health adds some processing and communication overhead.</a:t>
            </a:r>
            <a:endParaRPr lang="en-US" sz="1800">
              <a:ea typeface="Verdana"/>
            </a:endParaRPr>
          </a:p>
          <a:p>
            <a:pPr algn="just">
              <a:buNone/>
            </a:pPr>
            <a:endParaRPr lang="en-US" sz="1800">
              <a:ea typeface="Verdan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7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1B4B-43F1-4A79-97B5-ACD47DFBF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56183"/>
            <a:ext cx="8229600" cy="1143000"/>
          </a:xfrm>
        </p:spPr>
        <p:txBody>
          <a:bodyPr/>
          <a:lstStyle/>
          <a:p>
            <a:r>
              <a:rPr lang="en-IN" sz="3200" b="1"/>
              <a:t>Thank You</a:t>
            </a:r>
            <a:r>
              <a:rPr lang="en-I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201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28</Slides>
  <Notes>27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1_Default Design</vt:lpstr>
      <vt:lpstr>Proactive Fault Tolerance in Fog Computing</vt:lpstr>
      <vt:lpstr>Paper 1: Dynamic Fault Tolerance Aware Scheduling for Healthcare System on Fog Computing Journal: Iraqi Journal of Science (2021) 2093-Article+Text-32231-35264-10-20210129.pdf</vt:lpstr>
      <vt:lpstr>Algorithm</vt:lpstr>
      <vt:lpstr>Techniques</vt:lpstr>
      <vt:lpstr>Methodology</vt:lpstr>
      <vt:lpstr>Drawbacks</vt:lpstr>
      <vt:lpstr> Paper 2: QoS Aware and Fault Tolerance Based Software-Defined Vehicular Networks Using Cloud-Fog Computing Journal: Sensors (2022)  b33ca3499970ca4152ba9af462f1cb1a9674.pdf </vt:lpstr>
      <vt:lpstr>Algorithm</vt:lpstr>
      <vt:lpstr>Algorithm</vt:lpstr>
      <vt:lpstr>Techniques</vt:lpstr>
      <vt:lpstr>Methodology</vt:lpstr>
      <vt:lpstr>Drawbacks</vt:lpstr>
      <vt:lpstr> Paper 3: Fault Tolerance Mechanism for Software Application Through Fog Computing as Middleware Journal: International Journal of Computing and Digital Systems (2016) b76d44b6ebca4db2fa8529aadae3d438878d.pdf </vt:lpstr>
      <vt:lpstr>Algorithm</vt:lpstr>
      <vt:lpstr>Techniques</vt:lpstr>
      <vt:lpstr>Methodology</vt:lpstr>
      <vt:lpstr>Drawbacks</vt:lpstr>
      <vt:lpstr>Paper 4: Opportunities of IoT in Fog Computing for High Fault Tolerance and Sustainable Energy Optimization Journal: Sustainability (2023) sustainability-15-08702.pdf</vt:lpstr>
      <vt:lpstr>Algorithm</vt:lpstr>
      <vt:lpstr>Techniques</vt:lpstr>
      <vt:lpstr>Methodology</vt:lpstr>
      <vt:lpstr>Drawbacks</vt:lpstr>
      <vt:lpstr>Paper 5: Optimized Fault-Tolerant Placement of Microservices in Distributed Fog Networks Journal: International Journal of Data Informatics and Intelligent Computing (2025) ijdiic_v4n4a5.pdf </vt:lpstr>
      <vt:lpstr>Algorithm</vt:lpstr>
      <vt:lpstr>Techniques</vt:lpstr>
      <vt:lpstr>Methodology</vt:lpstr>
      <vt:lpstr>Drawbacks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SENTHIL KUMAR</dc:creator>
  <cp:revision>97</cp:revision>
  <cp:lastPrinted>2019-10-24T05:06:13Z</cp:lastPrinted>
  <dcterms:created xsi:type="dcterms:W3CDTF">2006-09-22T10:59:01Z</dcterms:created>
  <dcterms:modified xsi:type="dcterms:W3CDTF">2026-07-14T17:37:24Z</dcterms:modified>
</cp:coreProperties>
</file>