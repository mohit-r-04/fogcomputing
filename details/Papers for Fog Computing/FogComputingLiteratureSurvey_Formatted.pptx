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631" r:id="rId3"/>
    <p:sldId id="632" r:id="rId5"/>
    <p:sldId id="657" r:id="rId6"/>
    <p:sldId id="681" r:id="rId7"/>
    <p:sldId id="658" r:id="rId8"/>
    <p:sldId id="659" r:id="rId9"/>
    <p:sldId id="660" r:id="rId10"/>
    <p:sldId id="662" r:id="rId11"/>
    <p:sldId id="676" r:id="rId12"/>
    <p:sldId id="682" r:id="rId13"/>
    <p:sldId id="663" r:id="rId14"/>
    <p:sldId id="661" r:id="rId15"/>
    <p:sldId id="667" r:id="rId16"/>
    <p:sldId id="666" r:id="rId17"/>
    <p:sldId id="683" r:id="rId18"/>
    <p:sldId id="665" r:id="rId19"/>
    <p:sldId id="664" r:id="rId20"/>
    <p:sldId id="680" r:id="rId21"/>
    <p:sldId id="670" r:id="rId22"/>
    <p:sldId id="684" r:id="rId23"/>
    <p:sldId id="669" r:id="rId24"/>
    <p:sldId id="668" r:id="rId25"/>
    <p:sldId id="675" r:id="rId26"/>
    <p:sldId id="679" r:id="rId27"/>
    <p:sldId id="685" r:id="rId28"/>
    <p:sldId id="673" r:id="rId29"/>
    <p:sldId id="672" r:id="rId30"/>
    <p:sldId id="640" r:id="rId31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90B0D4"/>
    <a:srgbClr val="B4593C"/>
    <a:srgbClr val="0066CC"/>
    <a:srgbClr val="547B9C"/>
    <a:srgbClr val="C0309A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73" y="1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824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73" y="8829824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7840" cy="4648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t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3" y="0"/>
            <a:ext cx="3037840" cy="4648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t" anchorCtr="0" compatLnSpc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1" y="4415792"/>
            <a:ext cx="5140960" cy="41833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1581"/>
            <a:ext cx="3037840" cy="4648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b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3" y="8831581"/>
            <a:ext cx="3037840" cy="4648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b" anchorCtr="0" compatLnSpc="1"/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119888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12192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12192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12192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vmlDrawing" Target="../drawings/vmlDrawing1.vml"/><Relationship Id="rId16" Type="http://schemas.openxmlformats.org/officeDocument/2006/relationships/image" Target="../media/image2.emf"/><Relationship Id="rId15" Type="http://schemas.openxmlformats.org/officeDocument/2006/relationships/oleObject" Target="../embeddings/oleObject1.bin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0" y="6117455"/>
          <a:ext cx="12191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CorelDRAW" r:id="rId15" imgW="9529445" imgH="654685" progId="">
                  <p:embed/>
                </p:oleObj>
              </mc:Choice>
              <mc:Fallback>
                <p:oleObj name="CorelDRAW" r:id="rId15" imgW="9529445" imgH="654685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117455"/>
                        <a:ext cx="12191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121920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fld id="{8AFEF79D-0508-431A-9382-43A6F8BABA35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98120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3000" b="1">
                <a:solidFill>
                  <a:schemeClr val="bg1"/>
                </a:solidFill>
                <a:latin typeface="Times New Roman" panose="02020503050405090304"/>
                <a:cs typeface="Times New Roman" panose="02020503050405090304"/>
              </a:rPr>
              <a:t>Proactive Fault Tolerance in Fog Computing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30480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 sz="1800" b="0">
                <a:latin typeface="Aptos"/>
              </a:defRPr>
            </a:pPr>
            <a:r>
              <a:rPr lang="en-US" sz="3200" b="1">
                <a:solidFill>
                  <a:srgbClr val="0066CC"/>
                </a:solidFill>
                <a:latin typeface="Times New Roman" panose="02020503050405090304"/>
                <a:cs typeface="Times New Roman" panose="02020503050405090304"/>
              </a:rPr>
              <a:t>Literature Survey</a:t>
            </a:r>
            <a:endParaRPr lang="en-US" sz="3200" b="1">
              <a:solidFill>
                <a:srgbClr val="0066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1800" b="1"/>
              <a:t>Paper 1: Dynamic Fault Tolerance Aware Scheduling for Healthcare System on Fog Computing</a:t>
            </a:r>
            <a:br>
              <a:rPr lang="en-US" sz="1800" b="1"/>
            </a:br>
            <a:r>
              <a:rPr lang="en-US" sz="1800" b="1">
                <a:solidFill>
                  <a:schemeClr val="bg1"/>
                </a:solidFill>
              </a:rPr>
              <a:t>Journal</a:t>
            </a:r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Iraqi Journal of Science (2021)</a:t>
            </a:r>
            <a:endParaRPr lang="en-US" sz="1800">
              <a:solidFill>
                <a:schemeClr val="bg1"/>
              </a:solidFill>
              <a:ea typeface="Verdana" panose="020B0804030504040204"/>
            </a:endParaRPr>
          </a:p>
          <a:p>
            <a:pPr algn="ctr"/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2093-Article+Text-32231-35264-10-20210129.pdf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738850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Problem:</a:t>
            </a:r>
            <a:endParaRPr lang="en-US" sz="1800" dirty="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This paper proposes a </a:t>
            </a:r>
            <a:r>
              <a:rPr lang="en-US" sz="1800" b="1">
                <a:ea typeface="+mn-lt"/>
                <a:cs typeface="+mn-lt"/>
              </a:rPr>
              <a:t>Dynamic Fault Tolerance Aware Scheduling</a:t>
            </a:r>
            <a:r>
              <a:rPr lang="en-US" sz="1800">
                <a:ea typeface="+mn-lt"/>
                <a:cs typeface="+mn-lt"/>
              </a:rPr>
              <a:t> approach for healthcare applications in fog computing. It combines </a:t>
            </a:r>
            <a:r>
              <a:rPr lang="en-US" sz="1800" b="1">
                <a:ea typeface="+mn-lt"/>
                <a:cs typeface="+mn-lt"/>
              </a:rPr>
              <a:t>Dynamic Weighted Round Robin (DWRR)</a:t>
            </a:r>
            <a:r>
              <a:rPr lang="en-US" sz="1800">
                <a:ea typeface="+mn-lt"/>
                <a:cs typeface="+mn-lt"/>
              </a:rPr>
              <a:t> scheduling, </a:t>
            </a:r>
            <a:r>
              <a:rPr lang="en-US" sz="1800" b="1">
                <a:ea typeface="+mn-lt"/>
                <a:cs typeface="+mn-lt"/>
              </a:rPr>
              <a:t>Primary-Backup Replication</a:t>
            </a:r>
            <a:r>
              <a:rPr lang="en-US" sz="1800">
                <a:ea typeface="+mn-lt"/>
                <a:cs typeface="+mn-lt"/>
              </a:rPr>
              <a:t>, and </a:t>
            </a:r>
            <a:r>
              <a:rPr lang="en-US" sz="1800" b="1">
                <a:ea typeface="+mn-lt"/>
                <a:cs typeface="+mn-lt"/>
              </a:rPr>
              <a:t>Dynamic Checkpointing</a:t>
            </a:r>
            <a:r>
              <a:rPr lang="en-US" sz="1800">
                <a:ea typeface="+mn-lt"/>
                <a:cs typeface="+mn-lt"/>
              </a:rPr>
              <a:t> to ensure reliable task execution. </a:t>
            </a:r>
            <a:endParaRPr lang="en-US" sz="1800" dirty="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proposed system: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Distributes tasks based on CPU and memory utilization.</a:t>
            </a:r>
            <a:endParaRPr lang="en-US" sz="18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Maintains backup copies of critical tasks.</a:t>
            </a:r>
            <a:endParaRPr lang="en-US" sz="18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Creates checkpoints only when needed.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Allows backup servers to continue execution if the primary server fails.</a:t>
            </a:r>
            <a:endParaRPr lang="en-US" sz="1800">
              <a:ea typeface="+mn-lt"/>
              <a:cs typeface="+mn-lt"/>
            </a:endParaRPr>
          </a:p>
          <a:p>
            <a:pPr indent="0" algn="just">
              <a:buNone/>
              <a:defRPr sz="1800" b="0">
                <a:latin typeface="Aptos"/>
              </a:defRPr>
            </a:pPr>
            <a:r>
              <a:rPr lang="en-US" sz="1800" b="1">
                <a:ea typeface="+mn-lt"/>
                <a:cs typeface="+mn-lt"/>
              </a:rPr>
              <a:t>Key Contribution: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Intelligent task scheduling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Dynamic checkpointing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Primary-backup replication</a:t>
            </a:r>
            <a:endParaRPr lang="en-US" sz="1800" dirty="0">
              <a:ea typeface="Verdana" panose="020B0804030504040204"/>
            </a:endParaRPr>
          </a:p>
          <a:p>
            <a:pPr marL="0" indent="0" algn="just">
              <a:defRPr sz="1800" b="0">
                <a:latin typeface="Aptos"/>
              </a:defRPr>
            </a:pPr>
            <a:endParaRPr lang="en-US" sz="1800" dirty="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Algorithm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297366" y="1217341"/>
            <a:ext cx="553844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400" b="1"/>
              <a:t>Step 1: Receive IoT Tasks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Patient sensors continuously generate healthcare data (ECG, heart rate, temperature, etc.).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data is sent to the Fog Scheduler.</a:t>
            </a:r>
            <a:endParaRPr lang="en-US" sz="1400">
              <a:ea typeface="+mn-lt"/>
              <a:cs typeface="+mn-lt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2: Dynamic Weighted Round Robin (DWRR) Scheduling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scheduler checks the </a:t>
            </a:r>
            <a:r>
              <a:rPr lang="en-US" sz="1400" b="1">
                <a:ea typeface="+mn-lt"/>
                <a:cs typeface="+mn-lt"/>
              </a:rPr>
              <a:t>CPU</a:t>
            </a:r>
            <a:r>
              <a:rPr lang="en-US" sz="1400">
                <a:ea typeface="+mn-lt"/>
                <a:cs typeface="+mn-lt"/>
              </a:rPr>
              <a:t> and </a:t>
            </a:r>
            <a:r>
              <a:rPr lang="en-US" sz="1400" b="1">
                <a:ea typeface="+mn-lt"/>
                <a:cs typeface="+mn-lt"/>
              </a:rPr>
              <a:t>memory utilization</a:t>
            </a:r>
            <a:r>
              <a:rPr lang="en-US" sz="1400">
                <a:ea typeface="+mn-lt"/>
                <a:cs typeface="+mn-lt"/>
              </a:rPr>
              <a:t> of all available fog servers.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A weight is assigned to each server based on its current load.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Verdana" panose="020B0804030504040204"/>
              </a:rPr>
              <a:t>The task is allocated to the fog server with the most suitable (highest) weight.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3: Task Execution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selected </a:t>
            </a:r>
            <a:r>
              <a:rPr lang="en-US" sz="1400" b="1">
                <a:ea typeface="+mn-lt"/>
                <a:cs typeface="+mn-lt"/>
              </a:rPr>
              <a:t>Primary Fog Server</a:t>
            </a:r>
            <a:r>
              <a:rPr lang="en-US" sz="1400">
                <a:ea typeface="+mn-lt"/>
                <a:cs typeface="+mn-lt"/>
              </a:rPr>
              <a:t> begins processing the healthcare task.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4: Dynamic Checkpointing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During execution, the system continuously monitors CPU utilization.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If </a:t>
            </a:r>
            <a:r>
              <a:rPr lang="en-US" sz="1400" b="1">
                <a:ea typeface="+mn-lt"/>
                <a:cs typeface="+mn-lt"/>
              </a:rPr>
              <a:t>CPU utilization &gt; 20%</a:t>
            </a:r>
            <a:r>
              <a:rPr lang="en-US" sz="1400">
                <a:ea typeface="+mn-lt"/>
                <a:cs typeface="+mn-lt"/>
              </a:rPr>
              <a:t>, a checkpoint is created.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checkpoint stores the current execution state so processing can resume later if needed.</a:t>
            </a:r>
            <a:endParaRPr lang="en-US" sz="1400">
              <a:ea typeface="Verdana" panose="020B0804030504040204"/>
            </a:endParaRPr>
          </a:p>
        </p:txBody>
      </p:sp>
      <p:sp>
        <p:nvSpPr>
          <p:cNvPr id="3" name="Content Placeholder 2"/>
          <p:cNvSpPr txBox="1"/>
          <p:nvPr/>
        </p:nvSpPr>
        <p:spPr bwMode="auto">
          <a:xfrm>
            <a:off x="6356195" y="1217340"/>
            <a:ext cx="553844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400" b="1">
                <a:ea typeface="Verdana" panose="020B0804030504040204"/>
              </a:rPr>
              <a:t>Step 5: Primary-Backup Replication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Verdana" panose="020B0804030504040204"/>
              </a:rPr>
              <a:t>Every newly created checkpoint is replicated to a designated </a:t>
            </a:r>
            <a:r>
              <a:rPr lang="en-US" sz="1400" b="1">
                <a:ea typeface="Verdana" panose="020B0804030504040204"/>
              </a:rPr>
              <a:t>Backup Fog Server</a:t>
            </a:r>
            <a:r>
              <a:rPr lang="en-US" sz="1400">
                <a:ea typeface="Verdana" panose="020B0804030504040204"/>
              </a:rPr>
              <a:t>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Verdana" panose="020B0804030504040204"/>
              </a:rPr>
              <a:t>The backup server remains synchronized with the primary server.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ea typeface="Verdana" panose="020B0804030504040204"/>
              </a:rPr>
              <a:t>Step 6: Failure Detection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Verdana" panose="020B0804030504040204"/>
              </a:rPr>
              <a:t>The system continuously checks whether the primary fog server is functioning normally.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ea typeface="Verdana" panose="020B0804030504040204"/>
              </a:rPr>
              <a:t>Step 7: Fault Recovery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Verdana" panose="020B0804030504040204"/>
              </a:rPr>
              <a:t>If the primary server fails:</a:t>
            </a:r>
            <a:endParaRPr lang="en-US" sz="1400">
              <a:ea typeface="Verdana" panose="020B0804030504040204"/>
            </a:endParaRPr>
          </a:p>
          <a:p>
            <a:pPr lvl="1" algn="just">
              <a:defRPr sz="1600">
                <a:latin typeface="Aptos"/>
              </a:defRPr>
            </a:pPr>
            <a:r>
              <a:rPr lang="en-US" sz="1400">
                <a:ea typeface="Verdana" panose="020B0804030504040204"/>
              </a:rPr>
              <a:t>The backup server immediately takes over.</a:t>
            </a:r>
            <a:endParaRPr lang="en-US" sz="1400">
              <a:ea typeface="Verdana" panose="020B0804030504040204"/>
            </a:endParaRPr>
          </a:p>
          <a:p>
            <a:pPr lvl="1" algn="just">
              <a:defRPr sz="1600">
                <a:latin typeface="Aptos"/>
              </a:defRPr>
            </a:pPr>
            <a:r>
              <a:rPr lang="en-US" sz="1400">
                <a:ea typeface="Verdana" panose="020B0804030504040204"/>
              </a:rPr>
              <a:t>Execution resumes from the </a:t>
            </a:r>
            <a:r>
              <a:rPr lang="en-US" sz="1400" b="1">
                <a:ea typeface="Verdana" panose="020B0804030504040204"/>
              </a:rPr>
              <a:t>latest checkpoint</a:t>
            </a:r>
            <a:r>
              <a:rPr lang="en-US" sz="1400">
                <a:ea typeface="Verdana" panose="020B0804030504040204"/>
              </a:rPr>
              <a:t> instead of restarting from the beginning.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ea typeface="Verdana" panose="020B0804030504040204"/>
              </a:rPr>
              <a:t>Step 8: Continue Processing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Verdana" panose="020B0804030504040204"/>
              </a:rPr>
              <a:t>The task completes successfully.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Verdana" panose="020B0804030504040204"/>
              </a:rPr>
              <a:t>Final results are delivered to the healthcare application and, if required, forwarded to the cloud for long-term storage.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endParaRPr lang="en-US" sz="1400">
              <a:ea typeface="Verdana" panose="020B0804030504040204"/>
            </a:endParaRPr>
          </a:p>
          <a:p>
            <a:pPr marL="0" indent="0" algn="just">
              <a:defRPr sz="1800" b="0">
                <a:latin typeface="Aptos"/>
              </a:defRPr>
            </a:pPr>
            <a:endParaRPr lang="en-US" sz="140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Techniques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234670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DWRR (Dynamic Weighted Round Robin)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Distributes incoming tasks among fog servers based on their current CPU and memory utilization, ensuring balanced workload and preventing server overload.</a:t>
            </a:r>
            <a:endParaRPr lang="en-US" sz="18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This improves throughput (up to 3290 requests/sec in the paper) and reduces response time by avoiding overloaded servers.</a:t>
            </a:r>
            <a:endParaRPr lang="en-US" sz="1800"/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800" b="1"/>
              <a:t>Primary–Backup Replication</a:t>
            </a:r>
            <a:endParaRPr lang="en-US" sz="18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Each primary fog server has a backup server that stores replicated task information. If the primary server fails, the backup immediately continues execution.</a:t>
            </a:r>
            <a:endParaRPr lang="en-US" sz="18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This minimizes service interruption and increases system reliability for critical healthcare applications.</a:t>
            </a:r>
            <a:endParaRPr lang="en-US" sz="18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800" b="1"/>
              <a:t>Dynamic Checkpointing</a:t>
            </a:r>
            <a:endParaRPr lang="en-US" sz="18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Instead of saving task progress at fixed intervals, checkpoints are created only when CPU usage exceeds a threshold (CPU &gt; 0.2).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This reduces unnecessary checkpoint overhead while ensuring faster recovery during server failures.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endParaRPr lang="en-US" sz="1800" dirty="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Methodology</a:t>
            </a:r>
            <a:endParaRPr lang="en-US" sz="2800">
              <a:ea typeface="Verdana" panose="020B080403050404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t="5091"/>
          <a:stretch>
            <a:fillRect/>
          </a:stretch>
        </p:blipFill>
        <p:spPr>
          <a:xfrm>
            <a:off x="842210" y="1256514"/>
            <a:ext cx="10221113" cy="48503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Drawbacks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1. Fixed Threshold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CPU threshold is fixed at </a:t>
            </a:r>
            <a:r>
              <a:rPr lang="en-US" sz="1800" b="1">
                <a:ea typeface="+mn-lt"/>
                <a:cs typeface="+mn-lt"/>
              </a:rPr>
              <a:t>20%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Different workloads might require different thresholds.</a:t>
            </a:r>
            <a:endParaRPr lang="en-US" sz="1800">
              <a:ea typeface="+mn-lt"/>
              <a:cs typeface="+mn-lt"/>
            </a:endParaRPr>
          </a:p>
          <a:p>
            <a:pPr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>
              <a:buNone/>
              <a:defRPr sz="1800" b="0">
                <a:latin typeface="Aptos"/>
              </a:defRPr>
            </a:pPr>
            <a:r>
              <a:rPr lang="en-US" sz="1800" b="1"/>
              <a:t>2. Extra Storage</a:t>
            </a:r>
            <a:endParaRPr lang="en-US" sz="1800">
              <a:ea typeface="Verdana" panose="020B0804030504040204"/>
            </a:endParaRPr>
          </a:p>
          <a:p>
            <a:pPr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backup server stores replicated checkpoints.</a:t>
            </a:r>
            <a:endParaRPr lang="en-US" sz="1800">
              <a:ea typeface="Verdana" panose="020B0804030504040204"/>
            </a:endParaRPr>
          </a:p>
          <a:p>
            <a:pPr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This increases storage requirements.</a:t>
            </a:r>
            <a:endParaRPr lang="en-US" sz="1800">
              <a:ea typeface="Verdana" panose="020B0804030504040204"/>
            </a:endParaRPr>
          </a:p>
          <a:p>
            <a:pPr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>
              <a:buNone/>
              <a:defRPr sz="1800" b="0">
                <a:latin typeface="Aptos"/>
              </a:defRPr>
            </a:pPr>
            <a:r>
              <a:rPr lang="en-US" sz="1800" b="1"/>
              <a:t>3. Only Healthcare Tested</a:t>
            </a:r>
            <a:endParaRPr lang="en-US" sz="1800">
              <a:ea typeface="Verdana" panose="020B0804030504040204"/>
            </a:endParaRPr>
          </a:p>
          <a:p>
            <a:pPr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experiments focus on a healthcare scenario.</a:t>
            </a:r>
            <a:endParaRPr lang="en-US" sz="1800">
              <a:ea typeface="Verdana" panose="020B0804030504040204"/>
            </a:endParaRPr>
          </a:p>
          <a:p>
            <a:pPr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Performance for other IoT applications (e.g., smart cities, industrial IoT) is not evaluated.</a:t>
            </a:r>
            <a:endParaRPr lang="en-US" sz="1800">
              <a:ea typeface="Verdana" panose="020B0804030504040204"/>
            </a:endParaRPr>
          </a:p>
          <a:p>
            <a:pPr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>
              <a:buNone/>
              <a:defRPr sz="1800" b="0">
                <a:latin typeface="Aptos"/>
              </a:defRPr>
            </a:pPr>
            <a:r>
              <a:rPr lang="en-US" sz="1800" b="1"/>
              <a:t>4. No Failure Prediction</a:t>
            </a:r>
            <a:endParaRPr lang="en-US" sz="1800">
              <a:ea typeface="Verdana" panose="020B0804030504040204"/>
            </a:endParaRPr>
          </a:p>
          <a:p>
            <a:pPr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system reacts when conditions reach the threshold or when a failure occurs.</a:t>
            </a:r>
            <a:endParaRPr lang="en-US" sz="1800">
              <a:ea typeface="Verdana" panose="020B0804030504040204"/>
            </a:endParaRPr>
          </a:p>
          <a:p>
            <a:pPr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It does </a:t>
            </a:r>
            <a:r>
              <a:rPr lang="en-US" sz="1800" b="1">
                <a:ea typeface="+mn-lt"/>
                <a:cs typeface="+mn-lt"/>
              </a:rPr>
              <a:t>not</a:t>
            </a:r>
            <a:r>
              <a:rPr lang="en-US" sz="1800">
                <a:ea typeface="+mn-lt"/>
                <a:cs typeface="+mn-lt"/>
              </a:rPr>
              <a:t> use AI or machine learning to predict failures before they happen.</a:t>
            </a:r>
            <a:endParaRPr lang="en-US" sz="1800">
              <a:ea typeface="Verdana" panose="020B0804030504040204"/>
            </a:endParaRPr>
          </a:p>
          <a:p>
            <a:pPr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br>
              <a:rPr lang="en-US" sz="1800" b="1"/>
            </a:br>
            <a:r>
              <a:rPr lang="en-US" sz="1800" b="1"/>
              <a:t>Paper 2: QoS Aware and Fault Tolerance Based Software-Defined Vehicular Networks Using Cloud-Fog Computing</a:t>
            </a:r>
            <a:endParaRPr lang="en-US" sz="1800">
              <a:ea typeface="Verdana" panose="020B0804030504040204"/>
            </a:endParaRPr>
          </a:p>
          <a:p>
            <a:pPr algn="ctr"/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Journal: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Sensors (2022) </a:t>
            </a:r>
            <a:endParaRPr lang="en-US" sz="1800">
              <a:solidFill>
                <a:schemeClr val="bg1"/>
              </a:solidFill>
              <a:ea typeface="Verdana" panose="020B0804030504040204"/>
            </a:endParaRPr>
          </a:p>
          <a:p>
            <a:pPr algn="ctr"/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b33ca3499970ca4152ba9af462f1cb1a9674.pdf</a:t>
            </a:r>
            <a:endParaRPr lang="en-US" sz="1800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endParaRPr lang="en-US" sz="1800">
              <a:solidFill>
                <a:schemeClr val="bg1"/>
              </a:solidFill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681556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2000" b="1"/>
              <a:t>Problem:</a:t>
            </a:r>
            <a:endParaRPr lang="en-US" sz="20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This paper proposes </a:t>
            </a:r>
            <a:r>
              <a:rPr lang="en-US" sz="2000" b="1">
                <a:ea typeface="+mn-lt"/>
                <a:cs typeface="+mn-lt"/>
              </a:rPr>
              <a:t>QAFT-SDVN (QoS Aware Fault Tolerant Software-Defined Vehicular Network)</a:t>
            </a:r>
            <a:r>
              <a:rPr lang="en-US" sz="2000">
                <a:ea typeface="+mn-lt"/>
                <a:cs typeface="+mn-lt"/>
              </a:rPr>
              <a:t>, which integrates </a:t>
            </a:r>
            <a:r>
              <a:rPr lang="en-US" sz="2000" b="1">
                <a:ea typeface="+mn-lt"/>
                <a:cs typeface="+mn-lt"/>
              </a:rPr>
              <a:t>Software-Defined Networking (SDN)</a:t>
            </a:r>
            <a:r>
              <a:rPr lang="en-US" sz="2000">
                <a:ea typeface="+mn-lt"/>
                <a:cs typeface="+mn-lt"/>
              </a:rPr>
              <a:t>, </a:t>
            </a:r>
            <a:r>
              <a:rPr lang="en-US" sz="2000" b="1">
                <a:ea typeface="+mn-lt"/>
                <a:cs typeface="+mn-lt"/>
              </a:rPr>
              <a:t>Fog Computing</a:t>
            </a:r>
            <a:r>
              <a:rPr lang="en-US" sz="2000">
                <a:ea typeface="+mn-lt"/>
                <a:cs typeface="+mn-lt"/>
              </a:rPr>
              <a:t>, and </a:t>
            </a:r>
            <a:r>
              <a:rPr lang="en-US" sz="2000" b="1">
                <a:ea typeface="+mn-lt"/>
                <a:cs typeface="+mn-lt"/>
              </a:rPr>
              <a:t>Quality of Service (QoS)</a:t>
            </a:r>
            <a:r>
              <a:rPr lang="en-US" sz="2000">
                <a:ea typeface="+mn-lt"/>
                <a:cs typeface="+mn-lt"/>
              </a:rPr>
              <a:t> to provide reliable communication in vehicular networks.</a:t>
            </a:r>
            <a:endParaRPr lang="en-US" sz="2000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The proposed system: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Prioritizes safety-critical messages using QoS.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Processes urgent messages at nearby fog nodes to reduce latency.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Uses </a:t>
            </a:r>
            <a:r>
              <a:rPr lang="en-US" sz="2000" b="1">
                <a:ea typeface="+mn-lt"/>
                <a:cs typeface="+mn-lt"/>
              </a:rPr>
              <a:t>ACK-based retransmission</a:t>
            </a:r>
            <a:r>
              <a:rPr lang="en-US" sz="2000">
                <a:ea typeface="+mn-lt"/>
                <a:cs typeface="+mn-lt"/>
              </a:rPr>
              <a:t> to ensure reliable message delivery.</a:t>
            </a:r>
            <a:endParaRPr lang="en-US" sz="2000">
              <a:ea typeface="+mn-lt"/>
              <a:cs typeface="+mn-lt"/>
            </a:endParaRPr>
          </a:p>
          <a:p>
            <a:pPr indent="0" algn="just">
              <a:buNone/>
              <a:defRPr sz="1800" b="0">
                <a:latin typeface="Aptos"/>
              </a:defRPr>
            </a:pPr>
            <a:r>
              <a:rPr lang="en-US" sz="2000" b="1">
                <a:ea typeface="+mn-lt"/>
                <a:cs typeface="+mn-lt"/>
              </a:rPr>
              <a:t>Key Contribution: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SDN-based intelligent routing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QoS-aware message prioritization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Reliable communication through ACK retransmission</a:t>
            </a:r>
            <a:endParaRPr lang="en-US" sz="2000">
              <a:ea typeface="Verdana" panose="020B0804030504040204"/>
            </a:endParaRPr>
          </a:p>
          <a:p>
            <a:pPr marL="0" indent="0" algn="just">
              <a:defRPr sz="1800" b="0">
                <a:latin typeface="Aptos"/>
              </a:defRPr>
            </a:pPr>
            <a:endParaRPr lang="en-US" sz="200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Algorithm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149196" y="1085708"/>
            <a:ext cx="11926912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600" b="1"/>
              <a:t>Algorithm 1: Priority-Based Message Scheduling</a:t>
            </a:r>
            <a:endParaRPr lang="en-US" sz="1600" dirty="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600" b="1"/>
              <a:t>Step 1: Generate Message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A vehicle generates a message (e.g., accident alert, traffic update, navigation request).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2: Send to SDN Node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The message is forwarded to the nearest </a:t>
            </a:r>
            <a:r>
              <a:rPr lang="en-US" sz="1600" b="1">
                <a:ea typeface="+mn-lt"/>
                <a:cs typeface="+mn-lt"/>
              </a:rPr>
              <a:t>Road-Side Unit (RSU)/SDN Node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3: Forward to SDN Controller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The SDN Controller receives the message and makes centralized routing decisions.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4: Classify the Message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The controller determines: </a:t>
            </a:r>
            <a:r>
              <a:rPr lang="en-US" sz="1600" b="1">
                <a:ea typeface="+mn-lt"/>
                <a:cs typeface="+mn-lt"/>
              </a:rPr>
              <a:t>Message Type</a:t>
            </a:r>
            <a:r>
              <a:rPr lang="en-US" sz="1600">
                <a:ea typeface="+mn-lt"/>
                <a:cs typeface="+mn-lt"/>
              </a:rPr>
              <a:t> (Safety or Non-Safety), </a:t>
            </a:r>
            <a:r>
              <a:rPr lang="en-US" sz="1600" b="1">
                <a:ea typeface="+mn-lt"/>
                <a:cs typeface="+mn-lt"/>
              </a:rPr>
              <a:t>Deadline &amp; Message Size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5: Assign Priority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Priority is assigned based on: </a:t>
            </a:r>
            <a:r>
              <a:rPr lang="en-US" sz="1600" b="1">
                <a:ea typeface="+mn-lt"/>
                <a:cs typeface="+mn-lt"/>
              </a:rPr>
              <a:t>Nature of the message (Highest Priority), </a:t>
            </a:r>
            <a:r>
              <a:rPr lang="en-US" sz="1600">
                <a:ea typeface="+mn-lt"/>
                <a:cs typeface="+mn-lt"/>
              </a:rPr>
              <a:t>Deadline, Message size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Ambulance Alert → Very High Priority, Entertainment Data → Low Priority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6: Schedule the Message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 b="1">
                <a:ea typeface="+mn-lt"/>
                <a:cs typeface="+mn-lt"/>
              </a:rPr>
              <a:t>Safety messages</a:t>
            </a:r>
            <a:r>
              <a:rPr lang="en-US" sz="1600">
                <a:ea typeface="+mn-lt"/>
                <a:cs typeface="+mn-lt"/>
              </a:rPr>
              <a:t> are immediately forwarded to the nearest fog node.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 b="1">
                <a:ea typeface="+mn-lt"/>
                <a:cs typeface="+mn-lt"/>
              </a:rPr>
              <a:t>Non-safety messages</a:t>
            </a:r>
            <a:r>
              <a:rPr lang="en-US" sz="1600">
                <a:ea typeface="+mn-lt"/>
                <a:cs typeface="+mn-lt"/>
              </a:rPr>
              <a:t> are placed in a lower-priority queue.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7: Process the Message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The selected fog node processes the message.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The processed message is delivered to the destination vehicle.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defRPr sz="1800" b="0">
                <a:latin typeface="Aptos"/>
              </a:defRPr>
            </a:pPr>
            <a:endParaRPr lang="en-US" sz="1600" dirty="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Algorithm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177842" y="1143000"/>
            <a:ext cx="9961756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600" b="1"/>
              <a:t>Algorithm 2: ACK-Based Fault Tolerance</a:t>
            </a:r>
            <a:endParaRPr lang="en-US" sz="1600" dirty="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600" b="1"/>
              <a:t>Step 1: Send Message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The processed message is transmitted to the destination vehicle.</a:t>
            </a:r>
            <a:endParaRPr lang="en-US" sz="1600">
              <a:ea typeface="+mn-lt"/>
              <a:cs typeface="+mn-lt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2: Wait for ACK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The sender waits for an </a:t>
            </a:r>
            <a:r>
              <a:rPr lang="en-US" sz="1600" b="1">
                <a:ea typeface="+mn-lt"/>
                <a:cs typeface="+mn-lt"/>
              </a:rPr>
              <a:t>Acknowledgement (ACK)</a:t>
            </a:r>
            <a:r>
              <a:rPr lang="en-US" sz="1600">
                <a:ea typeface="+mn-lt"/>
                <a:cs typeface="+mn-lt"/>
              </a:rPr>
              <a:t> from the receiver.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3: Verify Delivery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If the ACK is received, the message has been delivered successfully.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If no ACK is received within the expected time, the system assumes the message was lost.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4: Retransmit Message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The sender retransmits the message.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600" b="1"/>
              <a:t>Step 5: Repeat Until Successful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The process continues until an ACK is received.</a:t>
            </a:r>
            <a:endParaRPr lang="en-US" sz="16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600">
                <a:ea typeface="+mn-lt"/>
                <a:cs typeface="+mn-lt"/>
              </a:rPr>
              <a:t>This ensures reliable message delivery despite network or communication failures.</a:t>
            </a:r>
            <a:endParaRPr lang="en-US" sz="16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endParaRPr lang="en-US" sz="1600" dirty="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Techniques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2000" b="1"/>
              <a:t>Software Defined Networking (SDN)</a:t>
            </a:r>
            <a:endParaRPr lang="en-US" sz="20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Uses a centralized controller to intelligently manage network traffic and prioritize safety-critical vehicle messages over non-critical ones.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This reduces response time by nearly 50% and improves Quality of Service (QoS) for vehicular communication.</a:t>
            </a:r>
            <a:endParaRPr lang="en-US" sz="2000"/>
          </a:p>
          <a:p>
            <a:pPr marL="0" indent="0" algn="just">
              <a:buNone/>
              <a:defRPr sz="1800" b="0">
                <a:latin typeface="Aptos"/>
              </a:defRPr>
            </a:pPr>
            <a:endParaRPr lang="en-US" sz="2000" b="1" dirty="0"/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2000" b="1"/>
              <a:t>ACK-based Retransmission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After sending a message, the system waits for an acknowledgement (ACK). If no ACK is received, the message is automatically retransmitted to ensure reliable delivery.</a:t>
            </a:r>
            <a:endParaRPr lang="en-US" sz="20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This significantly reduces the message/task failure ratio and improves communication reliability.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endParaRPr lang="en-US" sz="2000" dirty="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Methodology</a:t>
            </a:r>
            <a:endParaRPr lang="en-US" sz="2800">
              <a:ea typeface="Verdana" panose="020B080403050404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460" t="21864" r="-403" b="19217"/>
          <a:stretch>
            <a:fillRect/>
          </a:stretch>
        </p:blipFill>
        <p:spPr>
          <a:xfrm>
            <a:off x="322146" y="1712951"/>
            <a:ext cx="11560112" cy="34073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Drawbacks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1. No Prediction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system </a:t>
            </a:r>
            <a:r>
              <a:rPr lang="en-US" sz="1800" b="1">
                <a:ea typeface="+mn-lt"/>
                <a:cs typeface="+mn-lt"/>
              </a:rPr>
              <a:t>does not predict failures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It only reacts after a message is lost.</a:t>
            </a:r>
            <a:endParaRPr lang="en-US" sz="1800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2. Extra Communication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ACK packets and retransmissions increase network traffic.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3. Limited Domain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work is designed specifically for </a:t>
            </a:r>
            <a:r>
              <a:rPr lang="en-US" sz="1800" b="1">
                <a:ea typeface="+mn-lt"/>
                <a:cs typeface="+mn-lt"/>
              </a:rPr>
              <a:t>vehicular networks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It may need modifications for healthcare, smart homes, or industrial IoT.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4. Simple Recovery Strategy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If a message is lost, the only recovery action is retransmission.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There is no backup execution, checkpointing, or replica management.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br>
              <a:rPr lang="en-US" sz="1800" b="1"/>
            </a:br>
            <a:r>
              <a:rPr lang="en-US" sz="1800" b="1"/>
              <a:t>Paper 3: Fault Tolerance Mechanism for Software Application Through Fog Computing as Middleware</a:t>
            </a:r>
            <a:endParaRPr lang="en-US" sz="1800">
              <a:ea typeface="Verdana" panose="020B0804030504040204"/>
            </a:endParaRPr>
          </a:p>
          <a:p>
            <a:pPr algn="ctr"/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Journal: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International Journal of Computing and Digital Systems (2016)</a:t>
            </a:r>
            <a:endParaRPr lang="en-US" sz="1800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b76d44b6ebca4db2fa8529aadae3d438878d.pdf</a:t>
            </a:r>
            <a:endParaRPr lang="en-US" sz="1800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endParaRPr lang="en-US" sz="1800" b="1">
              <a:solidFill>
                <a:srgbClr val="000000"/>
              </a:solidFill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767496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2000" b="1"/>
              <a:t>Problem:</a:t>
            </a:r>
            <a:endParaRPr lang="en-US" sz="20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This paper proposes a </a:t>
            </a:r>
            <a:r>
              <a:rPr lang="en-US" sz="2000" b="1">
                <a:ea typeface="+mn-lt"/>
                <a:cs typeface="+mn-lt"/>
              </a:rPr>
              <a:t>Fog Middleware-based fault tolerance mechanism</a:t>
            </a:r>
            <a:r>
              <a:rPr lang="en-US" sz="2000">
                <a:ea typeface="+mn-lt"/>
                <a:cs typeface="+mn-lt"/>
              </a:rPr>
              <a:t> to improve the availability of applications running on local servers. </a:t>
            </a:r>
            <a:endParaRPr lang="en-US" sz="20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Instead of allowing users to communicate directly with the server, a </a:t>
            </a:r>
            <a:r>
              <a:rPr lang="en-US" sz="2000" b="1">
                <a:ea typeface="+mn-lt"/>
                <a:cs typeface="+mn-lt"/>
              </a:rPr>
              <a:t>Fog Middleware</a:t>
            </a:r>
            <a:r>
              <a:rPr lang="en-US" sz="2000">
                <a:ea typeface="+mn-lt"/>
                <a:cs typeface="+mn-lt"/>
              </a:rPr>
              <a:t> is placed between users and servers to: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Continuously monitor server health using </a:t>
            </a:r>
            <a:r>
              <a:rPr lang="en-US" sz="2000" b="1">
                <a:ea typeface="+mn-lt"/>
                <a:cs typeface="+mn-lt"/>
              </a:rPr>
              <a:t>heartbeat messages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Maintain a </a:t>
            </a:r>
            <a:r>
              <a:rPr lang="en-US" sz="2000" b="1">
                <a:ea typeface="+mn-lt"/>
                <a:cs typeface="+mn-lt"/>
              </a:rPr>
              <a:t>replicated backup server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Automatically switch users to the backup server if the primary server fails.</a:t>
            </a:r>
            <a:endParaRPr lang="en-US" sz="2000">
              <a:ea typeface="+mn-lt"/>
              <a:cs typeface="+mn-lt"/>
            </a:endParaRPr>
          </a:p>
          <a:p>
            <a:pPr indent="0" algn="just">
              <a:buNone/>
              <a:defRPr sz="1800" b="0">
                <a:latin typeface="Aptos"/>
              </a:defRPr>
            </a:pPr>
            <a:r>
              <a:rPr lang="en-US" sz="2000" b="1">
                <a:ea typeface="+mn-lt"/>
                <a:cs typeface="+mn-lt"/>
              </a:rPr>
              <a:t>Key Contribution: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Middleware-based fault tolerance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Heartbeat failure detection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Service replication</a:t>
            </a:r>
            <a:endParaRPr lang="en-US" sz="2000">
              <a:ea typeface="Verdana" panose="020B0804030504040204"/>
            </a:endParaRPr>
          </a:p>
          <a:p>
            <a:pPr marL="0" indent="0" algn="just">
              <a:defRPr sz="1800" b="0">
                <a:latin typeface="Aptos"/>
              </a:defRPr>
            </a:pPr>
            <a:endParaRPr lang="en-US" sz="200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Algorithm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400" b="1"/>
              <a:t>Step 1: User Request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A user sends a request to access the application.</a:t>
            </a:r>
            <a:endParaRPr lang="en-US" sz="14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request is first received by the </a:t>
            </a:r>
            <a:r>
              <a:rPr lang="en-US" sz="1400" b="1">
                <a:ea typeface="+mn-lt"/>
                <a:cs typeface="+mn-lt"/>
              </a:rPr>
              <a:t>Fog Middleware</a:t>
            </a:r>
            <a:r>
              <a:rPr lang="en-US" sz="1400">
                <a:ea typeface="+mn-lt"/>
                <a:cs typeface="+mn-lt"/>
              </a:rPr>
              <a:t> instead of directly reaching the server.</a:t>
            </a:r>
            <a:endParaRPr lang="en-US" sz="1400">
              <a:ea typeface="+mn-lt"/>
              <a:cs typeface="+mn-lt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2: Heartbeat Monitoring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middleware continuously sends </a:t>
            </a:r>
            <a:r>
              <a:rPr lang="en-US" sz="1400" b="1">
                <a:ea typeface="+mn-lt"/>
                <a:cs typeface="+mn-lt"/>
              </a:rPr>
              <a:t>heartbeat requests</a:t>
            </a:r>
            <a:r>
              <a:rPr lang="en-US" sz="1400">
                <a:ea typeface="+mn-lt"/>
                <a:cs typeface="+mn-lt"/>
              </a:rPr>
              <a:t> to the primary server.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primary server responds with a </a:t>
            </a:r>
            <a:r>
              <a:rPr lang="en-US" sz="1400" b="1">
                <a:ea typeface="+mn-lt"/>
                <a:cs typeface="+mn-lt"/>
              </a:rPr>
              <a:t>heartbeat message</a:t>
            </a:r>
            <a:r>
              <a:rPr lang="en-US" sz="1400">
                <a:ea typeface="+mn-lt"/>
                <a:cs typeface="+mn-lt"/>
              </a:rPr>
              <a:t> indicating it is functioning normally.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3: Server Health Verification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If heartbeat messages are received, the middleware considers the primary server healthy.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User requests continue to be forwarded to the primary server.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4: Failure Detection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If the middleware does </a:t>
            </a:r>
            <a:r>
              <a:rPr lang="en-US" sz="1400" b="1">
                <a:ea typeface="+mn-lt"/>
                <a:cs typeface="+mn-lt"/>
              </a:rPr>
              <a:t>not receive a heartbeat response</a:t>
            </a:r>
            <a:r>
              <a:rPr lang="en-US" sz="1400">
                <a:ea typeface="+mn-lt"/>
                <a:cs typeface="+mn-lt"/>
              </a:rPr>
              <a:t> within the expected time, it detects that the primary server has failed.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5: Activate Backup Service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middleware immediately activates the </a:t>
            </a:r>
            <a:r>
              <a:rPr lang="en-US" sz="1400" b="1">
                <a:ea typeface="+mn-lt"/>
                <a:cs typeface="+mn-lt"/>
              </a:rPr>
              <a:t>replicated backup server</a:t>
            </a:r>
            <a:r>
              <a:rPr lang="en-US" sz="1400">
                <a:ea typeface="+mn-lt"/>
                <a:cs typeface="+mn-lt"/>
              </a:rPr>
              <a:t>, which contains the same application and data as the primary server.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6: Automatic Failover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All incoming user requests are automatically redirected from the failed primary server to the backup server.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No manual intervention from users is required.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7: Continue Service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backup server continues processing requests, ensuring uninterrupted application availability until the primary server is repaired.</a:t>
            </a:r>
            <a:endParaRPr lang="en-US" sz="1400">
              <a:ea typeface="Verdana" panose="020B0804030504040204"/>
            </a:endParaRPr>
          </a:p>
          <a:p>
            <a:pPr marL="0" indent="0" algn="just">
              <a:defRPr sz="1800" b="0">
                <a:latin typeface="Aptos"/>
              </a:defRPr>
            </a:pPr>
            <a:endParaRPr lang="en-US" sz="140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Techniques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83105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2000" b="1"/>
              <a:t>Heartbeat Monitoring</a:t>
            </a:r>
            <a:endParaRPr lang="en-US" sz="20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The middleware continuously receives heartbeat signals from the primary server to check whether it is functioning correctly.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If heartbeat messages stop, the middleware immediately detects server failure and initiates recovery.</a:t>
            </a:r>
            <a:endParaRPr lang="en-US" sz="2000">
              <a:ea typeface="+mn-lt"/>
              <a:cs typeface="+mn-lt"/>
            </a:endParaRPr>
          </a:p>
          <a:p>
            <a:pPr indent="0" algn="just">
              <a:buNone/>
              <a:defRPr sz="1800" b="0">
                <a:latin typeface="Aptos"/>
              </a:defRPr>
            </a:pPr>
            <a:r>
              <a:rPr lang="en-US" sz="2000" b="1"/>
              <a:t>Service Replication</a:t>
            </a:r>
            <a:endParaRPr lang="en-US" sz="20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Application services and data are continuously copied from the primary server to a backup server, ensuring an up-to-date backup is always available.</a:t>
            </a:r>
            <a:endParaRPr lang="en-US" sz="20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This prevents data loss and enables the backup server to resume execution with minimal interruption.</a:t>
            </a:r>
            <a:endParaRPr lang="en-US" sz="2000" dirty="0">
              <a:ea typeface="Verdana" panose="020B0804030504040204"/>
            </a:endParaRPr>
          </a:p>
          <a:p>
            <a:pPr indent="0" algn="just">
              <a:buNone/>
              <a:defRPr sz="1800" b="0">
                <a:latin typeface="Aptos"/>
              </a:defRPr>
            </a:pPr>
            <a:r>
              <a:rPr lang="en-US" sz="2000" b="1"/>
              <a:t>Automatic Failover</a:t>
            </a:r>
            <a:endParaRPr lang="en-US" sz="20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When the primary server fails, the middleware automatically switches user requests to the backup server, allowing the application to continue with minimal downtime.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The prototype successfully recovered from 3 out of 4 simulated failure scenarios without manual intervention.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endParaRPr lang="en-US" sz="2000" dirty="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Methodology</a:t>
            </a:r>
            <a:endParaRPr lang="en-US" sz="2800">
              <a:ea typeface="Verdana" panose="020B080403050404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t="18750" b="-115"/>
          <a:stretch>
            <a:fillRect/>
          </a:stretch>
        </p:blipFill>
        <p:spPr>
          <a:xfrm>
            <a:off x="0" y="1610990"/>
            <a:ext cx="12192000" cy="44088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Drawbacks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20082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1. No Prediction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middleware waits until the server stops responding.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It cannot predict future failures.</a:t>
            </a:r>
            <a:endParaRPr lang="en-US" sz="1800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2. Single Backup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Only one backup server is considered.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If both the primary and backup fail,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system stops.</a:t>
            </a:r>
            <a:endParaRPr lang="en-US" sz="1800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3. Heartbeat Overhead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Heartbeat messages are sent continuously.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While each message is small, they consume network bandwidth and processing resources over time.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4. No Load Balancing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Unlike Paper 1, the middleware does </a:t>
            </a:r>
            <a:r>
              <a:rPr lang="en-US" sz="1800" b="1">
                <a:ea typeface="+mn-lt"/>
                <a:cs typeface="+mn-lt"/>
              </a:rPr>
              <a:t>not</a:t>
            </a:r>
            <a:r>
              <a:rPr lang="en-US" sz="1800">
                <a:ea typeface="+mn-lt"/>
                <a:cs typeface="+mn-lt"/>
              </a:rPr>
              <a:t> decide which server is less busy.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It only switches servers after a failure.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ea typeface="Verdana" panose="020B0804030504040204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1800" b="1"/>
              <a:t>Paper 4: Opportunities of IoT in Fog Computing for High Fault Tolerance and Sustainable Energy Optimization</a:t>
            </a:r>
            <a:endParaRPr lang="en-US" sz="1800">
              <a:ea typeface="Verdana" panose="020B0804030504040204"/>
            </a:endParaRPr>
          </a:p>
          <a:p>
            <a:pPr algn="ctr"/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Journal: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Sustainability (2023)</a:t>
            </a:r>
            <a:endParaRPr lang="en-US" sz="1800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sustainability-15-08702.pdf</a:t>
            </a:r>
            <a:endParaRPr lang="en-US" sz="1800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742716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2000" b="1">
                <a:ea typeface="+mn-lt"/>
                <a:cs typeface="+mn-lt"/>
              </a:rPr>
              <a:t>Problem:</a:t>
            </a:r>
            <a:endParaRPr lang="en-US" sz="2000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This paper proposes </a:t>
            </a:r>
            <a:r>
              <a:rPr lang="en-US" sz="2000" b="1">
                <a:ea typeface="+mn-lt"/>
                <a:cs typeface="+mn-lt"/>
              </a:rPr>
              <a:t>QoS-EO (Quality of Service – Energy Optimization)</a:t>
            </a:r>
            <a:r>
              <a:rPr lang="en-US" sz="2000">
                <a:ea typeface="+mn-lt"/>
                <a:cs typeface="+mn-lt"/>
              </a:rPr>
              <a:t>, a hybrid optimization approach for intelligent task placement in fog computing.</a:t>
            </a:r>
            <a:endParaRPr lang="en-US" sz="20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Instead of assigning IoT tasks randomly, it combines </a:t>
            </a:r>
            <a:r>
              <a:rPr lang="en-US" sz="2000" b="1">
                <a:ea typeface="+mn-lt"/>
                <a:cs typeface="+mn-lt"/>
              </a:rPr>
              <a:t>Particle Swarm Optimization (PSO)</a:t>
            </a:r>
            <a:r>
              <a:rPr lang="en-US" sz="2000">
                <a:ea typeface="+mn-lt"/>
                <a:cs typeface="+mn-lt"/>
              </a:rPr>
              <a:t> and </a:t>
            </a:r>
            <a:r>
              <a:rPr lang="en-US" sz="2000" b="1">
                <a:ea typeface="+mn-lt"/>
                <a:cs typeface="+mn-lt"/>
              </a:rPr>
              <a:t>Artificial Bee Colony (ABC)</a:t>
            </a:r>
            <a:r>
              <a:rPr lang="en-US" sz="2000">
                <a:ea typeface="+mn-lt"/>
                <a:cs typeface="+mn-lt"/>
              </a:rPr>
              <a:t> algorithms to: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Select the most suitable fog node for each task.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Optimize Quality of Service (QoS) and energy consumption.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Reduce node overload and improve fault tolerance through better resource allocation.</a:t>
            </a:r>
            <a:endParaRPr lang="en-US" sz="2000">
              <a:ea typeface="Verdana" panose="020B0804030504040204"/>
            </a:endParaRPr>
          </a:p>
          <a:p>
            <a:pPr indent="0" algn="just">
              <a:buNone/>
              <a:defRPr sz="1800" b="0">
                <a:latin typeface="Aptos"/>
              </a:defRPr>
            </a:pPr>
            <a:r>
              <a:rPr lang="en-US" sz="2000" b="1">
                <a:ea typeface="+mn-lt"/>
                <a:cs typeface="+mn-lt"/>
              </a:rPr>
              <a:t>Key Contribution: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Intelligent task placement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Hybrid PSO + ABC optimization</a:t>
            </a:r>
            <a:endParaRPr lang="en-US" sz="2000">
              <a:ea typeface="Verdana" panose="020B0804030504040204"/>
            </a:endParaRPr>
          </a:p>
          <a:p>
            <a:pPr marL="0" indent="0" algn="just">
              <a:defRPr sz="1800" b="0">
                <a:latin typeface="Aptos"/>
              </a:defRPr>
            </a:pPr>
            <a:endParaRPr lang="en-US" sz="200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Algorithm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148683" y="1118220"/>
            <a:ext cx="5947318" cy="49015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Algorithm: Hybrid PSO–ABC Task Placement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Step 1: Generate IoT Tasks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IoT devices (sensors, cameras, smart traffic lights, etc.) continuously generate tasks.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These tasks are sent to the Fog Layer for processing.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Step 2: Collect Fog Node Information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/>
              </a:rPr>
              <a:t>The system gathers information about all available fog nodes, </a:t>
            </a:r>
            <a:r>
              <a:rPr lang="en-US" sz="1400" err="1">
                <a:latin typeface="Verdana" panose="020B0804030504040204"/>
                <a:ea typeface="Verdana" panose="020B0804030504040204"/>
                <a:cs typeface="Times New Roman" panose="02020503050405090304"/>
              </a:rPr>
              <a:t>including: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/>
              </a:rPr>
              <a:t> CPU utilization, Available resources, Energy consumption, Network conditions, QoS parameters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Step 3: Initialize PSO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/>
              </a:rPr>
              <a:t>Each particle represents a </a:t>
            </a: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/>
              </a:rPr>
              <a:t>possible task-to-fog node assignment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/>
              </a:rPr>
              <a:t>. The particles are initialized with random task placement solutions.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Step 4: Evaluate Fitness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Each solution is evaluated using a </a:t>
            </a: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fitness function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 based on: Response time, Energy consumption, Reliability, Throughput, Execution cost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Step 5: Update Particle Positions (PSO)</a:t>
            </a:r>
            <a:endParaRPr lang="en-US" sz="14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/>
              </a:rPr>
              <a:t>Each particle updates its </a:t>
            </a: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/>
              </a:rPr>
              <a:t>velocity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/>
              </a:rPr>
              <a:t> and </a:t>
            </a: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/>
              </a:rPr>
              <a:t>position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/>
              </a:rPr>
              <a:t> using: Personal Best (</a:t>
            </a:r>
            <a:r>
              <a:rPr lang="en-US" sz="1400" err="1">
                <a:latin typeface="Verdana" panose="020B0804030504040204"/>
                <a:ea typeface="Verdana" panose="020B0804030504040204"/>
                <a:cs typeface="Times New Roman" panose="02020503050405090304"/>
              </a:rPr>
              <a:t>PBest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/>
              </a:rPr>
              <a:t>) &amp; Global Best (</a:t>
            </a:r>
            <a:r>
              <a:rPr lang="en-US" sz="1400" err="1">
                <a:latin typeface="Verdana" panose="020B0804030504040204"/>
                <a:ea typeface="Verdana" panose="020B0804030504040204"/>
                <a:cs typeface="Times New Roman" panose="02020503050405090304"/>
              </a:rPr>
              <a:t>GBest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/>
              </a:rPr>
              <a:t>)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The swarm gradually moves toward better task placement solutions.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endParaRPr lang="en-US" sz="14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</p:txBody>
      </p:sp>
      <p:sp>
        <p:nvSpPr>
          <p:cNvPr id="3" name="Content Placeholder 2"/>
          <p:cNvSpPr txBox="1"/>
          <p:nvPr/>
        </p:nvSpPr>
        <p:spPr bwMode="auto">
          <a:xfrm>
            <a:off x="6096000" y="1118219"/>
            <a:ext cx="5928733" cy="4889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/>
              </a:rPr>
              <a:t>Step 6: Improve Solution Using ABC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Worker Bees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 evaluate the quality of the selected fog nodes.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Onlooker Bees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 choose the best solutions found by worker bees.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Scout Bees</a:t>
            </a: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 search for new solutions if existing ones are not satisfactory.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Step 7: Select the Best Fog Node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The hybrid PSO-ABC algorithm selects the fog node with: Lowest energy consumption, Lowest delay, Highest reliability, Best Quality of Service (QoS)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Step 8: Execute the Task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The selected fog node executes the IoT task.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Step 9: Monitor Performance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The system continuously measures: Response Time, Turnaround Time, Throughput, Reliability, Energy Consumption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Step 10: Repeat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latin typeface="Verdana" panose="020B0804030504040204"/>
                <a:ea typeface="Verdana" panose="020B0804030504040204"/>
                <a:cs typeface="Times New Roman" panose="02020503050405090304" pitchFamily="18" charset="0"/>
              </a:rPr>
              <a:t>The optimization process repeats whenever new IoT tasks arrive, ensuring continuous resource optimization.</a:t>
            </a: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indent="0" algn="just">
              <a:defRPr sz="1800" b="0">
                <a:latin typeface="Aptos"/>
              </a:defRPr>
            </a:pP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marL="0" indent="0" algn="just">
              <a:defRPr sz="1800" b="0">
                <a:latin typeface="Aptos"/>
              </a:defRPr>
            </a:pPr>
            <a:endParaRPr lang="en-US" sz="14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Techniques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94564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2000" b="1"/>
              <a:t>FTAPA (Fault-Tolerance Aware Placement Algorithm)</a:t>
            </a:r>
            <a:endParaRPr lang="en-US" sz="20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A hybrid algorithm that combines intelligent service placement, backup selection, and proactive migration to improve reliability in fog environments.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It maintains high system reliability (&gt;0.85 in single-failure scenarios) while reducing service downtime.</a:t>
            </a:r>
            <a:endParaRPr lang="en-US" sz="2000"/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2000" b="1"/>
              <a:t>DCLB (Dynamic Connections Load Balancer)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Selects the healthiest and least-loaded fog node based on active connections, ensuring balanced resource utilization.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This prevents node overload and improves overall resource efficiency across distributed fog nodes.</a:t>
            </a:r>
            <a:endParaRPr lang="en-US" sz="2000">
              <a:ea typeface="+mn-lt"/>
              <a:cs typeface="+mn-lt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2000" b="1"/>
              <a:t>Threshold-Based Migration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Continuously monitors node health. If a node crosses a predefined fault threshold, the microservice is migrated to a backup node before failure occurs.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This proactive migration minimizes service disruption and reduces recovery time compared to reactive approaches.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endParaRPr lang="en-US" sz="2000" dirty="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Methodology</a:t>
            </a:r>
            <a:endParaRPr lang="en-US" sz="2800">
              <a:ea typeface="Verdana" panose="020B080403050404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t="17484" b="13006"/>
          <a:stretch>
            <a:fillRect/>
          </a:stretch>
        </p:blipFill>
        <p:spPr>
          <a:xfrm>
            <a:off x="0" y="1539587"/>
            <a:ext cx="12192000" cy="40391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Drawbacks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1. High Computational Complexity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Running </a:t>
            </a:r>
            <a:r>
              <a:rPr lang="en-US" sz="1800" b="1">
                <a:ea typeface="+mn-lt"/>
                <a:cs typeface="+mn-lt"/>
              </a:rPr>
              <a:t>two optimization algorithms</a:t>
            </a:r>
            <a:r>
              <a:rPr lang="en-US" sz="1800">
                <a:ea typeface="+mn-lt"/>
                <a:cs typeface="+mn-lt"/>
              </a:rPr>
              <a:t> (PSO and ABC) increases computation time.</a:t>
            </a:r>
            <a:endParaRPr lang="en-US" sz="1800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2. Parameter Sensitivity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The performance depends on selecting appropriate values for PSO parameters (such as inertia weight and learning factors) and ABC settings.</a:t>
            </a:r>
            <a:endParaRPr lang="en-US" sz="1800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3. Scalability Challenges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As the number of IoT devices grows, the optimization process can become slower due to the larger search space.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1800" b="1"/>
              <a:t>Paper 5: Optimized Fault-Tolerant Placement of Microservices in Distributed Fog Networks</a:t>
            </a:r>
            <a:endParaRPr lang="en-US" sz="1800">
              <a:ea typeface="Verdana" panose="020B0804030504040204"/>
            </a:endParaRPr>
          </a:p>
          <a:p>
            <a:pPr algn="ctr"/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Journal: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International Journal of Data Informatics and Intelligent Computing (2025)</a:t>
            </a:r>
            <a:endParaRPr lang="en-US" sz="1800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ijdiic_v4n4a5.pdf</a:t>
            </a:r>
            <a:endParaRPr lang="en-US" sz="1800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endParaRPr lang="en-US" sz="1800" b="1">
              <a:solidFill>
                <a:srgbClr val="000000"/>
              </a:solidFill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841978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2000" b="1">
                <a:ea typeface="+mn-lt"/>
                <a:cs typeface="+mn-lt"/>
              </a:rPr>
              <a:t>Problem:</a:t>
            </a:r>
            <a:endParaRPr lang="en-US" sz="2000" b="1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This paper proposes a </a:t>
            </a:r>
            <a:r>
              <a:rPr lang="en-US" sz="2000" b="1">
                <a:ea typeface="+mn-lt"/>
                <a:cs typeface="+mn-lt"/>
              </a:rPr>
              <a:t>Fault-Tolerance Aware Placement Algorithm (FTAPA)</a:t>
            </a:r>
            <a:r>
              <a:rPr lang="en-US" sz="2000">
                <a:ea typeface="+mn-lt"/>
                <a:cs typeface="+mn-lt"/>
              </a:rPr>
              <a:t> for fog computing that improves the reliability of microservice-based IoT applications.</a:t>
            </a:r>
            <a:endParaRPr lang="en-US"/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Instead of waiting for a fog node to fail, the algorithm: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Selects the healthiest and least-loaded fog node using </a:t>
            </a:r>
            <a:r>
              <a:rPr lang="en-US" sz="2000" b="1">
                <a:ea typeface="+mn-lt"/>
                <a:cs typeface="+mn-lt"/>
              </a:rPr>
              <a:t>Dynamic Connections Load Balancing (DCLB)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Deploys the microservice on the selected node.</a:t>
            </a:r>
            <a:endParaRPr lang="en-US" sz="20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Preselects a backup node for recovery.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Continuously monitors the health of the primary node.</a:t>
            </a:r>
            <a:endParaRPr lang="en-US" sz="20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2000">
                <a:ea typeface="+mn-lt"/>
                <a:cs typeface="+mn-lt"/>
              </a:rPr>
              <a:t>Proactively migrates the microservice to the backup node before a failure occurs.</a:t>
            </a:r>
            <a:endParaRPr lang="en-US" sz="2000">
              <a:ea typeface="+mn-lt"/>
              <a:cs typeface="+mn-lt"/>
            </a:endParaRPr>
          </a:p>
          <a:p>
            <a:pPr marL="0" indent="0" algn="just">
              <a:defRPr sz="1800" b="0">
                <a:latin typeface="Aptos"/>
              </a:defRPr>
            </a:pPr>
            <a:endParaRPr lang="en-US" sz="200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Algorithm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167268" y="1130610"/>
            <a:ext cx="5761464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Algorithm: Fault-Tolerance Aware Placement Algorithm (FTAPA)</a:t>
            </a:r>
            <a:endParaRPr lang="en-US" sz="1400" b="1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1: Receive Microservice Request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A new microservice request arrives from an IoT application.</a:t>
            </a:r>
            <a:endParaRPr lang="en-US" sz="14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request is forwarded to the Fog Layer.</a:t>
            </a:r>
            <a:endParaRPr lang="en-US" sz="1400">
              <a:ea typeface="+mn-lt"/>
              <a:cs typeface="+mn-lt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2: Dynamic Connections Load Balancer (DCLB)</a:t>
            </a: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DCLB evaluates all available fog nodes based on:</a:t>
            </a:r>
            <a:endParaRPr lang="en-US" sz="1400">
              <a:ea typeface="Verdana" panose="020B0804030504040204"/>
            </a:endParaRPr>
          </a:p>
          <a:p>
            <a:pPr lvl="1" algn="just">
              <a:defRPr sz="160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Active connections</a:t>
            </a:r>
            <a:endParaRPr lang="en-US" sz="1400">
              <a:ea typeface="Verdana" panose="020B0804030504040204"/>
            </a:endParaRPr>
          </a:p>
          <a:p>
            <a:pPr lvl="1" algn="just">
              <a:defRPr sz="160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Resource availability (CPU, memory)</a:t>
            </a:r>
            <a:endParaRPr lang="en-US" sz="1400">
              <a:ea typeface="Verdana" panose="020B0804030504040204"/>
            </a:endParaRPr>
          </a:p>
          <a:p>
            <a:pPr lvl="1" algn="just">
              <a:defRPr sz="160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Node health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3: Select the Best Fog Node</a:t>
            </a: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healthiest and least-loaded fog node is selected.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microservice is deployed on the selected </a:t>
            </a:r>
            <a:r>
              <a:rPr lang="en-US" sz="1400" b="1">
                <a:ea typeface="+mn-lt"/>
                <a:cs typeface="+mn-lt"/>
              </a:rPr>
              <a:t>Primary Node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4: Predetermine a Backup Node</a:t>
            </a: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At the same time, the system selects a </a:t>
            </a:r>
            <a:r>
              <a:rPr lang="en-US" sz="1400" b="1">
                <a:ea typeface="+mn-lt"/>
                <a:cs typeface="+mn-lt"/>
              </a:rPr>
              <a:t>Backup Node</a:t>
            </a:r>
            <a:r>
              <a:rPr lang="en-US" sz="1400">
                <a:ea typeface="+mn-lt"/>
                <a:cs typeface="+mn-lt"/>
              </a:rPr>
              <a:t> in advance.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backup node is kept ready in case the primary node becomes unhealthy.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endParaRPr lang="en-US" sz="1400">
              <a:latin typeface="Times New Roman" panose="02020503050405090304" pitchFamily="18" charset="0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  <a:defRPr sz="1800" b="0">
                <a:latin typeface="Aptos"/>
              </a:defRPr>
            </a:pP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Content Placeholder 2"/>
          <p:cNvSpPr txBox="1"/>
          <p:nvPr/>
        </p:nvSpPr>
        <p:spPr bwMode="auto">
          <a:xfrm>
            <a:off x="6095999" y="1130609"/>
            <a:ext cx="5761464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5: Monitor Node Health</a:t>
            </a: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system continuously monitors the health of the primary node.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A </a:t>
            </a:r>
            <a:r>
              <a:rPr lang="en-US" sz="1400" b="1">
                <a:ea typeface="+mn-lt"/>
                <a:cs typeface="+mn-lt"/>
              </a:rPr>
              <a:t>fault threshold</a:t>
            </a:r>
            <a:r>
              <a:rPr lang="en-US" sz="1400">
                <a:ea typeface="+mn-lt"/>
                <a:cs typeface="+mn-lt"/>
              </a:rPr>
              <a:t> is calculated to estimate the likelihood of failure.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6: Compare with Fault Threshold</a:t>
            </a: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If the node health remains above the threshold, the service continues normally.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If the node health falls below the threshold, the system predicts an upcoming failure.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7: Proactive Migration</a:t>
            </a: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Before the node completely fails, the microservice is migrated to the predetermined backup node.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This minimizes service interruption.</a:t>
            </a:r>
            <a:endParaRPr lang="en-US" sz="14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400" b="1"/>
              <a:t>Step 8: Continue Service</a:t>
            </a:r>
            <a:endParaRPr lang="en-US" sz="14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The backup node continues executing the microservice.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400">
                <a:ea typeface="+mn-lt"/>
                <a:cs typeface="+mn-lt"/>
              </a:rPr>
              <a:t>Users experience little or no downtime.</a:t>
            </a:r>
            <a:endParaRPr lang="en-US" sz="140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endParaRPr lang="en-US" sz="1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endParaRPr lang="en-US" sz="1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endParaRPr lang="en-US" sz="1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defRPr sz="1800" b="0">
                <a:latin typeface="Aptos"/>
              </a:defRPr>
            </a:pPr>
            <a:endParaRPr lang="en-US" sz="100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  <a:defRPr sz="1800" b="0">
                <a:latin typeface="Aptos"/>
              </a:defRPr>
            </a:pPr>
            <a:endParaRPr lang="en-US" sz="100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Techniques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31542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QoS-EO (Quality of Service – Energy Optimization)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Evaluates QoS parameters such as latency, reliability, and workload to select the most suitable fog node while minimizing energy consumption.</a:t>
            </a:r>
            <a:endParaRPr lang="en-US" sz="1800">
              <a:ea typeface="+mn-lt"/>
              <a:cs typeface="+mn-lt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800" b="1"/>
              <a:t>Particle Swarm Optimization (PSO)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A swarm intelligence algorithm inspired by bird flocking that searches for the optimal resource allocation by iteratively improving candidate solutions.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It helps identify resource allocations that reduce execution delay and improve overall system performance.</a:t>
            </a:r>
            <a:endParaRPr lang="en-US" sz="1800" dirty="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800" b="1"/>
              <a:t>Ant–Bee Optimization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A hybrid optimization technique combining Ant Colony Optimization and Artificial Bee Colony algorithms to identify efficient execution paths and improve resource utilization.</a:t>
            </a:r>
            <a:endParaRPr lang="en-US" sz="18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It finds lower-cost execution paths while balancing energy consumption and Quality of Service.</a:t>
            </a:r>
            <a:endParaRPr lang="en-US" sz="1800">
              <a:ea typeface="Verdana" panose="020B0804030504040204"/>
            </a:endParaRPr>
          </a:p>
          <a:p>
            <a:pPr marL="0" indent="0" algn="just">
              <a:buNone/>
              <a:defRPr sz="1800" b="0">
                <a:latin typeface="Aptos"/>
              </a:defRPr>
            </a:pPr>
            <a:r>
              <a:rPr lang="en-US" sz="1800" b="1"/>
              <a:t>Checkpointing</a:t>
            </a:r>
            <a:endParaRPr lang="en-US" sz="1800" dirty="0">
              <a:ea typeface="Verdana" panose="020B0804030504040204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Periodically saves the current execution state of tasks so that processing can resume from the latest saved point if a failure occurs.</a:t>
            </a:r>
            <a:endParaRPr lang="en-US" sz="18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This improves fault tolerance by reducing task re-execution time and preventing complete loss of processing progress.</a:t>
            </a:r>
            <a:endParaRPr lang="en-US" sz="1800">
              <a:ea typeface="+mn-lt"/>
              <a:cs typeface="+mn-lt"/>
            </a:endParaRPr>
          </a:p>
          <a:p>
            <a:pPr algn="just">
              <a:defRPr sz="1800" b="0">
                <a:latin typeface="Aptos"/>
              </a:defRPr>
            </a:pPr>
            <a:endParaRPr lang="en-US" sz="1800" dirty="0">
              <a:ea typeface="Verdana" panose="020B08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Methodology</a:t>
            </a:r>
            <a:endParaRPr lang="en-US" sz="2800">
              <a:ea typeface="Verdana" panose="020B080403050404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t="17951" b="12812"/>
          <a:stretch>
            <a:fillRect/>
          </a:stretch>
        </p:blipFill>
        <p:spPr>
          <a:xfrm>
            <a:off x="0" y="1237211"/>
            <a:ext cx="12192000" cy="4220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Drawbacks</a:t>
            </a:r>
            <a:endParaRPr lang="en-US" sz="2800">
              <a:ea typeface="Verdana" panose="020B0804030504040204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1. Backup Resource Cost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Maintaining backup nodes consumes additional memory and processing resources, even when failures never occur.</a:t>
            </a:r>
            <a:endParaRPr lang="en-US" sz="1800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ea typeface="+mn-lt"/>
              <a:cs typeface="+mn-lt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2. Threshold Selection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If the fault threshold is set too low, migration may happen too late.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If it is set too high, unnecessary migrations may occur.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 b="1">
              <a:latin typeface="Verdana" panose="020B0804030504040204"/>
              <a:ea typeface="Verdana" panose="020B0804030504040204"/>
              <a:cs typeface="Times New Roman" panose="02020503050405090304" pitchFamily="18" charset="0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 b="1"/>
              <a:t>3. Health Monitoring Overhead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r>
              <a:rPr lang="en-US" sz="1800">
                <a:ea typeface="+mn-lt"/>
                <a:cs typeface="+mn-lt"/>
              </a:rPr>
              <a:t>Continuously monitoring node health adds some processing and communication overhead.</a:t>
            </a:r>
            <a:endParaRPr lang="en-US" sz="1800">
              <a:ea typeface="Verdana" panose="020B0804030504040204"/>
            </a:endParaRPr>
          </a:p>
          <a:p>
            <a:pPr algn="just">
              <a:buNone/>
              <a:defRPr sz="1800" b="0">
                <a:latin typeface="Aptos"/>
              </a:defRPr>
            </a:pPr>
            <a:endParaRPr lang="en-US" sz="1800">
              <a:ea typeface="Verdana" panose="020B0804030504040204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56183"/>
            <a:ext cx="8229600" cy="1143000"/>
          </a:xfrm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IN" sz="3200" b="1"/>
              <a:t>Thank You</a:t>
            </a:r>
            <a:r>
              <a:rPr lang="en-IN"/>
              <a:t> 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17521</Words>
  <Application>WPS Presentation</Application>
  <PresentationFormat>Widescreen</PresentationFormat>
  <Paragraphs>410</Paragraphs>
  <Slides>28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SimSun</vt:lpstr>
      <vt:lpstr>Wingdings</vt:lpstr>
      <vt:lpstr>Verdana</vt:lpstr>
      <vt:lpstr>Aptos Display</vt:lpstr>
      <vt:lpstr>Helvetica Neue</vt:lpstr>
      <vt:lpstr>Times New Roman</vt:lpstr>
      <vt:lpstr>Aptos</vt:lpstr>
      <vt:lpstr>Times New Roman</vt:lpstr>
      <vt:lpstr>Verdana</vt:lpstr>
      <vt:lpstr>Microsoft YaHei</vt:lpstr>
      <vt:lpstr>汉仪旗黑</vt:lpstr>
      <vt:lpstr>Arial Unicode MS</vt:lpstr>
      <vt:lpstr>宋体-简</vt:lpstr>
      <vt:lpstr>1_Default Design</vt:lpstr>
      <vt:lpstr>Proactive Fault Tolerance in Fog Computing</vt:lpstr>
      <vt:lpstr>2093-Article+Text-32231-35264-10-20210129.pdf</vt:lpstr>
      <vt:lpstr>Algorithm</vt:lpstr>
      <vt:lpstr>Techniques</vt:lpstr>
      <vt:lpstr>Methodology</vt:lpstr>
      <vt:lpstr>Drawbacks</vt:lpstr>
      <vt:lpstr>b33ca3499970ca4152ba9af462f1cb1a9674.pdf</vt:lpstr>
      <vt:lpstr>Algorithm</vt:lpstr>
      <vt:lpstr>Algorithm</vt:lpstr>
      <vt:lpstr>Techniques</vt:lpstr>
      <vt:lpstr>Methodology</vt:lpstr>
      <vt:lpstr>Drawbacks</vt:lpstr>
      <vt:lpstr>b76d44b6ebca4db2fa8529aadae3d438878d.pdf</vt:lpstr>
      <vt:lpstr>Algorithm</vt:lpstr>
      <vt:lpstr>Techniques</vt:lpstr>
      <vt:lpstr>Methodology</vt:lpstr>
      <vt:lpstr>Drawbacks</vt:lpstr>
      <vt:lpstr>sustainability-15-08702.pdf</vt:lpstr>
      <vt:lpstr>Algorithm</vt:lpstr>
      <vt:lpstr>Techniques</vt:lpstr>
      <vt:lpstr>Methodology</vt:lpstr>
      <vt:lpstr>Drawbacks</vt:lpstr>
      <vt:lpstr>ijdiic_v4n4a5.pdf</vt:lpstr>
      <vt:lpstr>Algorithm</vt:lpstr>
      <vt:lpstr>Techniques</vt:lpstr>
      <vt:lpstr>Methodology</vt:lpstr>
      <vt:lpstr>Drawbacks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rahul</cp:lastModifiedBy>
  <cp:revision>99</cp:revision>
  <cp:lastPrinted>2026-07-15T03:05:41Z</cp:lastPrinted>
  <dcterms:created xsi:type="dcterms:W3CDTF">2026-07-15T03:05:41Z</dcterms:created>
  <dcterms:modified xsi:type="dcterms:W3CDTF">2026-07-15T03:05:41Z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1033-12.1.26035.26035</vt:lpwstr>
  </property>
  <property fmtid="{D5CDD505-2E9C-101B-9397-08002B2CF9AE}" pid="3" name="ICV">
    <vt:lpwstr>C74005CF77AE1C8DECF8566A79DFFBB0_42</vt:lpwstr>
  </property>
</Properties>
</file>