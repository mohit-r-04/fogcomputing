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6"/>
  </p:notesMasterIdLst>
  <p:sldIdLst>
    <p:sldId id="271" r:id="rId4"/>
    <p:sldId id="257" r:id="rId5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2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25"/>
        <p:guide pos="384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(~75 sec)</a:t>
            </a:r>
            <a:endParaRPr lang="en-US" dirty="0"/>
          </a:p>
          <a:p>
            <a:r>
              <a:rPr lang="en-US" dirty="0"/>
              <a:t>Para 1 - fog puts modules close to the sensors so latency-critical work meets its deadline, but the hosts are</a:t>
            </a:r>
            <a:endParaRPr lang="en-US" dirty="0"/>
          </a:p>
          <a:p>
            <a:r>
              <a:rPr lang="en-US" dirty="0"/>
              <a:t>ordinary hardware in uncontrolled places, and a single failure breaks a critical service.</a:t>
            </a:r>
            <a:endParaRPr lang="en-US" dirty="0"/>
          </a:p>
          <a:p>
            <a:r>
              <a:rPr lang="en-US" dirty="0"/>
              <a:t>Para 2 - existing methods are reactive. Checkpoint-and-restore, retransmission and heartbeat failover all</a:t>
            </a:r>
            <a:endParaRPr lang="en-US" dirty="0"/>
          </a:p>
          <a:p>
            <a:r>
              <a:rPr lang="en-US" dirty="0"/>
              <a:t>start recovery AFTER the fault, so the recovery time lands at the worst possible moment. The proactive methods</a:t>
            </a:r>
            <a:endParaRPr lang="en-US" dirty="0"/>
          </a:p>
          <a:p>
            <a:r>
              <a:rPr lang="en-US" dirty="0"/>
              <a:t>compare ONE measurement to a FIXED threshold: it fires on harmless load spikes, and stays silent when the node</a:t>
            </a:r>
            <a:endParaRPr lang="en-US" dirty="0"/>
          </a:p>
          <a:p>
            <a:r>
              <a:rPr lang="en-US" dirty="0"/>
              <a:t>degrades in a way that measurement does not show.</a:t>
            </a:r>
            <a:endParaRPr lang="en-US" dirty="0"/>
          </a:p>
          <a:p>
            <a:r>
              <a:rPr lang="en-US" dirty="0"/>
              <a:t>Para 3 - the real difficulty: node health cannot be observed directly. It must be inferred from several noisy,</a:t>
            </a:r>
            <a:endParaRPr lang="en-US" dirty="0"/>
          </a:p>
          <a:p>
            <a:r>
              <a:rPr lang="en-US" dirty="0"/>
              <a:t>related measurements, some of which may be missing exactly when the node is closest to failing. A Bayesian</a:t>
            </a:r>
            <a:endParaRPr lang="en-US" dirty="0"/>
          </a:p>
          <a:p>
            <a:r>
              <a:rPr lang="en-US" dirty="0"/>
              <a:t>Belief Network suits this - it can be built from expert knowledge when no failure data exists, it marginalises</a:t>
            </a:r>
            <a:endParaRPr lang="en-US" dirty="0"/>
          </a:p>
          <a:p>
            <a:r>
              <a:rPr lang="en-US" dirty="0"/>
              <a:t>out what it cannot see instead of guessing, and it tells you which condition is responsible.</a:t>
            </a:r>
            <a:endParaRPr lang="en-US" dirty="0"/>
          </a:p>
          <a:p>
            <a:r>
              <a:rPr lang="en-US" dirty="0"/>
              <a:t>Then read the problem statement at the bottom.</a:t>
            </a: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(~75 sec)  Three points.</a:t>
            </a:r>
            <a:endParaRPr lang="en-US" dirty="0"/>
          </a:p>
          <a:p>
            <a:r>
              <a:rPr lang="en-US" dirty="0"/>
              <a:t>1. WHY FOG. An ECG classifier or a surveillance tracker has to respond in tens of milliseconds. A round trip</a:t>
            </a:r>
            <a:endParaRPr lang="en-US" dirty="0"/>
          </a:p>
          <a:p>
            <a:r>
              <a:rPr lang="en-US" dirty="0"/>
              <a:t>   to a cloud data centre is too slow. So fog computing runs the application modules on gateways, routers and</a:t>
            </a:r>
            <a:endParaRPr lang="en-US" dirty="0"/>
          </a:p>
          <a:p>
            <a:r>
              <a:rPr lang="en-US" dirty="0"/>
              <a:t>   base stations, one or two hops from the sensor.</a:t>
            </a:r>
            <a:endParaRPr lang="en-US" dirty="0"/>
          </a:p>
          <a:p>
            <a:r>
              <a:rPr lang="en-US" dirty="0"/>
              <a:t>2. WHY THAT IS RISKY. A fog node is ordinary hardware in an uncontrolled place. It shares a limited uplink,</a:t>
            </a:r>
            <a:endParaRPr lang="en-US" dirty="0"/>
          </a:p>
          <a:p>
            <a:r>
              <a:rPr lang="en-US" dirty="0"/>
              <a:t>   often runs on battery, and mobile users keep moving between nodes so the load keeps changing. These nodes</a:t>
            </a:r>
            <a:endParaRPr lang="en-US" dirty="0"/>
          </a:p>
          <a:p>
            <a:r>
              <a:rPr lang="en-US" dirty="0"/>
              <a:t>   fail far more often than data-centre servers, and one failure can break a safety-critical deadline.</a:t>
            </a:r>
            <a:endParaRPr lang="en-US" dirty="0"/>
          </a:p>
          <a:p>
            <a:r>
              <a:rPr lang="en-US" dirty="0"/>
              <a:t>3. THE OPENING FOR OUR WORK. Nodes rarely fail suddenly. Utilisation rises, queues grow, links get worse and</a:t>
            </a:r>
            <a:endParaRPr lang="en-US" dirty="0"/>
          </a:p>
          <a:p>
            <a:r>
              <a:rPr lang="en-US" dirty="0"/>
              <a:t>   energy drains first. That gives us a short window. We predict the failure inside that window and use the</a:t>
            </a:r>
            <a:endParaRPr lang="en-US" dirty="0"/>
          </a:p>
          <a:p>
            <a:r>
              <a:rPr lang="en-US" dirty="0"/>
              <a:t>   prediction to place, migrate and replicate modules.</a:t>
            </a: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(~90 sec)  Six papers, in two groups. Refer to them by number and title, not by author.</a:t>
            </a:r>
            <a:endParaRPr lang="en-US" dirty="0"/>
          </a:p>
          <a:p>
            <a:r>
              <a:rPr lang="en-US" dirty="0"/>
              <a:t>FOG FAULT TOLERANCE (rows 1-3):</a:t>
            </a:r>
            <a:endParaRPr lang="en-US" dirty="0"/>
          </a:p>
          <a:p>
            <a:r>
              <a:rPr lang="en-US" dirty="0"/>
              <a:t>[1] "Dynamic fault tolerance aware scheduling for healthcare system on fog computing", 2021 -</a:t>
            </a:r>
            <a:endParaRPr lang="en-US" dirty="0"/>
          </a:p>
          <a:p>
            <a:r>
              <a:rPr lang="en-US" dirty="0"/>
              <a:t>    weighted round-robin scheduling, a checkpoint whenever CPU use crosses 0.2, and primary-backup</a:t>
            </a:r>
            <a:endParaRPr lang="en-US" dirty="0"/>
          </a:p>
          <a:p>
            <a:r>
              <a:rPr lang="en-US" dirty="0"/>
              <a:t>    replication. Load-aware scheduling raises throughput.</a:t>
            </a:r>
            <a:endParaRPr lang="en-US" dirty="0"/>
          </a:p>
          <a:p>
            <a:r>
              <a:rPr lang="en-US" dirty="0"/>
              <a:t>[2] "Fault tolerance mechanism for software application through fog computing as middleware", 2016 -</a:t>
            </a:r>
            <a:endParaRPr lang="en-US" dirty="0"/>
          </a:p>
          <a:p>
            <a:r>
              <a:rPr lang="en-US" dirty="0"/>
              <a:t>    middleware polls the server with heartbeats and switches to a replicated backup. Failover is</a:t>
            </a:r>
            <a:endParaRPr lang="en-US" dirty="0"/>
          </a:p>
          <a:p>
            <a:r>
              <a:rPr lang="en-US" dirty="0"/>
              <a:t>    invisible to the user; it recovered three of four test scenarios.</a:t>
            </a:r>
            <a:endParaRPr lang="en-US" dirty="0"/>
          </a:p>
          <a:p>
            <a:r>
              <a:rPr lang="en-US" dirty="0"/>
              <a:t>[3] "Optimized fault-tolerant placement of microservices in distributed fog networks", 2025 - the</a:t>
            </a:r>
            <a:endParaRPr lang="en-US" dirty="0"/>
          </a:p>
          <a:p>
            <a:r>
              <a:rPr lang="en-US" dirty="0"/>
              <a:t>    closest work to ours. FTAPA picks a primary node, pre-selects a backup, and migrates once a health</a:t>
            </a:r>
            <a:endParaRPr lang="en-US" dirty="0"/>
          </a:p>
          <a:p>
            <a:r>
              <a:rPr lang="en-US" dirty="0"/>
              <a:t>    index crosses a threshold. Moving BEFORE the host fails reduces downtime. That is what we build on.</a:t>
            </a:r>
            <a:endParaRPr lang="en-US" dirty="0"/>
          </a:p>
          <a:p>
            <a:r>
              <a:rPr lang="en-US" dirty="0"/>
              <a:t>BAYESIAN NETWORKS IN RELIABILITY (rows 4-6):</a:t>
            </a:r>
            <a:endParaRPr lang="en-US" dirty="0"/>
          </a:p>
          <a:p>
            <a:r>
              <a:rPr lang="en-US" dirty="0"/>
              <a:t>[4] "Using Bayesian networks to predict software defects and reliability", 2007 - expert judgement and</a:t>
            </a:r>
            <a:endParaRPr lang="en-US" dirty="0"/>
          </a:p>
          <a:p>
            <a:r>
              <a:rPr lang="en-US" dirty="0"/>
              <a:t>    measured data can be combined. Deployed at Motorola, Siemens and Philips.</a:t>
            </a:r>
            <a:endParaRPr lang="en-US" dirty="0"/>
          </a:p>
          <a:p>
            <a:r>
              <a:rPr lang="en-US" dirty="0"/>
              <a:t>[5] "Overview on Bayesian networks applications for dependability, risk analysis and maintenance</a:t>
            </a:r>
            <a:endParaRPr lang="en-US" dirty="0"/>
          </a:p>
          <a:p>
            <a:r>
              <a:rPr lang="en-US" dirty="0"/>
              <a:t>    areas", 2012 - ten-year survey; better than fault trees and Markov chains for mixed variables.</a:t>
            </a:r>
            <a:endParaRPr lang="en-US" dirty="0"/>
          </a:p>
          <a:p>
            <a:r>
              <a:rPr lang="en-US" dirty="0"/>
              <a:t>[6] "Bayesian networks in environmental modelling", 2011 - inference still works when part of the</a:t>
            </a:r>
            <a:endParaRPr lang="en-US" dirty="0"/>
          </a:p>
          <a:p>
            <a:r>
              <a:rPr lang="en-US" dirty="0"/>
              <a:t>    evidence is missing. That is the property fog telemetry needs.</a:t>
            </a: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(~75 sec)  One gap per paper. Read the paper number, then the gap - do not read the whole title</a:t>
            </a:r>
            <a:endParaRPr lang="en-US" dirty="0"/>
          </a:p>
          <a:p>
            <a:r>
              <a:rPr lang="en-US" dirty="0"/>
              <a:t>aloud, the audience can see it.</a:t>
            </a:r>
            <a:endParaRPr lang="en-US" dirty="0"/>
          </a:p>
          <a:p>
            <a:r>
              <a:rPr lang="en-US" dirty="0"/>
              <a:t>[1] The CPU threshold is fixed and ignores workload, so checkpoints happen during load spikes that</a:t>
            </a:r>
            <a:endParaRPr lang="en-US" dirty="0"/>
          </a:p>
          <a:p>
            <a:r>
              <a:rPr lang="en-US" dirty="0"/>
              <a:t>    pass harmlessly; a backup is stored for every task.</a:t>
            </a:r>
            <a:endParaRPr lang="en-US" dirty="0"/>
          </a:p>
          <a:p>
            <a:r>
              <a:rPr lang="en-US" dirty="0"/>
              <a:t>[2] Recovery starts only after the server stops answering, and only one backup is kept.</a:t>
            </a:r>
            <a:endParaRPr lang="en-US" dirty="0"/>
          </a:p>
          <a:p>
            <a:r>
              <a:rPr lang="en-US" dirty="0"/>
              <a:t>[3] The authors themselves say the threshold is hard to set - too low, migration is late; too high, it</a:t>
            </a:r>
            <a:endParaRPr lang="en-US" dirty="0"/>
          </a:p>
          <a:p>
            <a:r>
              <a:rPr lang="en-US" dirty="0"/>
              <a:t>    is wasted. A backup node is still reserved per microservice.</a:t>
            </a:r>
            <a:endParaRPr lang="en-US" dirty="0"/>
          </a:p>
          <a:p>
            <a:r>
              <a:rPr lang="en-US" dirty="0"/>
              <a:t>[4] Built for software development processes, not running infrastructure; tables are never updated</a:t>
            </a:r>
            <a:endParaRPr lang="en-US" dirty="0"/>
          </a:p>
          <a:p>
            <a:r>
              <a:rPr lang="en-US" dirty="0"/>
              <a:t>    while the system operates.</a:t>
            </a:r>
            <a:endParaRPr lang="en-US" dirty="0"/>
          </a:p>
          <a:p>
            <a:r>
              <a:rPr lang="en-US" dirty="0"/>
              <a:t>[5] Covers industrial plants and process systems - fog computing, where telemetry is often incomplete,</a:t>
            </a:r>
            <a:endParaRPr lang="en-US" dirty="0"/>
          </a:p>
          <a:p>
            <a:r>
              <a:rPr lang="en-US" dirty="0"/>
              <a:t>    is not among the domains studied.</a:t>
            </a:r>
            <a:endParaRPr lang="en-US" dirty="0"/>
          </a:p>
          <a:p>
            <a:r>
              <a:rPr lang="en-US" dirty="0"/>
              <a:t>[6] No decision has to be taken within a deadline, so it says nothing about acting in real time.</a:t>
            </a:r>
            <a:endParaRPr lang="en-US" dirty="0"/>
          </a:p>
          <a:p>
            <a:r>
              <a:rPr lang="en-US" dirty="0"/>
              <a:t>THE COMMON GAP (last bullet): none of them produces a PROBABILITY that a node will fail, and none uses</a:t>
            </a:r>
            <a:endParaRPr lang="en-US" dirty="0"/>
          </a:p>
          <a:p>
            <a:r>
              <a:rPr lang="en-US" dirty="0"/>
              <a:t>such a probability to decide placement, migration and redundancy. That is the space we occupy.</a:t>
            </a: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(~60 sec)  Three objectives, one sentence each, plus how each is judged.</a:t>
            </a:r>
            <a:endParaRPr lang="en-US" dirty="0"/>
          </a:p>
          <a:p>
            <a:r>
              <a:rPr lang="en-US" dirty="0"/>
              <a:t>1. ESTIMATE FAILURE AS A PROBABILITY - for every node, P(fails within horizon Delta-t), using only whatever</a:t>
            </a:r>
            <a:endParaRPr lang="en-US" dirty="0"/>
          </a:p>
          <a:p>
            <a:r>
              <a:rPr lang="en-US" dirty="0"/>
              <a:t>   telemetry happens to be available. Judged by precision, recall, calibration and lead time.</a:t>
            </a:r>
            <a:endParaRPr lang="en-US" dirty="0"/>
          </a:p>
          <a:p>
            <a:r>
              <a:rPr lang="en-US" dirty="0"/>
              <a:t>2. USE THAT PROBABILITY TO PLACE AND MIGRATE - score candidates on latency, energy and risk; move a running</a:t>
            </a:r>
            <a:endParaRPr lang="en-US" dirty="0"/>
          </a:p>
          <a:p>
            <a:r>
              <a:rPr lang="en-US" dirty="0"/>
              <a:t>   module only when the expected loss of staying is larger than the cost of moving. Judged by loop delay,</a:t>
            </a:r>
            <a:endParaRPr lang="en-US" dirty="0"/>
          </a:p>
          <a:p>
            <a:r>
              <a:rPr lang="en-US" dirty="0"/>
              <a:t>   deadline violations and downtime against baselines.</a:t>
            </a:r>
            <a:endParaRPr lang="en-US" dirty="0"/>
          </a:p>
          <a:p>
            <a:r>
              <a:rPr lang="en-US" dirty="0"/>
              <a:t>3. ALLOCATE REDUNDANCY BY RISK AND CRITICALITY - decide how much redundancy each module gets, instead of a</a:t>
            </a:r>
            <a:endParaRPr lang="en-US" dirty="0"/>
          </a:p>
          <a:p>
            <a:r>
              <a:rPr lang="en-US" dirty="0"/>
              <a:t>   backup for everything. Judged by the downtime obtained for a given amount of reserved standby capacity.</a:t>
            </a:r>
            <a:endParaRPr lang="en-US" dirty="0"/>
          </a:p>
          <a:p>
            <a:r>
              <a:rPr lang="en-US" dirty="0"/>
              <a:t>Say clearly: objective 1 produces the probability; objectives 2 and 3 spend it.</a:t>
            </a: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(~75 sec)  One novelty per objective.</a:t>
            </a:r>
            <a:endParaRPr lang="en-US" dirty="0"/>
          </a:p>
          <a:p>
            <a:r>
              <a:rPr lang="en-US" dirty="0"/>
              <a:t>NOVELTY 1 (Obj 1) - a causal Bayesian Belief Network over node health.</a:t>
            </a:r>
            <a:endParaRPr lang="en-US" dirty="0"/>
          </a:p>
          <a:p>
            <a:r>
              <a:rPr lang="en-US" dirty="0"/>
              <a:t>  * Failure becomes a probability, not a threshold crossing or a binary alarm.</a:t>
            </a:r>
            <a:endParaRPr lang="en-US" dirty="0"/>
          </a:p>
          <a:p>
            <a:r>
              <a:rPr lang="en-US" dirty="0"/>
              <a:t>  * Missing evidence is marginalised out, so a prediction is still produced.</a:t>
            </a:r>
            <a:endParaRPr lang="en-US" dirty="0"/>
          </a:p>
          <a:p>
            <a:r>
              <a:rPr lang="en-US" dirty="0"/>
              <a:t>  * Because the network is causal, it NAMES the condition behind the estimate instead of giving a bare score.</a:t>
            </a:r>
            <a:endParaRPr lang="en-US" dirty="0"/>
          </a:p>
          <a:p>
            <a:r>
              <a:rPr lang="en-US" dirty="0"/>
              <a:t>NOVELTY 2 (Obj 2) - expected-loss migration instead of a fixed threshold.</a:t>
            </a:r>
            <a:endParaRPr lang="en-US" dirty="0"/>
          </a:p>
          <a:p>
            <a:r>
              <a:rPr lang="en-US" dirty="0"/>
              <a:t>  * The probability enters a utility over latency, energy and risk that ranks candidate nodes.</a:t>
            </a:r>
            <a:endParaRPr lang="en-US" dirty="0"/>
          </a:p>
          <a:p>
            <a:r>
              <a:rPr lang="en-US" dirty="0"/>
              <a:t>  * A module moves only when expected loss from staying &gt; cost of moving.</a:t>
            </a:r>
            <a:endParaRPr lang="en-US" dirty="0"/>
          </a:p>
          <a:p>
            <a:r>
              <a:rPr lang="en-US" dirty="0"/>
              <a:t>  * The effective threshold falls out of the cost ratio, so it differs per module. Nothing is hand-tuned.</a:t>
            </a:r>
            <a:endParaRPr lang="en-US" dirty="0"/>
          </a:p>
          <a:p>
            <a:r>
              <a:rPr lang="en-US" dirty="0"/>
              <a:t>NOVELTY 3 (Obj 3) - redundancy that follows risk and criticality.</a:t>
            </a:r>
            <a:endParaRPr lang="en-US" dirty="0"/>
          </a:p>
          <a:p>
            <a:r>
              <a:rPr lang="en-US" dirty="0"/>
              <a:t>  * Redundancy is a resource we spend where it matters, not a backup reserved for every module.</a:t>
            </a:r>
            <a:endParaRPr lang="en-US" dirty="0"/>
          </a:p>
          <a:p>
            <a:r>
              <a:rPr lang="en-US" dirty="0"/>
              <a:t>  * Warm-standby / checkpoint-only / no-redundancy tiers, assigned by risk x criticality.</a:t>
            </a:r>
            <a:endParaRPr lang="en-US" dirty="0"/>
          </a:p>
          <a:p>
            <a:r>
              <a:rPr lang="en-US" dirty="0"/>
              <a:t>  * Tiers are recomputed as the probabilities change, so standby capacity follows the risk over time.</a:t>
            </a:r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(~90 sec)  Walk the diagram, then the six numbered steps.</a:t>
            </a:r>
            <a:endParaRPr lang="en-US" dirty="0"/>
          </a:p>
          <a:p>
            <a:r>
              <a:rPr lang="en-US" dirty="0"/>
              <a:t>LAYOUT: IoT devices at the bottom send tuples. The fog layer in the middle - each node runs a lightweight</a:t>
            </a:r>
            <a:endParaRPr lang="en-US" dirty="0"/>
          </a:p>
          <a:p>
            <a:r>
              <a:rPr lang="en-US" dirty="0"/>
              <a:t>telemetry agent. The cloud at the top for offload and for the model/CPT repository.</a:t>
            </a:r>
            <a:endParaRPr lang="en-US" dirty="0"/>
          </a:p>
          <a:p>
            <a:r>
              <a:rPr lang="en-US" dirty="0"/>
              <a:t>In the centre is our Proactive Fault-Tolerance Controller. It sits at the PROXY tier, because from there it</a:t>
            </a:r>
            <a:endParaRPr lang="en-US" dirty="0"/>
          </a:p>
          <a:p>
            <a:r>
              <a:rPr lang="en-US" dirty="0"/>
              <a:t>can see a whole cluster of fog nodes without paying the round trip to the cloud.</a:t>
            </a:r>
            <a:endParaRPr lang="en-US" dirty="0"/>
          </a:p>
          <a:p>
            <a:r>
              <a:rPr lang="en-US" dirty="0"/>
              <a:t>THE SIX STEPS:</a:t>
            </a:r>
            <a:endParaRPr lang="en-US" dirty="0"/>
          </a:p>
          <a:p>
            <a:r>
              <a:rPr lang="en-US" dirty="0"/>
              <a:t> 1. Collect telemetry from the agents.</a:t>
            </a:r>
            <a:endParaRPr lang="en-US" dirty="0"/>
          </a:p>
          <a:p>
            <a:r>
              <a:rPr lang="en-US" dirty="0"/>
              <a:t> 2. Discretise it into the states the network is defined over.</a:t>
            </a:r>
            <a:endParaRPr lang="en-US" dirty="0"/>
          </a:p>
          <a:p>
            <a:r>
              <a:rPr lang="en-US" dirty="0"/>
              <a:t> 3. The BBN inference engine computes P(fail | evidence)  &lt;- Novelty 1.</a:t>
            </a:r>
            <a:endParaRPr lang="en-US" dirty="0"/>
          </a:p>
          <a:p>
            <a:r>
              <a:rPr lang="en-US" dirty="0"/>
              <a:t> 4. Risk-aware placement and expected-loss migration turn that into a decision  &lt;- Novelty 2.</a:t>
            </a:r>
            <a:endParaRPr lang="en-US" dirty="0"/>
          </a:p>
          <a:p>
            <a:r>
              <a:rPr lang="en-US" dirty="0"/>
              <a:t> 5. Criticality-aware replication assigns a redundancy tier  &lt;- Novelty 3.</a:t>
            </a:r>
            <a:endParaRPr lang="en-US" dirty="0"/>
          </a:p>
          <a:p>
            <a:r>
              <a:rPr lang="en-US" dirty="0"/>
              <a:t> 6. We observe what actually happened and update the CPTs, then sync them to the cloud repository so other</a:t>
            </a:r>
            <a:endParaRPr lang="en-US" dirty="0"/>
          </a:p>
          <a:p>
            <a:r>
              <a:rPr lang="en-US" dirty="0"/>
              <a:t>    clusters benefit from what this one learned.</a:t>
            </a:r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(~90 sec)</a:t>
            </a:r>
            <a:endParaRPr lang="en-US" dirty="0"/>
          </a:p>
          <a:p>
            <a:r>
              <a:rPr lang="en-US" dirty="0"/>
              <a:t>NETWORK STRUCTURE - three layers.</a:t>
            </a:r>
            <a:endParaRPr lang="en-US" dirty="0"/>
          </a:p>
          <a:p>
            <a:r>
              <a:rPr lang="en-US" dirty="0"/>
              <a:t>  Bottom: evidence we observe (CPU, RAM, queue depth, uplink latency/jitter/loss, residual energy, handovers).</a:t>
            </a:r>
            <a:endParaRPr lang="en-US" dirty="0"/>
          </a:p>
          <a:p>
            <a:r>
              <a:rPr lang="en-US" dirty="0"/>
              <a:t>  Middle: four LATENT conditions we never measure directly but infer - computational stress, network</a:t>
            </a:r>
            <a:endParaRPr lang="en-US" dirty="0"/>
          </a:p>
          <a:p>
            <a:r>
              <a:rPr lang="en-US" dirty="0"/>
              <a:t>    degradation, energy stress, thermal stress.</a:t>
            </a:r>
            <a:endParaRPr lang="en-US" dirty="0"/>
          </a:p>
          <a:p>
            <a:r>
              <a:rPr lang="en-US" dirty="0"/>
              <a:t>  Top: the target - does this node fail within Delta-t, also conditioned on device class and historical MTBF.</a:t>
            </a:r>
            <a:endParaRPr lang="en-US" dirty="0"/>
          </a:p>
          <a:p>
            <a:r>
              <a:rPr lang="en-US" dirty="0"/>
              <a:t>DISCRETISATION - every variable becomes low/medium/high. That keeps the conditional probability tables small</a:t>
            </a:r>
            <a:endParaRPr lang="en-US" dirty="0"/>
          </a:p>
          <a:p>
            <a:r>
              <a:rPr lang="en-US" dirty="0"/>
              <a:t>  enough to read and to elicit from an expert. Inference is exact, and anything unobserved is MARGINALISED</a:t>
            </a:r>
            <a:endParaRPr lang="en-US" dirty="0"/>
          </a:p>
          <a:p>
            <a:r>
              <a:rPr lang="en-US" dirty="0"/>
              <a:t>  OUT, not imputed. This is the property a threshold rule does not have.</a:t>
            </a:r>
            <a:endParaRPr lang="en-US" dirty="0"/>
          </a:p>
          <a:p>
            <a:r>
              <a:rPr lang="en-US" dirty="0"/>
              <a:t>DECISION RULES:</a:t>
            </a:r>
            <a:endParaRPr lang="en-US" dirty="0"/>
          </a:p>
          <a:p>
            <a:r>
              <a:rPr lang="en-US" dirty="0"/>
              <a:t>  Placement - score each candidate with U = a(1-latency) + b(1-energy) + g(1-P(F|e)). Weights depend on the</a:t>
            </a:r>
            <a:endParaRPr lang="en-US" dirty="0"/>
          </a:p>
          <a:p>
            <a:r>
              <a:rPr lang="en-US" dirty="0"/>
              <a:t>    application class: a health module gets a large gamma so it avoids fragile nodes.</a:t>
            </a:r>
            <a:endParaRPr lang="en-US" dirty="0"/>
          </a:p>
          <a:p>
            <a:r>
              <a:rPr lang="en-US" dirty="0"/>
              <a:t>  Migration - move only when P(F|e) x C_fail &gt; C_migrate. Rearranged, the effective threshold P* = the cost</a:t>
            </a:r>
            <a:endParaRPr lang="en-US" dirty="0"/>
          </a:p>
          <a:p>
            <a:r>
              <a:rPr lang="en-US" dirty="0"/>
              <a:t>    ratio. So the threshold is DERIVED, not tuned - this answers the weakness in [1] and [3].</a:t>
            </a:r>
            <a:endParaRPr lang="en-US" dirty="0"/>
          </a:p>
          <a:p>
            <a:r>
              <a:rPr lang="en-US" dirty="0"/>
              <a:t>  Replication - R(m) = P(F|e) x criticality puts the module in one of the three tiers.</a:t>
            </a:r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(~90 sec)  START BY DEFINING THE WORD "DATASET".</a:t>
            </a:r>
            <a:endParaRPr lang="en-US" dirty="0"/>
          </a:p>
          <a:p>
            <a:r>
              <a:rPr lang="en-US" dirty="0"/>
              <a:t>iFogSim2 is a SIMULATOR, not a machine-learning tool. So this dataset is not training data. It DESCRIBES THE</a:t>
            </a:r>
            <a:endParaRPr lang="en-US" dirty="0"/>
          </a:p>
          <a:p>
            <a:r>
              <a:rPr lang="en-US" dirty="0"/>
              <a:t>ENVIRONMENT we simulate: where the fog nodes are, how they connect, and how users move.</a:t>
            </a:r>
            <a:endParaRPr lang="en-US" dirty="0"/>
          </a:p>
          <a:p>
            <a:r>
              <a:rPr lang="en-US" dirty="0"/>
              <a:t>WHAT IT CONTAINS:</a:t>
            </a:r>
            <a:endParaRPr lang="en-US" dirty="0"/>
          </a:p>
          <a:p>
            <a:r>
              <a:rPr lang="en-US" dirty="0"/>
              <a:t> * edgeResources-melbCBD.csv - 131 rows, one per computing resource in the Melbourne central business</a:t>
            </a:r>
            <a:endParaRPr lang="en-US" dirty="0"/>
          </a:p>
          <a:p>
            <a:r>
              <a:rPr lang="en-US" dirty="0"/>
              <a:t>   district. Each row has latitude and longitude, the city block, its level in the hierarchy, and its parent.</a:t>
            </a:r>
            <a:endParaRPr lang="en-US" dirty="0"/>
          </a:p>
          <a:p>
            <a:r>
              <a:rPr lang="en-US" dirty="0"/>
              <a:t>   These are real cell-site locations.</a:t>
            </a:r>
            <a:endParaRPr lang="en-US" dirty="0"/>
          </a:p>
          <a:p>
            <a:r>
              <a:rPr lang="en-US" dirty="0"/>
              <a:t> * usersLocation - 87 recorded user positions; five synthetic traces add 100 positions each so we can scale up.</a:t>
            </a:r>
            <a:endParaRPr lang="en-US" dirty="0"/>
          </a:p>
          <a:p>
            <a:r>
              <a:rPr lang="en-US" dirty="0"/>
              <a:t> * ApplicationConfig.json - the applications themselves: ten microservice profiles, each with the MIPS the</a:t>
            </a:r>
            <a:endParaRPr lang="en-US" dirty="0"/>
          </a:p>
          <a:p>
            <a:r>
              <a:rPr lang="en-US" dirty="0"/>
              <a:t>   module needs, the network load on its edges, and its deadline.</a:t>
            </a:r>
            <a:endParaRPr lang="en-US" dirty="0"/>
          </a:p>
          <a:p>
            <a:r>
              <a:rPr lang="en-US" dirty="0"/>
              <a:t>HOW iFogSim2 BUILDS THE DEVICES:</a:t>
            </a:r>
            <a:endParaRPr lang="en-US" dirty="0"/>
          </a:p>
          <a:p>
            <a:r>
              <a:rPr lang="en-US" dirty="0"/>
              <a:t> * Every CSV row becomes a FogDevice object. createFogDevice() builds a processing element (a CPU core rated</a:t>
            </a:r>
            <a:endParaRPr lang="en-US" dirty="0"/>
          </a:p>
          <a:p>
            <a:r>
              <a:rPr lang="en-US" dirty="0"/>
              <a:t>   in MIPS - millions of instructions per second), a power host that owns RAM and bandwidth, and the device</a:t>
            </a:r>
            <a:endParaRPr lang="en-US" dirty="0"/>
          </a:p>
          <a:p>
            <a:r>
              <a:rPr lang="en-US" dirty="0"/>
              <a:t>   characteristics for that tier.</a:t>
            </a:r>
            <a:endParaRPr lang="en-US" dirty="0"/>
          </a:p>
          <a:p>
            <a:r>
              <a:rPr lang="en-US" dirty="0"/>
              <a:t> * The four levels give 1 cloud data centre, 12 block proxy servers, 118 cell-site gateways, and the mobile</a:t>
            </a:r>
            <a:endParaRPr lang="en-US" dirty="0"/>
          </a:p>
          <a:p>
            <a:r>
              <a:rPr lang="en-US" dirty="0"/>
              <a:t>   devices under them. Each device has a parent one level up, and each link has a latency - that is how</a:t>
            </a:r>
            <a:endParaRPr lang="en-US" dirty="0"/>
          </a:p>
          <a:p>
            <a:r>
              <a:rPr lang="en-US" dirty="0"/>
              <a:t>   end-to-end delay is computed.</a:t>
            </a:r>
            <a:endParaRPr lang="en-US" dirty="0"/>
          </a:p>
          <a:p>
            <a:r>
              <a:rPr lang="en-US" dirty="0"/>
              <a:t> * Sensors (ECG, EEG, camera) and actuators (a display, a pan-tilt-zoom motor) attach at level 3. Sensors</a:t>
            </a:r>
            <a:endParaRPr lang="en-US" dirty="0"/>
          </a:p>
          <a:p>
            <a:r>
              <a:rPr lang="en-US" dirty="0"/>
              <a:t>   emit the tuples; the modules process them; the actuator consumes the result.</a:t>
            </a:r>
            <a:endParaRPr lang="en-US" dirty="0"/>
          </a:p>
          <a:p>
            <a:r>
              <a:rPr lang="en-US" dirty="0"/>
              <a:t>THE TABLE - what each tier is given. Point at the gap: the cloud has 44,800 MIPS, a gateway only 2,800. That</a:t>
            </a:r>
            <a:endParaRPr lang="en-US" dirty="0"/>
          </a:p>
          <a:p>
            <a:r>
              <a:rPr lang="en-US" dirty="0"/>
              <a:t>is exactly why placement matters and why a gateway saturates. Busy/idle watts feed the energy model.</a:t>
            </a:r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(~90 sec)  THIS SLIDE ANSWERS: "where do your failures come from?"</a:t>
            </a:r>
            <a:endParaRPr lang="en-US" dirty="0"/>
          </a:p>
          <a:p>
            <a:r>
              <a:rPr lang="en-US" dirty="0"/>
              <a:t>HOW WE CREATE DIFFERENT CONDITIONS - if every node idled, there would be nothing to predict.</a:t>
            </a:r>
            <a:endParaRPr lang="en-US" dirty="0"/>
          </a:p>
          <a:p>
            <a:r>
              <a:rPr lang="en-US" dirty="0"/>
              <a:t> * Load: change how many modules sit on a node and how much MIPS each needs.</a:t>
            </a:r>
            <a:endParaRPr lang="en-US" dirty="0"/>
          </a:p>
          <a:p>
            <a:r>
              <a:rPr lang="en-US" dirty="0"/>
              <a:t> * Network: the configured link latency, plus the queueing delay that builds up when tuples pile on the uplink.</a:t>
            </a:r>
            <a:endParaRPr lang="en-US" dirty="0"/>
          </a:p>
          <a:p>
            <a:r>
              <a:rPr lang="en-US" dirty="0"/>
              <a:t> * Energy: iFogSim's linear power model, P(u) = idle + (busy - idle) x u, where u is utilisation from 0 to 1.</a:t>
            </a:r>
            <a:endParaRPr lang="en-US" dirty="0"/>
          </a:p>
          <a:p>
            <a:r>
              <a:rPr lang="en-US" dirty="0"/>
              <a:t>   A node that stays busy drains its residual energy faster.</a:t>
            </a:r>
            <a:endParaRPr lang="en-US" dirty="0"/>
          </a:p>
          <a:p>
            <a:r>
              <a:rPr lang="en-US" dirty="0"/>
              <a:t> * Mobility: the traces move users between gateways, so the load a node carries changes during the run.</a:t>
            </a:r>
            <a:endParaRPr lang="en-US" dirty="0"/>
          </a:p>
          <a:p>
            <a:r>
              <a:rPr lang="en-US" dirty="0"/>
              <a:t>HOW FAILURES ARE INTRODUCED:</a:t>
            </a:r>
            <a:endParaRPr lang="en-US" dirty="0"/>
          </a:p>
          <a:p>
            <a:r>
              <a:rPr lang="en-US" dirty="0"/>
              <a:t> * Say the limitation FIRST: there is no public failure trace for a fog topology like this. So we add our own</a:t>
            </a:r>
            <a:endParaRPr lang="en-US" dirty="0"/>
          </a:p>
          <a:p>
            <a:r>
              <a:rPr lang="en-US" dirty="0"/>
              <a:t>   fault-injection harness to iFogSim2.</a:t>
            </a:r>
            <a:endParaRPr lang="en-US" dirty="0"/>
          </a:p>
          <a:p>
            <a:r>
              <a:rPr lang="en-US" dirty="0"/>
              <a:t> * A node is failed using a HAZARD FUNCTION over the simulator's true internal state (load, energy, link).</a:t>
            </a:r>
            <a:endParaRPr lang="en-US" dirty="0"/>
          </a:p>
          <a:p>
            <a:r>
              <a:rPr lang="en-US" dirty="0"/>
              <a:t>   A hazard function is simply the instantaneous rate of failure given the node has survived so far - a</a:t>
            </a:r>
            <a:endParaRPr lang="en-US" dirty="0"/>
          </a:p>
          <a:p>
            <a:r>
              <a:rPr lang="en-US" dirty="0"/>
              <a:t>   stressed node is more likely to be killed at the next step. The record of what failed and when is our</a:t>
            </a:r>
            <a:endParaRPr lang="en-US" dirty="0"/>
          </a:p>
          <a:p>
            <a:r>
              <a:rPr lang="en-US" dirty="0"/>
              <a:t>   GROUND TRUTH for scoring predictions.</a:t>
            </a:r>
            <a:endParaRPr lang="en-US" dirty="0"/>
          </a:p>
          <a:p>
            <a:r>
              <a:rPr lang="en-US" dirty="0"/>
              <a:t> * THE KEY LINE: the Bayesian network never sees that internal state. It sees only telemetry - sampled at</a:t>
            </a:r>
            <a:endParaRPr lang="en-US" dirty="0"/>
          </a:p>
          <a:p>
            <a:r>
              <a:rPr lang="en-US" dirty="0"/>
              <a:t>   intervals, discretised, delayed and sometimes missing. So it is genuinely inferring, not reading the</a:t>
            </a:r>
            <a:endParaRPr lang="en-US" dirty="0"/>
          </a:p>
          <a:p>
            <a:r>
              <a:rPr lang="en-US" dirty="0"/>
              <a:t>   answer key. (This pre-empts the "isn't that circular?" question.)</a:t>
            </a:r>
            <a:endParaRPr lang="en-US" dirty="0"/>
          </a:p>
          <a:p>
            <a:r>
              <a:rPr lang="en-US" dirty="0"/>
              <a:t>CASES WE RUN: a baseline with no failures for reference numbers; single-node failures at the proxy and gateway</a:t>
            </a:r>
            <a:endParaRPr lang="en-US" dirty="0"/>
          </a:p>
          <a:p>
            <a:r>
              <a:rPr lang="en-US" dirty="0"/>
              <a:t>tiers under light and heavy load; runs with telemetry channels withheld (tests the marginalisation claim);</a:t>
            </a:r>
            <a:endParaRPr lang="en-US" dirty="0"/>
          </a:p>
          <a:p>
            <a:r>
              <a:rPr lang="en-US" dirty="0"/>
              <a:t>and runs with more users and mobility.</a:t>
            </a:r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(~75 sec)  THE POINT OF THIS TABLE: every input the network needs is something the simulator already</a:t>
            </a:r>
            <a:endParaRPr lang="en-US" dirty="0"/>
          </a:p>
          <a:p>
            <a:r>
              <a:rPr lang="en-US" dirty="0"/>
              <a:t>tracks. We are not assuming data we cannot get.</a:t>
            </a:r>
            <a:endParaRPr lang="en-US" dirty="0"/>
          </a:p>
          <a:p>
            <a:r>
              <a:rPr lang="en-US" dirty="0"/>
              <a:t>ROW BY ROW:</a:t>
            </a:r>
            <a:endParaRPr lang="en-US" dirty="0"/>
          </a:p>
          <a:p>
            <a:r>
              <a:rPr lang="en-US" dirty="0"/>
              <a:t> * CPU utilisation = allocated MIPS / the host's processing capacity, measured each scheduling interval.</a:t>
            </a:r>
            <a:endParaRPr lang="en-US" dirty="0"/>
          </a:p>
          <a:p>
            <a:r>
              <a:rPr lang="en-US" dirty="0"/>
              <a:t>   (2,100 used out of 2,800 = 0.75.)</a:t>
            </a:r>
            <a:endParaRPr lang="en-US" dirty="0"/>
          </a:p>
          <a:p>
            <a:r>
              <a:rPr lang="en-US" dirty="0"/>
              <a:t> * RAM utilisation - RamProvisionerSimple is the CloudSim/iFogSim class that hands memory to modules; ask it</a:t>
            </a:r>
            <a:endParaRPr lang="en-US" dirty="0"/>
          </a:p>
          <a:p>
            <a:r>
              <a:rPr lang="en-US" dirty="0"/>
              <a:t>   how much it has allocated against how much exists.</a:t>
            </a:r>
            <a:endParaRPr lang="en-US" dirty="0"/>
          </a:p>
          <a:p>
            <a:r>
              <a:rPr lang="en-US" dirty="0"/>
              <a:t> * Tuple queue depth - how many tuples are waiting on the device. A growing queue means the node cannot keep up.</a:t>
            </a:r>
            <a:endParaRPr lang="en-US" dirty="0"/>
          </a:p>
          <a:p>
            <a:r>
              <a:rPr lang="en-US" dirty="0"/>
              <a:t> * Uplink latency and jitter - the configured link latency plus queueing delay. Jitter is the variation in it.</a:t>
            </a:r>
            <a:endParaRPr lang="en-US" dirty="0"/>
          </a:p>
          <a:p>
            <a:r>
              <a:rPr lang="en-US" dirty="0"/>
              <a:t> * Residual energy - the FogDevice's cumulative energy consumption against a configured budget.</a:t>
            </a:r>
            <a:endParaRPr lang="en-US" dirty="0"/>
          </a:p>
          <a:p>
            <a:r>
              <a:rPr lang="en-US" dirty="0"/>
              <a:t> * Handover rate - how many times users were reassigned to a different parent in the last window. iFogSim2's</a:t>
            </a:r>
            <a:endParaRPr lang="en-US" dirty="0"/>
          </a:p>
          <a:p>
            <a:r>
              <a:rPr lang="en-US" dirty="0"/>
              <a:t>   LocationHandler tracks positions and parents.</a:t>
            </a:r>
            <a:endParaRPr lang="en-US" dirty="0"/>
          </a:p>
          <a:p>
            <a:r>
              <a:rPr lang="en-US" dirty="0"/>
              <a:t> * Node reliability prior - NOT measured. It is a starting belief from the device class (a cloud data centre is</a:t>
            </a:r>
            <a:endParaRPr lang="en-US" dirty="0"/>
          </a:p>
          <a:p>
            <a:r>
              <a:rPr lang="en-US" dirty="0"/>
              <a:t>   more reliable than a phone) and its configured MTBF.</a:t>
            </a:r>
            <a:endParaRPr lang="en-US" dirty="0"/>
          </a:p>
          <a:p>
            <a:r>
              <a:rPr lang="en-US" dirty="0"/>
              <a:t>THIRD COLUMN links back to the previous slide: CPU, RAM and queue depth all feed COMPUTATIONAL STRESS;</a:t>
            </a:r>
            <a:endParaRPr lang="en-US" dirty="0"/>
          </a:p>
          <a:p>
            <a:r>
              <a:rPr lang="en-US" dirty="0"/>
              <a:t>latency and handovers feed NETWORK DEGRADATION; energy feeds ENERGY STRESS.</a:t>
            </a:r>
            <a:endParaRPr lang="en-US" dirty="0"/>
          </a:p>
          <a:p>
            <a:r>
              <a:rPr lang="en-US" dirty="0"/>
              <a:t>TWO NOTES: everything is binned low/medium/high, and the bin edges come from the QUANTILES OF THE BASELINE</a:t>
            </a:r>
            <a:endParaRPr lang="en-US" dirty="0"/>
          </a:p>
          <a:p>
            <a:r>
              <a:rPr lang="en-US" dirty="0"/>
              <a:t>RUNS - so "high CPU" means high FOR THIS TOPOLOGY, not an arbitrary 80%. And thermal stress has no sensor in</a:t>
            </a:r>
            <a:endParaRPr lang="en-US" dirty="0"/>
          </a:p>
          <a:p>
            <a:r>
              <a:rPr lang="en-US" dirty="0"/>
              <a:t>iFogSim2, so we infer it from sustained utilisation. We state that openly rather than hide it.</a:t>
            </a:r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(~75 sec)</a:t>
            </a:r>
            <a:endParaRPr lang="en-US" dirty="0"/>
          </a:p>
          <a:p>
            <a:r>
              <a:rPr lang="en-US" dirty="0"/>
              <a:t>PREDICTION QUALITY - precision, recall and F1 within Delta-t; calibration (if we say 0.7, does it fail 70% of</a:t>
            </a:r>
            <a:endParaRPr lang="en-US" dirty="0"/>
          </a:p>
          <a:p>
            <a:r>
              <a:rPr lang="en-US" dirty="0"/>
              <a:t>the time?); lead time, because a prediction that arrives too late is worthless; and robustness when we</a:t>
            </a:r>
            <a:endParaRPr lang="en-US" dirty="0"/>
          </a:p>
          <a:p>
            <a:r>
              <a:rPr lang="en-US" dirty="0"/>
              <a:t>deliberately withhold telemetry channels.</a:t>
            </a:r>
            <a:endParaRPr lang="en-US" dirty="0"/>
          </a:p>
          <a:p>
            <a:r>
              <a:rPr lang="en-US" dirty="0"/>
              <a:t>SYSTEM QUALITY - mean and tail loop delay and the deadline-violation ratio; energy across cloud, fog and</a:t>
            </a:r>
            <a:endParaRPr lang="en-US" dirty="0"/>
          </a:p>
          <a:p>
            <a:r>
              <a:rPr lang="en-US" dirty="0"/>
              <a:t>device tiers; service downtime per injected failure; and redundancy overhead, meaning how much standby</a:t>
            </a:r>
            <a:endParaRPr lang="en-US" dirty="0"/>
          </a:p>
          <a:p>
            <a:r>
              <a:rPr lang="en-US" dirty="0"/>
              <a:t>capacity we reserved.</a:t>
            </a:r>
            <a:endParaRPr lang="en-US" dirty="0"/>
          </a:p>
          <a:p>
            <a:r>
              <a:rPr lang="en-US" dirty="0"/>
              <a:t>BASELINES - cloud-only; iFogSim2's own edgeward placement with no fault tolerance; reactive checkpointing and</a:t>
            </a:r>
            <a:endParaRPr lang="en-US" dirty="0"/>
          </a:p>
          <a:p>
            <a:r>
              <a:rPr lang="en-US" dirty="0"/>
              <a:t>replication [1]; and threshold-based proactive migration, FTAPA [3]. Baseline 4 is the important one: it</a:t>
            </a:r>
            <a:endParaRPr lang="en-US" dirty="0"/>
          </a:p>
          <a:p>
            <a:r>
              <a:rPr lang="en-US" dirty="0"/>
              <a:t>separates the benefit of PROBABILISTIC INFERENCE from the benefit of simply ACTING EARLY.</a:t>
            </a:r>
            <a:endParaRPr lang="en-US" dirty="0"/>
          </a:p>
          <a:p>
            <a:r>
              <a:rPr lang="en-US" dirty="0"/>
              <a:t>WORK PLAN - be precise and do not overstate. Done: the survey, the iFogSim2 environment, the baseline fog vs</a:t>
            </a:r>
            <a:endParaRPr lang="en-US" dirty="0"/>
          </a:p>
          <a:p>
            <a:r>
              <a:rPr lang="en-US" dirty="0"/>
              <a:t>cloud runs, and the framework design. Remaining: build and validate the network and its CPTs, the inference</a:t>
            </a:r>
            <a:endParaRPr lang="en-US" dirty="0"/>
          </a:p>
          <a:p>
            <a:r>
              <a:rPr lang="en-US" dirty="0"/>
              <a:t>engine and the fault-injection harness, the three policies, then the comparative evaluation. The BBN</a:t>
            </a:r>
            <a:endParaRPr lang="en-US" dirty="0"/>
          </a:p>
          <a:p>
            <a:r>
              <a:rPr lang="en-US" dirty="0"/>
              <a:t>implementation is Phase II - that is the plan, not a slip.</a:t>
            </a:r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(~10 sec)</a:t>
            </a:r>
            <a:endParaRPr lang="en-US" dirty="0"/>
          </a:p>
          <a:p>
            <a:r>
              <a:rPr lang="en-US" dirty="0"/>
              <a:t>These are our references: the six surveyed papers, plus the two iFogSim papers for the simulator itself.</a:t>
            </a:r>
            <a:endParaRPr lang="en-US" dirty="0"/>
          </a:p>
          <a:p>
            <a:r>
              <a:rPr lang="en-US" dirty="0"/>
              <a:t>Do not read them out. Move on unless asked.</a:t>
            </a:r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(~10 sec)</a:t>
            </a:r>
            <a:endParaRPr lang="en-US" dirty="0"/>
          </a:p>
          <a:p>
            <a:r>
              <a:rPr lang="en-US" dirty="0"/>
              <a:t>Thank you. We are happy to take questions.</a:t>
            </a:r>
            <a:endParaRPr lang="en-US" dirty="0"/>
          </a:p>
          <a:p>
            <a:r>
              <a:rPr lang="en-US" dirty="0"/>
              <a:t>MOST LIKELY QUESTIONS: where is your failure data (no public trace - we inject, and we say so); isn't it</a:t>
            </a:r>
            <a:endParaRPr lang="en-US" dirty="0"/>
          </a:p>
          <a:p>
            <a:r>
              <a:rPr lang="en-US" dirty="0"/>
              <a:t>circular (harness sees internal state, BBN sees only degraded telemetry); why not deep learning (no labelled</a:t>
            </a:r>
            <a:endParaRPr lang="en-US" dirty="0"/>
          </a:p>
          <a:p>
            <a:r>
              <a:rPr lang="en-US" dirty="0"/>
              <a:t>failure corpus exists, and it is not explainable); how do you get the CPTs (expert elicitation plus the</a:t>
            </a:r>
            <a:endParaRPr lang="en-US" dirty="0"/>
          </a:p>
          <a:p>
            <a:r>
              <a:rPr lang="en-US" dirty="0"/>
              <a:t>reliability literature, then online updating); what is the inference cost (about 13 variables, near-polytree,</a:t>
            </a:r>
            <a:endParaRPr lang="en-US" dirty="0"/>
          </a:p>
          <a:p>
            <a:r>
              <a:rPr lang="en-US" dirty="0"/>
              <a:t>milliseconds, once per node per epoch, not per tuple); what if the controller fails (fog nodes fall back to</a:t>
            </a:r>
            <a:endParaRPr lang="en-US" dirty="0"/>
          </a:p>
          <a:p>
            <a:r>
              <a:rPr lang="en-US" dirty="0"/>
              <a:t>their last placement; CPTs are synced to the cloud; distributed inference is future work).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914400" y="22860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1B57B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1828800" y="38100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Verdana" panose="020B0804030504040204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 panose="020B0804030504040204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 panose="020B0804030504040204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9pPr>
          </a:lstStyle>
          <a:p/>
        </p:txBody>
      </p:sp>
      <p:sp>
        <p:nvSpPr>
          <p:cNvPr id="27" name="Google Shape;27;p6"/>
          <p:cNvSpPr txBox="1"/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9pPr>
          </a:lstStyle>
          <a:p/>
        </p:txBody>
      </p:sp>
      <p:sp>
        <p:nvSpPr>
          <p:cNvPr id="28" name="Google Shape;28;p6"/>
          <p:cNvSpPr txBox="1"/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9pPr>
          </a:lstStyle>
          <a:p/>
        </p:txBody>
      </p:sp>
      <p:sp>
        <p:nvSpPr>
          <p:cNvPr id="29" name="Google Shape;29;p6"/>
          <p:cNvSpPr txBox="1"/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 panose="020B0804030504040204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 panose="020B0804030504040204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9pPr>
          </a:lstStyle>
          <a:p/>
        </p:txBody>
      </p:sp>
      <p:sp>
        <p:nvSpPr>
          <p:cNvPr id="36" name="Google Shape;36;p9"/>
          <p:cNvSpPr txBox="1"/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 panose="020B0804030504040204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 panose="020B0804030504040204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/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0"/>
          <p:cNvSpPr txBox="1"/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 panose="020B0804030504040204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 panose="020B0804030504040204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matchingName="Title Slid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4"/>
          <p:cNvSpPr txBox="1"/>
          <p:nvPr>
            <p:ph type="ctrTitle"/>
          </p:nvPr>
        </p:nvSpPr>
        <p:spPr>
          <a:xfrm>
            <a:off x="914400" y="22860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1B57B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type="subTitle" idx="1"/>
          </p:nvPr>
        </p:nvSpPr>
        <p:spPr>
          <a:xfrm>
            <a:off x="1828800" y="38100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Verdana" panose="020B0804030504040204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 panose="020B0804030504040204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9pPr>
          </a:lstStyle>
          <a:p/>
        </p:txBody>
      </p:sp>
      <p:sp>
        <p:nvSpPr>
          <p:cNvPr id="65" name="Google Shape;65;p17"/>
          <p:cNvSpPr txBox="1"/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 panose="020B0804030504040204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9pPr>
          </a:lstStyle>
          <a:p/>
        </p:txBody>
      </p:sp>
      <p:sp>
        <p:nvSpPr>
          <p:cNvPr id="69" name="Google Shape;69;p18"/>
          <p:cNvSpPr txBox="1"/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9pPr>
          </a:lstStyle>
          <a:p/>
        </p:txBody>
      </p:sp>
      <p:sp>
        <p:nvSpPr>
          <p:cNvPr id="70" name="Google Shape;70;p18"/>
          <p:cNvSpPr txBox="1"/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9pPr>
          </a:lstStyle>
          <a:p/>
        </p:txBody>
      </p:sp>
      <p:sp>
        <p:nvSpPr>
          <p:cNvPr id="71" name="Google Shape;71;p18"/>
          <p:cNvSpPr txBox="1"/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 panose="020B0804030504040204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 panose="020B0804030504040204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9pPr>
          </a:lstStyle>
          <a:p/>
        </p:txBody>
      </p:sp>
      <p:sp>
        <p:nvSpPr>
          <p:cNvPr id="78" name="Google Shape;78;p21"/>
          <p:cNvSpPr txBox="1"/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 panose="020B0804030504040204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 panose="020B0804030504040204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/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22"/>
          <p:cNvSpPr txBox="1"/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 panose="020B0804030504040204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 panose="020B0804030504040204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4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4"/>
          <p:cNvSpPr txBox="1"/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 panose="020B0804030504040204"/>
              <a:buChar char="•"/>
              <a:defRPr sz="32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 panose="020B0804030504040204"/>
              <a:buChar char="–"/>
              <a:defRPr sz="28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9pPr>
          </a:lstStyle>
          <a:p/>
        </p:txBody>
      </p:sp>
      <p:sp>
        <p:nvSpPr>
          <p:cNvPr id="49" name="Google Shape;49;p13"/>
          <p:cNvSpPr txBox="1"/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 panose="020B0804030504040204"/>
              <a:buChar char="•"/>
              <a:defRPr sz="32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 panose="020B0804030504040204"/>
              <a:buChar char="–"/>
              <a:defRPr sz="28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9pPr>
          </a:lstStyle>
          <a:p/>
        </p:txBody>
      </p:sp>
      <p:pic>
        <p:nvPicPr>
          <p:cNvPr id="50" name="Google Shape;50;p13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18288"/>
            <a:ext cx="12191695" cy="1444752"/>
          </a:xfrm>
          <a:prstGeom prst="rect">
            <a:avLst/>
          </a:prstGeom>
          <a:solidFill>
            <a:srgbClr val="335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847088"/>
            <a:ext cx="10543032" cy="1188720"/>
          </a:xfrm>
        </p:spPr>
        <p:txBody>
          <a:bodyPr wrap="square" anchor="ctr"/>
          <a:lstStyle/>
          <a:p>
            <a:pPr algn="ctr">
              <a:lnSpc>
                <a:spcPct val="108000"/>
              </a:lnSpc>
            </a:pPr>
            <a:r>
              <a:rPr sz="2700" b="1">
                <a:solidFill>
                  <a:srgbClr val="004890"/>
                </a:solidFill>
                <a:latin typeface="Arial" panose="020B0604020202090204"/>
              </a:rPr>
              <a:t>Bayesian Belief Network-Driven Proactive Fault Tolerance
for Microservice Placement in Fog Computing</a:t>
            </a:r>
            <a:endParaRPr sz="27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728655" cy="8686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 panose="020B0604020202090204"/>
              </a:rPr>
              <a:t>UG PROJECT WORK — PHASE I   |   REVIEW I</a:t>
            </a:r>
            <a:endParaRPr sz="15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62895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A6675"/>
                </a:solidFill>
                <a:latin typeface="Arial" panose="020B0604020202090204"/>
              </a:rPr>
              <a:t>PRESENTED BY</a:t>
            </a:r>
            <a:endParaRPr sz="1100" b="1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20190" y="3547872"/>
            <a:ext cx="10362895" cy="3429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500" b="0" i="0">
                <a:solidFill>
                  <a:srgbClr val="1A2332"/>
                </a:solidFill>
                <a:latin typeface="Arial" panose="020B0604020202090204"/>
              </a:rPr>
              <a:t>Mohit R</a:t>
            </a:r>
            <a:r>
              <a:rPr sz="1500" b="0" i="0">
                <a:solidFill>
                  <a:srgbClr val="1A2332"/>
                </a:solidFill>
                <a:latin typeface="Arial" panose="020B0604020202090204"/>
              </a:rPr>
              <a:t>  —  </a:t>
            </a:r>
            <a:r>
              <a:rPr lang="en-US" sz="1500" b="0" i="0">
                <a:solidFill>
                  <a:srgbClr val="1A2332"/>
                </a:solidFill>
                <a:latin typeface="Arial" panose="020B0604020202090204"/>
              </a:rPr>
              <a:t>3122235002072</a:t>
            </a:r>
            <a:r>
              <a:rPr sz="1500" b="0" i="0">
                <a:solidFill>
                  <a:srgbClr val="1A2332"/>
                </a:solidFill>
                <a:latin typeface="Arial" panose="020B0604020202090204"/>
              </a:rPr>
              <a:t>        </a:t>
            </a:r>
            <a:r>
              <a:rPr lang="en-US" sz="1500" b="0" i="0">
                <a:solidFill>
                  <a:srgbClr val="1A2332"/>
                </a:solidFill>
                <a:latin typeface="Arial" panose="020B0604020202090204"/>
              </a:rPr>
              <a:t>Rahul Akshath Rajendran</a:t>
            </a:r>
            <a:r>
              <a:rPr sz="1500" b="0" i="0">
                <a:solidFill>
                  <a:srgbClr val="1A2332"/>
                </a:solidFill>
                <a:latin typeface="Arial" panose="020B0604020202090204"/>
              </a:rPr>
              <a:t>  —  </a:t>
            </a:r>
            <a:r>
              <a:rPr lang="en-US" sz="1500" b="0" i="0">
                <a:solidFill>
                  <a:srgbClr val="1A2332"/>
                </a:solidFill>
                <a:latin typeface="Arial" panose="020B0604020202090204"/>
              </a:rPr>
              <a:t>3122235002095</a:t>
            </a:r>
            <a:endParaRPr lang="en-US" sz="15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4224528"/>
            <a:ext cx="10362895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A6675"/>
                </a:solidFill>
                <a:latin typeface="Arial" panose="020B0604020202090204"/>
              </a:rPr>
              <a:t>PROJECT GUIDE</a:t>
            </a:r>
            <a:endParaRPr sz="1100" b="1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10362895" cy="285115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0" i="0">
                <a:solidFill>
                  <a:srgbClr val="1A2332"/>
                </a:solidFill>
                <a:latin typeface="Arial" panose="020B0604020202090204"/>
              </a:rPr>
              <a:t>Dr. Sabireen H</a:t>
            </a:r>
            <a:r>
              <a:rPr sz="1500" b="0" i="0">
                <a:solidFill>
                  <a:srgbClr val="1A2332"/>
                </a:solidFill>
                <a:latin typeface="Arial" panose="020B0604020202090204"/>
              </a:rPr>
              <a:t>, </a:t>
            </a:r>
            <a:r>
              <a:rPr lang="en-US" sz="1500" b="0" i="0">
                <a:solidFill>
                  <a:srgbClr val="1A2332"/>
                </a:solidFill>
                <a:latin typeface="Arial" panose="020B0604020202090204"/>
              </a:rPr>
              <a:t>Assistant Professor</a:t>
            </a:r>
            <a:endParaRPr lang="en-US" sz="15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64327" y="4956048"/>
            <a:ext cx="1463040" cy="27432"/>
          </a:xfrm>
          <a:prstGeom prst="rect">
            <a:avLst/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5A6675"/>
                </a:solidFill>
                <a:latin typeface="Arial" panose="020B0604020202090204"/>
              </a:rPr>
              <a:t>Department of Information Technology</a:t>
            </a:r>
            <a:endParaRPr sz="1300" b="0" i="0">
              <a:solidFill>
                <a:srgbClr val="5A6675"/>
              </a:solidFill>
              <a:latin typeface="Arial" panose="020B0604020202090204"/>
            </a:endParaRPr>
          </a:p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5A6675"/>
                </a:solidFill>
                <a:latin typeface="Arial" panose="020B0604020202090204"/>
              </a:rPr>
              <a:t>SSN College of Engineering, Kalavakkam</a:t>
            </a:r>
            <a:endParaRPr sz="1300" b="0" i="0">
              <a:solidFill>
                <a:srgbClr val="5A6675"/>
              </a:solidFill>
              <a:latin typeface="Arial" panose="020B0604020202090204"/>
            </a:endParaRPr>
          </a:p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5A6675"/>
                </a:solidFill>
                <a:latin typeface="Arial" panose="020B0604020202090204"/>
              </a:rPr>
              <a:t>20 August 2026</a:t>
            </a:r>
            <a:endParaRPr sz="1300" b="0" i="0">
              <a:solidFill>
                <a:srgbClr val="5A6675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Problem Statement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12648" y="1225296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What goes wrong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612648" y="1554480"/>
            <a:ext cx="10972800" cy="137160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Fog nodes host latency-critical work, but they are ordinary hardware in uncontrolled places and fail far more often than data-centre servers.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When a node fails, the microservice it hosts is lost and the deadline of a critical service is missed.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Checkpointing, retransmission and heartbeat failover are reactive: recovery starts only after the fault has occurred.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612648" y="320040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Why it is hard to prevent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612648" y="3529584"/>
            <a:ext cx="10972800" cy="137160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Proactive methods compare one measurement against a fixed threshold, so they fire on harmless load spikes and miss other degradation.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Node health cannot be measured directly. It is inferred from noisy measurements, some missing when the node is closest to failing.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A Bayesian Belief Network fits this: no failure data needed, missing evidence marginalised, and the risk condition reported.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612648" y="5486400"/>
            <a:ext cx="10972800" cy="73152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</a:pPr>
            <a:r>
              <a:rPr sz="1400" b="1" i="0">
                <a:solidFill>
                  <a:srgbClr val="1A2332"/>
                </a:solidFill>
                <a:latin typeface="Arial" panose="020B0604020202090204"/>
              </a:rPr>
              <a:t>•  Problem statement:  </a:t>
            </a: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no existing fog fault-tolerance mechanism estimates the probability that a node will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     fail within a given time, or uses that probability to decide placement, migration and redundancy.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Introduction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12648" y="132588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Why fog computing is used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612648" y="1655064"/>
            <a:ext cx="10972800" cy="109728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IoT applications such as cardiac monitoring and video surveillance must react within tens of milliseconds.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Sending every reading to a distant cloud data centre cannot meet that deadline.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Fog computing runs the application modules on gateways, routers and base stations, close to the sensor.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612648" y="306324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Why fog nodes are unreliable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612648" y="3392424"/>
            <a:ext cx="10972800" cy="109728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A fog node is ordinary hardware in an uncontrolled location, sharing a limited uplink and often on battery.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Mobile users move from one node to another, so the load each node carries keeps changing.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Such nodes fail far more often than data-centre servers, and one failure can break a critical deadline.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612648" y="480060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Why the failure can be anticipated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612648" y="5129784"/>
            <a:ext cx="10972800" cy="109728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Nodes seldom fail without warning. Utilisation rises, queues grow, links deteriorate and energy drains first.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This leaves a short window in which a microservice can be moved before the node stops responding.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This project predicts failure inside that window and uses it to place, migrate and replicate modules.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Literature Survey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graphicFrame>
        <p:nvGraphicFramePr>
          <p:cNvPr id="4" name="Table 2"/>
          <p:cNvGraphicFramePr>
            <a:graphicFrameLocks noGrp="1"/>
          </p:cNvGraphicFramePr>
          <p:nvPr/>
        </p:nvGraphicFramePr>
        <p:xfrm>
          <a:off x="612648" y="1225296"/>
          <a:ext cx="109728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Paper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Approach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Main finding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[1]  “Dynamic fault tolerance aware scheduling for healthcare system on fog computing”
2021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Weighted round-robin scheduling, checkpointing when CPU use passes 0.2, primary-backup replication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Load-aware scheduling raises throughput; adaptive checkpointing costs less than fixed intervals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[2]  “Fault tolerance mechanism for software application through fog computing as middleware”
2016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Fog middleware that polls the server with heartbeats and switches to a replicated backup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Failover can be made invisible to the user; recovered three of four test scenarios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[3]  “Optimized fault-tolerant placement of microservices in distributed fog networks”
2025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FTAPA: load-balanced primary node, a pre-selected backup, migration on a health threshold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Moving a microservice before its host fails measurably reduces service downtime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[4]  “Using Bayesian networks to predict software defects and reliability”
2007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Bayesian networks predicting software defects from causal factors and measurement data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Expert judgement and measured data can be combined; used at Motorola, Siemens and Philips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[5]  “Overview on Bayesian networks applications for dependability, risk analysis and maintenance areas”
2012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Survey of ten years of Bayesian network use in dependability, risk and maintenance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Bayesian networks suit heterogeneous variables better than fault trees and Markov chains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[6]  “Bayesian networks in environmental modelling”
2011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Review of Bayesian networks applied to environmental modelling under sparse observation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Inference still produces a usable result when part of the evidence is missing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Research Gap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12648" y="1280160"/>
            <a:ext cx="10972800" cy="393192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1100"/>
              </a:spcAft>
            </a:pPr>
            <a:r>
              <a:rPr sz="1400" b="1" i="0">
                <a:solidFill>
                  <a:srgbClr val="003060"/>
                </a:solidFill>
                <a:latin typeface="Arial" panose="020B0604020202090204"/>
              </a:rPr>
              <a:t>•  [1] “Dynamic fault tolerance aware scheduling for healthcare system on fog computing”.  </a:t>
            </a: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The CPU threshold is fixed and ignores the workload, and a backup is stored for every task.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1100"/>
              </a:spcAft>
            </a:pPr>
            <a:r>
              <a:rPr sz="1400" b="1" i="0">
                <a:solidFill>
                  <a:srgbClr val="003060"/>
                </a:solidFill>
                <a:latin typeface="Arial" panose="020B0604020202090204"/>
              </a:rPr>
              <a:t>•  [2] “Fault tolerance mechanism for software application through fog computing as middleware”.  </a:t>
            </a: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Recovery begins only after the server stops answering, and a single backup is kept.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1100"/>
              </a:spcAft>
            </a:pPr>
            <a:r>
              <a:rPr sz="1400" b="1" i="0">
                <a:solidFill>
                  <a:srgbClr val="003060"/>
                </a:solidFill>
                <a:latin typeface="Arial" panose="020B0604020202090204"/>
              </a:rPr>
              <a:t>•  [3] “Optimized fault-tolerant placement of microservices in distributed fog networks”.  </a:t>
            </a: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The fault threshold is hard to set, and a backup node is reserved for every microservice.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1100"/>
              </a:spcAft>
            </a:pPr>
            <a:r>
              <a:rPr sz="1400" b="1" i="0">
                <a:solidFill>
                  <a:srgbClr val="003060"/>
                </a:solidFill>
                <a:latin typeface="Arial" panose="020B0604020202090204"/>
              </a:rPr>
              <a:t>•  [4] “Using Bayesian networks to predict software defects and reliability”.  </a:t>
            </a: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Built for software processes, not running infrastructure, and the tables are never updated online.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1100"/>
              </a:spcAft>
            </a:pPr>
            <a:r>
              <a:rPr sz="1400" b="1" i="0">
                <a:solidFill>
                  <a:srgbClr val="003060"/>
                </a:solidFill>
                <a:latin typeface="Arial" panose="020B0604020202090204"/>
              </a:rPr>
              <a:t>•  [5] “Overview on Bayesian networks applications for dependability, risk analysis and maintenance areas”.  </a:t>
            </a: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Covers industrial plants, not fog computing, where telemetry is often incomplete.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1100"/>
              </a:spcAft>
            </a:pPr>
            <a:r>
              <a:rPr sz="1400" b="1" i="0">
                <a:solidFill>
                  <a:srgbClr val="003060"/>
                </a:solidFill>
                <a:latin typeface="Arial" panose="020B0604020202090204"/>
              </a:rPr>
              <a:t>•  [6] “Bayesian networks in environmental modelling”.  </a:t>
            </a: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No decision has to be taken within a deadline, so nothing is placed or migrated in real time.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612648" y="5303520"/>
            <a:ext cx="10972800" cy="73152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</a:pPr>
            <a:r>
              <a:rPr sz="1400" b="1" i="0">
                <a:solidFill>
                  <a:srgbClr val="1A2332"/>
                </a:solidFill>
                <a:latin typeface="Arial" panose="020B0604020202090204"/>
              </a:rPr>
              <a:t>•  Common gap:  </a:t>
            </a: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none of them estimates the probability that a fog node will fail, or uses such an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     estimate to decide placement, migration and redundancy.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Objectives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12648" y="128016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Objective 1:  Estimate the failure of a fog node as a probability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612648" y="1609344"/>
            <a:ext cx="10972800" cy="118872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Infer, for every node, the probability of failure within a look-ahead horizon Δt.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Use whatever telemetry is available at the time, and marginalise over the rest.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Assessed by precision, recall, calibration and the lead time before the failure.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612648" y="301752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Objective 2:  Use that probability to place and migrate microservices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612648" y="3346704"/>
            <a:ext cx="10972800" cy="118872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Score candidate nodes on latency, energy and failure risk before a module is placed.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Move a running module only when the expected loss of staying exceeds the cost of moving.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Assessed by loop delay, deadline violations and downtime against the baselines.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612648" y="475488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Objective 3:  Allocate redundancy by risk and application criticality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612648" y="5084064"/>
            <a:ext cx="10972800" cy="118872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Set each module's redundancy from its predicted risk and its application's criticality.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Assessed by the downtime obtained for a given amount of reserved standby capacity.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Proposed Novelties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12648" y="128016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Novelty 1 (Objective 1):  a causal Bayesian Belief Network over node health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612648" y="1609344"/>
            <a:ext cx="10972800" cy="118872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Failure is expressed as a probability, not a threshold crossing or a binary alarm.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Evidence missing at a decision epoch is marginalised out, so a prediction is still produced.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The network is causal, so it also reports which condition is behind the estimate.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612648" y="301752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Novelty 2 (Objective 2):  expected-loss migration in place of a fixed threshold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612648" y="3346704"/>
            <a:ext cx="10972800" cy="118872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The probability enters a utility over latency, energy and risk that ranks candidate nodes.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A module is moved only when the expected loss from staying exceeds the cost of moving it.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The effective threshold follows from the cost ratio, so it differs from module to module.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612648" y="475488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Novelty 3 (Objective 3):  redundancy that follows risk and criticality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612648" y="5084064"/>
            <a:ext cx="10972800" cy="118872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Redundancy is a resource to be spent, not a backup reserved for every module.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Modules go into warm-standby, checkpoint-only or no-redundancy tiers by risk × criticality.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Tiers are recomputed as the probabilities change, so capacity follows the risk over time.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Methodology — System Architecture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5A6675"/>
                </a:solidFill>
                <a:latin typeface="Arial" panose="020B0604020202090204"/>
              </a:rPr>
              <a:t>The Proactive Fault-Tolerance Controller sits at the proxy tier, above a cluster of fog nodes</a:t>
            </a:r>
            <a:endParaRPr sz="1250" b="0" i="1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2648" y="1335024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810512"/>
            <a:ext cx="1783080" cy="2761488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016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4088" y="1856231"/>
            <a:ext cx="1600200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A6675"/>
                </a:solidFill>
                <a:latin typeface="Arial" panose="020B0604020202090204"/>
              </a:rPr>
              <a:t>IoT / End Devices</a:t>
            </a:r>
            <a:endParaRPr sz="950" b="0" i="1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13232" y="2066543"/>
            <a:ext cx="1581912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Health Sensors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(ECG / EEG)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13232" y="2889503"/>
            <a:ext cx="1581912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Surveillance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Cameras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232" y="3712463"/>
            <a:ext cx="1581912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Mobile Users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(handover)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450592" y="3054096"/>
            <a:ext cx="310896" cy="274320"/>
          </a:xfrm>
          <a:prstGeom prst="rightArrow">
            <a:avLst/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743200"/>
            <a:ext cx="64008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5A6675"/>
                </a:solidFill>
                <a:latin typeface="Arial" panose="020B0604020202090204"/>
              </a:rPr>
              <a:t>tuples</a:t>
            </a:r>
            <a:endParaRPr sz="900" b="0" i="1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807208" y="1810512"/>
            <a:ext cx="1965960" cy="2761488"/>
          </a:xfrm>
          <a:prstGeom prst="roundRect">
            <a:avLst>
              <a:gd name="adj" fmla="val 8000"/>
            </a:avLst>
          </a:prstGeom>
          <a:solidFill>
            <a:srgbClr val="E9F4EE"/>
          </a:solidFill>
          <a:ln w="1016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98648" y="1856231"/>
            <a:ext cx="1783080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A6675"/>
                </a:solidFill>
                <a:latin typeface="Arial" panose="020B0604020202090204"/>
              </a:rPr>
              <a:t>Fog Layer</a:t>
            </a:r>
            <a:endParaRPr sz="950" b="0" i="1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907791" y="2066543"/>
            <a:ext cx="1764792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Fog Node 1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+ Telemetry Agent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907791" y="2889503"/>
            <a:ext cx="1764792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Fog Node 2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+ Telemetry Agent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907791" y="3712463"/>
            <a:ext cx="1764792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Fog Node n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+ Telemetry Agent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4818888" y="2286000"/>
            <a:ext cx="384048" cy="274320"/>
          </a:xfrm>
          <a:prstGeom prst="rightArrow">
            <a:avLst/>
          </a:prstGeom>
          <a:solidFill>
            <a:srgbClr val="1E7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1639" y="2110867"/>
            <a:ext cx="585216" cy="177165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>
                <a:solidFill>
                  <a:srgbClr val="1E7A47"/>
                </a:solidFill>
                <a:latin typeface="Arial" panose="020B0604020202090204"/>
              </a:rPr>
              <a:t>telemetry</a:t>
            </a:r>
            <a:endParaRPr sz="800" b="0" i="1">
              <a:solidFill>
                <a:srgbClr val="1E7A47"/>
              </a:solidFill>
              <a:latin typeface="Arial" panose="020B0604020202090204"/>
            </a:endParaRPr>
          </a:p>
        </p:txBody>
      </p:sp>
      <p:sp>
        <p:nvSpPr>
          <p:cNvPr id="19" name="Left Arrow 18"/>
          <p:cNvSpPr/>
          <p:nvPr/>
        </p:nvSpPr>
        <p:spPr>
          <a:xfrm>
            <a:off x="4818888" y="3840480"/>
            <a:ext cx="384048" cy="274320"/>
          </a:xfrm>
          <a:prstGeom prst="leftArrow">
            <a:avLst/>
          </a:prstGeom>
          <a:solidFill>
            <a:srgbClr val="B23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76775" y="4112132"/>
            <a:ext cx="694944" cy="311785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 i="1">
                <a:solidFill>
                  <a:srgbClr val="B23A3E"/>
                </a:solidFill>
                <a:latin typeface="Arial" panose="020B0604020202090204"/>
              </a:rPr>
              <a:t>migrate /</a:t>
            </a:r>
            <a:endParaRPr sz="800" b="0" i="1">
              <a:solidFill>
                <a:srgbClr val="B23A3E"/>
              </a:solidFill>
              <a:latin typeface="Arial" panose="020B0604020202090204"/>
            </a:endParaRPr>
          </a:p>
          <a:p>
            <a:pPr algn="ctr">
              <a:lnSpc>
                <a:spcPct val="105000"/>
              </a:lnSpc>
            </a:pPr>
            <a:r>
              <a:rPr sz="800" b="0" i="1">
                <a:solidFill>
                  <a:srgbClr val="B23A3E"/>
                </a:solidFill>
                <a:latin typeface="Arial" panose="020B0604020202090204"/>
              </a:rPr>
              <a:t>replicate</a:t>
            </a:r>
            <a:endParaRPr sz="800" b="0" i="1">
              <a:solidFill>
                <a:srgbClr val="B23A3E"/>
              </a:solidFill>
              <a:latin typeface="Arial" panose="020B060402020209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276088" y="1591056"/>
            <a:ext cx="4160520" cy="3127248"/>
          </a:xfrm>
          <a:prstGeom prst="roundRect">
            <a:avLst>
              <a:gd name="adj" fmla="val 8000"/>
            </a:avLst>
          </a:prstGeom>
          <a:solidFill>
            <a:srgbClr val="FBF3E4"/>
          </a:solidFill>
          <a:ln w="16510">
            <a:solidFill>
              <a:srgbClr val="A85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85816" y="1682496"/>
            <a:ext cx="3941063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A85D00"/>
                </a:solidFill>
                <a:latin typeface="Arial" panose="020B0604020202090204"/>
              </a:rPr>
              <a:t>Proactive Fault-Tolerance Controller</a:t>
            </a:r>
            <a:endParaRPr sz="1250" b="1" i="0">
              <a:solidFill>
                <a:srgbClr val="A85D00"/>
              </a:solidFill>
              <a:latin typeface="Arial" panose="020B060402020209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352415" y="1962785"/>
            <a:ext cx="3401060" cy="4025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6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Telemetry Pre-processing &amp; Discretisation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4" name="Down Arrow 23"/>
          <p:cNvSpPr/>
          <p:nvPr/>
        </p:nvSpPr>
        <p:spPr>
          <a:xfrm>
            <a:off x="7086600" y="2381250"/>
            <a:ext cx="219456" cy="146304"/>
          </a:xfrm>
          <a:prstGeom prst="downArrow">
            <a:avLst/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345430" y="2548255"/>
            <a:ext cx="3416300" cy="567055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6000"/>
              </a:lnSpc>
            </a:pPr>
            <a:r>
              <a:rPr sz="1050" b="1" i="0">
                <a:solidFill>
                  <a:srgbClr val="1A2332"/>
                </a:solidFill>
                <a:latin typeface="Arial" panose="020B0604020202090204"/>
              </a:rPr>
              <a:t>N1  |  BBN Inference Engine</a:t>
            </a:r>
            <a:endParaRPr sz="1050" b="1" i="0">
              <a:solidFill>
                <a:srgbClr val="1A2332"/>
              </a:solidFill>
              <a:latin typeface="Arial" panose="020B0604020202090204"/>
            </a:endParaRPr>
          </a:p>
          <a:p>
            <a:pPr algn="ctr">
              <a:lnSpc>
                <a:spcPct val="106000"/>
              </a:lnSpc>
            </a:pPr>
            <a:r>
              <a:rPr sz="1050" b="1" i="0">
                <a:solidFill>
                  <a:srgbClr val="1A2332"/>
                </a:solidFill>
                <a:latin typeface="Arial" panose="020B0604020202090204"/>
              </a:rPr>
              <a:t>P(Fail | evidence)</a:t>
            </a:r>
            <a:endParaRPr sz="105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6" name="Down Arrow 25"/>
          <p:cNvSpPr/>
          <p:nvPr/>
        </p:nvSpPr>
        <p:spPr>
          <a:xfrm>
            <a:off x="7086600" y="3130423"/>
            <a:ext cx="219456" cy="146304"/>
          </a:xfrm>
          <a:prstGeom prst="downArrow">
            <a:avLst/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45430" y="3296285"/>
            <a:ext cx="3416935" cy="567055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6000"/>
              </a:lnSpc>
            </a:pPr>
            <a:r>
              <a:rPr sz="1050" b="1" i="0">
                <a:solidFill>
                  <a:srgbClr val="1A2332"/>
                </a:solidFill>
                <a:latin typeface="Arial" panose="020B0604020202090204"/>
              </a:rPr>
              <a:t>N2  |  Risk-Aware Placement &amp;</a:t>
            </a:r>
            <a:endParaRPr sz="1050" b="1" i="0">
              <a:solidFill>
                <a:srgbClr val="1A2332"/>
              </a:solidFill>
              <a:latin typeface="Arial" panose="020B0604020202090204"/>
            </a:endParaRPr>
          </a:p>
          <a:p>
            <a:pPr algn="ctr">
              <a:lnSpc>
                <a:spcPct val="106000"/>
              </a:lnSpc>
            </a:pPr>
            <a:r>
              <a:rPr sz="1050" b="1" i="0">
                <a:solidFill>
                  <a:srgbClr val="1A2332"/>
                </a:solidFill>
                <a:latin typeface="Arial" panose="020B0604020202090204"/>
              </a:rPr>
              <a:t>Expected-Loss Migration</a:t>
            </a:r>
            <a:endParaRPr sz="105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8" name="Down Arrow 27"/>
          <p:cNvSpPr/>
          <p:nvPr/>
        </p:nvSpPr>
        <p:spPr>
          <a:xfrm>
            <a:off x="7086600" y="3885311"/>
            <a:ext cx="219456" cy="146304"/>
          </a:xfrm>
          <a:prstGeom prst="downArrow">
            <a:avLst/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359400" y="4040505"/>
            <a:ext cx="3401695" cy="567055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6000"/>
              </a:lnSpc>
            </a:pPr>
            <a:r>
              <a:rPr sz="1050" b="1" i="0">
                <a:solidFill>
                  <a:srgbClr val="1A2332"/>
                </a:solidFill>
                <a:latin typeface="Arial" panose="020B0604020202090204"/>
              </a:rPr>
              <a:t>N3  |  Criticality-Aware</a:t>
            </a:r>
            <a:endParaRPr sz="1050" b="1" i="0">
              <a:solidFill>
                <a:srgbClr val="1A2332"/>
              </a:solidFill>
              <a:latin typeface="Arial" panose="020B0604020202090204"/>
            </a:endParaRPr>
          </a:p>
          <a:p>
            <a:pPr algn="ctr">
              <a:lnSpc>
                <a:spcPct val="106000"/>
              </a:lnSpc>
            </a:pPr>
            <a:r>
              <a:rPr sz="1050" b="1" i="0">
                <a:solidFill>
                  <a:srgbClr val="1A2332"/>
                </a:solidFill>
                <a:latin typeface="Arial" panose="020B0604020202090204"/>
              </a:rPr>
              <a:t>Selective Replication</a:t>
            </a:r>
            <a:endParaRPr sz="105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909685" y="2466975"/>
            <a:ext cx="460375" cy="1737360"/>
          </a:xfrm>
          <a:prstGeom prst="roundRect">
            <a:avLst>
              <a:gd name="adj" fmla="val 32000"/>
            </a:avLst>
          </a:prstGeom>
          <a:noFill/>
          <a:ln w="11430">
            <a:solidFill>
              <a:srgbClr val="5A66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865870" y="2713355"/>
            <a:ext cx="539115" cy="6604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5000"/>
              </a:lnSpc>
            </a:pPr>
            <a:endParaRPr sz="750" b="0" i="1">
              <a:solidFill>
                <a:srgbClr val="5A6675"/>
              </a:solidFill>
              <a:latin typeface="Arial" panose="020B0604020202090204"/>
            </a:endParaRPr>
          </a:p>
          <a:p>
            <a:pPr algn="ctr">
              <a:lnSpc>
                <a:spcPct val="105000"/>
              </a:lnSpc>
            </a:pPr>
            <a:endParaRPr sz="750" b="0" i="1">
              <a:solidFill>
                <a:srgbClr val="5A6675"/>
              </a:solidFill>
              <a:latin typeface="Arial" panose="020B0604020202090204"/>
            </a:endParaRPr>
          </a:p>
          <a:p>
            <a:pPr algn="ctr">
              <a:lnSpc>
                <a:spcPct val="105000"/>
              </a:lnSpc>
            </a:pPr>
            <a:endParaRPr sz="750" b="0" i="1">
              <a:solidFill>
                <a:srgbClr val="5A6675"/>
              </a:solidFill>
              <a:latin typeface="Arial" panose="020B0604020202090204"/>
            </a:endParaRPr>
          </a:p>
          <a:p>
            <a:pPr algn="ctr">
              <a:lnSpc>
                <a:spcPct val="105000"/>
              </a:lnSpc>
            </a:pPr>
            <a:r>
              <a:rPr sz="750" b="0" i="1">
                <a:solidFill>
                  <a:srgbClr val="5A6675"/>
                </a:solidFill>
                <a:latin typeface="Arial" panose="020B0604020202090204"/>
              </a:rPr>
              <a:t>obser</a:t>
            </a:r>
            <a:r>
              <a:rPr lang="en-US" sz="750" b="0" i="1">
                <a:solidFill>
                  <a:srgbClr val="5A6675"/>
                </a:solidFill>
                <a:latin typeface="Arial" panose="020B0604020202090204"/>
              </a:rPr>
              <a:t>v</a:t>
            </a:r>
            <a:r>
              <a:rPr sz="750" b="0" i="1">
                <a:solidFill>
                  <a:srgbClr val="5A6675"/>
                </a:solidFill>
                <a:latin typeface="Arial" panose="020B0604020202090204"/>
              </a:rPr>
              <a:t>e</a:t>
            </a:r>
            <a:r>
              <a:rPr lang="en-US" sz="750" b="0" i="1">
                <a:solidFill>
                  <a:srgbClr val="5A6675"/>
                </a:solidFill>
                <a:latin typeface="Arial" panose="020B0604020202090204"/>
              </a:rPr>
              <a:t>d</a:t>
            </a:r>
            <a:endParaRPr sz="750" b="0" i="1">
              <a:solidFill>
                <a:srgbClr val="5A6675"/>
              </a:solidFill>
              <a:latin typeface="Arial" panose="020B0604020202090204"/>
            </a:endParaRPr>
          </a:p>
          <a:p>
            <a:pPr algn="ctr">
              <a:lnSpc>
                <a:spcPct val="105000"/>
              </a:lnSpc>
            </a:pPr>
            <a:r>
              <a:rPr sz="750" b="0" i="1">
                <a:solidFill>
                  <a:srgbClr val="5A6675"/>
                </a:solidFill>
                <a:latin typeface="Arial" panose="020B0604020202090204"/>
              </a:rPr>
              <a:t>outcomes</a:t>
            </a:r>
            <a:endParaRPr sz="750" b="0" i="1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855708" y="1810512"/>
            <a:ext cx="1783080" cy="2761488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016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893808" y="1856231"/>
            <a:ext cx="1600200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A6675"/>
                </a:solidFill>
                <a:latin typeface="Arial" panose="020B0604020202090204"/>
              </a:rPr>
              <a:t>Cloud Layer</a:t>
            </a:r>
            <a:endParaRPr sz="950" b="0" i="1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956292" y="2157984"/>
            <a:ext cx="1581912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Cloud Data Centre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(offload, archival)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956292" y="3255264"/>
            <a:ext cx="1581912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Model &amp; CPT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Repository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36" name="Left-Right Arrow 35"/>
          <p:cNvSpPr/>
          <p:nvPr/>
        </p:nvSpPr>
        <p:spPr>
          <a:xfrm>
            <a:off x="9465564" y="3054096"/>
            <a:ext cx="365760" cy="237744"/>
          </a:xfrm>
          <a:prstGeom prst="leftRightArrow">
            <a:avLst/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12775" y="4791710"/>
            <a:ext cx="1581785" cy="6584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704088" y="4882896"/>
            <a:ext cx="292608" cy="292608"/>
          </a:xfrm>
          <a:prstGeom prst="roundRect">
            <a:avLst>
              <a:gd name="adj" fmla="val 26000"/>
            </a:avLst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 panose="020B0604020202090204"/>
              </a:rPr>
              <a:t>1</a:t>
            </a:r>
            <a:endParaRPr sz="10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69848" y="4873752"/>
            <a:ext cx="1225296" cy="5120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A2332"/>
                </a:solidFill>
                <a:latin typeface="Arial" panose="020B0604020202090204"/>
              </a:rPr>
              <a:t>Collect</a:t>
            </a:r>
            <a:endParaRPr sz="10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A2332"/>
                </a:solidFill>
                <a:latin typeface="Arial" panose="020B0604020202090204"/>
              </a:rPr>
              <a:t>telemetry</a:t>
            </a:r>
            <a:endParaRPr sz="10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0" name="Right Arrow 39"/>
          <p:cNvSpPr/>
          <p:nvPr/>
        </p:nvSpPr>
        <p:spPr>
          <a:xfrm>
            <a:off x="2247265" y="5047615"/>
            <a:ext cx="155575" cy="146050"/>
          </a:xfrm>
          <a:prstGeom prst="rightArrow">
            <a:avLst/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459990" y="4791710"/>
            <a:ext cx="1581785" cy="6584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2551176" y="4882896"/>
            <a:ext cx="292608" cy="292608"/>
          </a:xfrm>
          <a:prstGeom prst="roundRect">
            <a:avLst>
              <a:gd name="adj" fmla="val 26000"/>
            </a:avLst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 panose="020B0604020202090204"/>
              </a:rPr>
              <a:t>2</a:t>
            </a:r>
            <a:endParaRPr sz="10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916936" y="4873752"/>
            <a:ext cx="1225296" cy="5120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A2332"/>
                </a:solidFill>
                <a:latin typeface="Arial" panose="020B0604020202090204"/>
              </a:rPr>
              <a:t>Discretise</a:t>
            </a:r>
            <a:endParaRPr sz="10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A2332"/>
                </a:solidFill>
                <a:latin typeface="Arial" panose="020B0604020202090204"/>
              </a:rPr>
              <a:t>evidence</a:t>
            </a:r>
            <a:endParaRPr sz="10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4" name="Right Arrow 43"/>
          <p:cNvSpPr/>
          <p:nvPr/>
        </p:nvSpPr>
        <p:spPr>
          <a:xfrm>
            <a:off x="4106545" y="5047615"/>
            <a:ext cx="155575" cy="146050"/>
          </a:xfrm>
          <a:prstGeom prst="rightArrow">
            <a:avLst/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306570" y="4791710"/>
            <a:ext cx="1581785" cy="6584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398264" y="4882896"/>
            <a:ext cx="292608" cy="292608"/>
          </a:xfrm>
          <a:prstGeom prst="roundRect">
            <a:avLst>
              <a:gd name="adj" fmla="val 26000"/>
            </a:avLst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 panose="020B0604020202090204"/>
              </a:rPr>
              <a:t>3</a:t>
            </a:r>
            <a:endParaRPr sz="10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764024" y="4873752"/>
            <a:ext cx="1225296" cy="5120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A2332"/>
                </a:solidFill>
                <a:latin typeface="Arial" panose="020B0604020202090204"/>
              </a:rPr>
              <a:t>Infer</a:t>
            </a:r>
            <a:endParaRPr sz="10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A2332"/>
                </a:solidFill>
                <a:latin typeface="Arial" panose="020B0604020202090204"/>
              </a:rPr>
              <a:t>P(fail | e)</a:t>
            </a:r>
            <a:endParaRPr sz="10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8" name="Right Arrow 47"/>
          <p:cNvSpPr/>
          <p:nvPr/>
        </p:nvSpPr>
        <p:spPr>
          <a:xfrm>
            <a:off x="5954395" y="5047615"/>
            <a:ext cx="155448" cy="146050"/>
          </a:xfrm>
          <a:prstGeom prst="rightArrow">
            <a:avLst/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53785" y="4791710"/>
            <a:ext cx="1581785" cy="6584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245352" y="4882896"/>
            <a:ext cx="292608" cy="292608"/>
          </a:xfrm>
          <a:prstGeom prst="roundRect">
            <a:avLst>
              <a:gd name="adj" fmla="val 26000"/>
            </a:avLst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 panose="020B0604020202090204"/>
              </a:rPr>
              <a:t>4</a:t>
            </a:r>
            <a:endParaRPr sz="10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611112" y="4873752"/>
            <a:ext cx="1225296" cy="5120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A2332"/>
                </a:solidFill>
                <a:latin typeface="Arial" panose="020B0604020202090204"/>
              </a:rPr>
              <a:t>Place /</a:t>
            </a:r>
            <a:endParaRPr sz="10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A2332"/>
                </a:solidFill>
                <a:latin typeface="Arial" panose="020B0604020202090204"/>
              </a:rPr>
              <a:t>migrate</a:t>
            </a:r>
            <a:endParaRPr sz="10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52" name="Right Arrow 51"/>
          <p:cNvSpPr/>
          <p:nvPr/>
        </p:nvSpPr>
        <p:spPr>
          <a:xfrm>
            <a:off x="7788910" y="5047488"/>
            <a:ext cx="155448" cy="146304"/>
          </a:xfrm>
          <a:prstGeom prst="rightArrow">
            <a:avLst/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001000" y="4791710"/>
            <a:ext cx="1581785" cy="6584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8092440" y="4882896"/>
            <a:ext cx="292608" cy="292608"/>
          </a:xfrm>
          <a:prstGeom prst="roundRect">
            <a:avLst>
              <a:gd name="adj" fmla="val 26000"/>
            </a:avLst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 panose="020B0604020202090204"/>
              </a:rPr>
              <a:t>5</a:t>
            </a:r>
            <a:endParaRPr sz="10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458200" y="4873752"/>
            <a:ext cx="1225296" cy="5120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A2332"/>
                </a:solidFill>
                <a:latin typeface="Arial" panose="020B0604020202090204"/>
              </a:rPr>
              <a:t>Assign</a:t>
            </a:r>
            <a:endParaRPr sz="10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A2332"/>
                </a:solidFill>
                <a:latin typeface="Arial" panose="020B0604020202090204"/>
              </a:rPr>
              <a:t>replication tier</a:t>
            </a:r>
            <a:endParaRPr sz="10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56" name="Right Arrow 55"/>
          <p:cNvSpPr/>
          <p:nvPr/>
        </p:nvSpPr>
        <p:spPr>
          <a:xfrm>
            <a:off x="9648698" y="5047488"/>
            <a:ext cx="155448" cy="146304"/>
          </a:xfrm>
          <a:prstGeom prst="rightArrow">
            <a:avLst/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848215" y="4791710"/>
            <a:ext cx="1581785" cy="6584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9939528" y="4882896"/>
            <a:ext cx="292608" cy="292608"/>
          </a:xfrm>
          <a:prstGeom prst="roundRect">
            <a:avLst>
              <a:gd name="adj" fmla="val 26000"/>
            </a:avLst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 panose="020B0604020202090204"/>
              </a:rPr>
              <a:t>6</a:t>
            </a:r>
            <a:endParaRPr sz="10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305288" y="4873752"/>
            <a:ext cx="1225296" cy="5120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A2332"/>
                </a:solidFill>
                <a:latin typeface="Arial" panose="020B0604020202090204"/>
              </a:rPr>
              <a:t>Update CPTs</a:t>
            </a:r>
            <a:endParaRPr sz="10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A2332"/>
                </a:solidFill>
                <a:latin typeface="Arial" panose="020B0604020202090204"/>
              </a:rPr>
              <a:t>from outcomes</a:t>
            </a:r>
            <a:endParaRPr sz="100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Methodology — BBN Model and Decision Rules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12648" y="1225296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Network structure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612648" y="1554480"/>
            <a:ext cx="10972800" cy="109728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Evidence (observed): CPU and RAM use, queue depth, uplink latency and jitter, residual energy, handovers.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Latent conditions (inferred): computational stress, network degradation, energy and thermal stress.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Target: failure of the node within Δt, conditioned also on device class and historical MTBF.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612648" y="292608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Discretisation and inference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612648" y="3255264"/>
            <a:ext cx="10972800" cy="82300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Every variable is discretised into {low, medium, high}, so the probability tables stay readable.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Inference is exact. Anything not observed is marginalised out instead of being imputed.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612648" y="420624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Decision rules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612648" y="4535424"/>
            <a:ext cx="10972800" cy="160020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Placement: each candidate node is scored by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marL="457200" indent="0" algn="l">
              <a:lnSpc>
                <a:spcPct val="104000"/>
              </a:lnSpc>
              <a:spcAft>
                <a:spcPts val="600"/>
              </a:spcAft>
            </a:pPr>
            <a:r>
              <a:rPr sz="1400" b="1" i="0">
                <a:solidFill>
                  <a:srgbClr val="003060"/>
                </a:solidFill>
                <a:latin typeface="Arial" panose="020B0604020202090204"/>
              </a:rPr>
              <a:t>U(m, n)  =  α (1 − latency)  +  β (1 − energy)  +  γ (1 − P(F | e))</a:t>
            </a:r>
            <a:endParaRPr sz="1400" b="1" i="0">
              <a:solidFill>
                <a:srgbClr val="003060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Migration: move only when  P(F | e) · C_fail  &gt;  C_migrate,  so the threshold is the cost ratio.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Replication: R(m) = P(F | e) × κ(m) sets the warm-standby, checkpoint-only or no-redundancy tier.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Dataset Description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12648" y="1225296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What the dataset contains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612648" y="1554480"/>
            <a:ext cx="10972800" cy="109728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edgeResources-melbCBD.csv gives 131 real edge sites, with latitude, longitude, block, level and parent.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usersLocation-melbCBD_1.csv gives 87 recorded user positions; five synthetic traces add 100 each.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ApplicationConfig.json gives ten microservice profiles with MIPS, network load and deadline.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612648" y="283464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How iFogSim2 builds the devices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612648" y="3163824"/>
            <a:ext cx="10972800" cy="109728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Each row becomes a FogDevice: createFogDevice() builds a processing element, power host and tier.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The four levels give 1 cloud data centre, 12 block proxy servers, 118 gateways and mobile devices.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Sensors (ECG, EEG, camera) and actuators (display, PTZ) attach at level 3 and emit the tuples.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graphicFrame>
        <p:nvGraphicFramePr>
          <p:cNvPr id="8" name="Table 6"/>
          <p:cNvGraphicFramePr>
            <a:graphicFrameLocks noGrp="1"/>
          </p:cNvGraphicFramePr>
          <p:nvPr/>
        </p:nvGraphicFramePr>
        <p:xfrm>
          <a:off x="612648" y="4023360"/>
          <a:ext cx="109728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383280"/>
                <a:gridCol w="1371600"/>
                <a:gridCol w="1554480"/>
                <a:gridCol w="1554480"/>
                <a:gridCol w="1554479"/>
              </a:tblGrid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Tier (level)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What it represents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MIPS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RAM (MB)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Uplink BW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Busy / Idle W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Cloud (0)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Cloud data centre, 1 node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44 800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40 000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100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1 648 / 1 332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Proxy (1)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Block proxy servers, 12 nodes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2 800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4 000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10 000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107.34 / 83.43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Gateway (2)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Cell-site gateways, 118 nodes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2 800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4 000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10 000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107.34 / 83.43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Mobile (3)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Phones, cameras, ECG and EEG nodes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200 - 1 000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1 024 - 2 048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10 000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87.53 / 82.44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Simulating Conditions and Failures in iFogSim2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12648" y="1225296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How different conditions are produced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612648" y="1554480"/>
            <a:ext cx="10972800" cy="109728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Load is varied by changing how many modules sit on a node and the MIPS each of them needs.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Network conditions come from the configured link latency and the queueing delay on the uplink.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Mobility traces move users between gateways, so the load each node carries changes during a run.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612648" y="283464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How failures are introduced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612648" y="3163824"/>
            <a:ext cx="10972800" cy="109728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No public failure trace exists for such a topology, so a harness injects them into iFogSim2.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A hazard function over the simulator's true load, energy and link state decides when a node dies.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The network never sees that state. It sees only sampled, discretised, sometimes missing telemetry.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612648" y="4443984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Cases simulated in the evaluation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612648" y="4773168"/>
            <a:ext cx="10972800" cy="109728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A baseline run with no failures, to measure the normal loop delay and energy use.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Single-node failures at the proxy and gateway tiers, under light load and under heavy load.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Runs with telemetry withheld, and runs with more users, so handovers change the load.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From Simulator State to BBN Evidence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12648" y="1225296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Every evidence variable is computed from a quantity that iFogSim2 already tracks during a run.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graphicFrame>
        <p:nvGraphicFramePr>
          <p:cNvPr id="5" name="Table 3"/>
          <p:cNvGraphicFramePr>
            <a:graphicFrameLocks noGrp="1"/>
          </p:cNvGraphicFramePr>
          <p:nvPr/>
        </p:nvGraphicFramePr>
        <p:xfrm>
          <a:off x="612648" y="1737360"/>
          <a:ext cx="1097280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577840"/>
                <a:gridCol w="2651760"/>
              </a:tblGrid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Evidence variable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Quantity in iFogSim2 it is derived from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Latent condition it feeds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CPU utilisation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Allocated MIPS against host PE capacity, per scheduling interval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Computational stress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RAM utilisation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RamProvisionerSimple allocation against available RAM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Computational stress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Tuple queue depth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Length of the pending tuple queue on the device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Computational stress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Uplink latency and jitter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Configured link latency plus queueing delay on the uplink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Network degradation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Residual energy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FogDevice energy consumption against a configured budget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Energy stress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Handover rate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Parent reassignments per window, from LocationHandler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Network degradation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Node reliability prior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Device class (cloud, proxy, gateway, mobile) and its MTBF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Parent of the target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4"/>
          <p:cNvSpPr txBox="1"/>
          <p:nvPr/>
        </p:nvSpPr>
        <p:spPr>
          <a:xfrm>
            <a:off x="612648" y="5440680"/>
            <a:ext cx="10972800" cy="73152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All variables are binned into low, medium and high, using quantiles of the baseline runs.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Thermal stress is inferred from sustained utilisation, as iFogSim2 has no temperature sensor.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Evaluation Plan, Baselines and Work Plan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12648" y="1225296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Evaluation metrics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612648" y="1554480"/>
            <a:ext cx="5358384" cy="292608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</a:pPr>
            <a:r>
              <a:rPr sz="1400" b="1" i="0">
                <a:solidFill>
                  <a:srgbClr val="1A2332"/>
                </a:solidFill>
                <a:latin typeface="Arial" panose="020B0604020202090204"/>
              </a:rPr>
              <a:t>Prediction quality</a:t>
            </a:r>
            <a:endParaRPr sz="140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612648" y="1874520"/>
            <a:ext cx="5358384" cy="1462608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Precision, recall and F1 within Δt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Calibration against observed frequency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Lead time before the actual failure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Robustness when telemetry is withheld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6227064" y="1554480"/>
            <a:ext cx="5358384" cy="292608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</a:pPr>
            <a:r>
              <a:rPr sz="1400" b="1" i="0">
                <a:solidFill>
                  <a:srgbClr val="1A2332"/>
                </a:solidFill>
                <a:latin typeface="Arial" panose="020B0604020202090204"/>
              </a:rPr>
              <a:t>System quality</a:t>
            </a:r>
            <a:endParaRPr sz="140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6227064" y="1874520"/>
            <a:ext cx="5358384" cy="1462608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Loop delay and deadline-violation ratio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Energy across cloud, fog and device tiers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Service downtime per injected failure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Reserved standby capacity as overhead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612648" y="3566160"/>
            <a:ext cx="5358384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Baselines for comparison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612648" y="3895344"/>
            <a:ext cx="5358384" cy="1462608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1.  Cloud-only placement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2.  iFogSim2 edgeward placement, no fault tolerance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3.  Reactive checkpointing and replication [1]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4.  Threshold-based proactive migration, FTAPA [3]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612648" y="5303520"/>
            <a:ext cx="5358384" cy="73152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Baseline 4 separates probabilistic inference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     from simply acting early.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6227064" y="3566160"/>
            <a:ext cx="5358384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Work plan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6227064" y="3895344"/>
            <a:ext cx="5358384" cy="201168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Done: survey, iFogSim2 set up, baseline runs, design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Next: build and validate the BBN and its CPTs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Next: inference engine and fault-injection harness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Next: placement, migration and replication policies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Next: comparative evaluation against the baselines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References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12648" y="1280160"/>
            <a:ext cx="5943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332"/>
                </a:solidFill>
                <a:latin typeface="Arial" panose="020B0604020202090204"/>
              </a:rPr>
              <a:t>[1]</a:t>
            </a:r>
            <a:endParaRPr sz="120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207008" y="1280160"/>
            <a:ext cx="1037844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2332"/>
                </a:solidFill>
                <a:latin typeface="Arial" panose="020B0604020202090204"/>
              </a:rPr>
              <a:t>H. T. Rajab and M. F. Younis, “Dynamic fault tolerance aware scheduling for healthcare system on fog computing,” Iraqi Journal of Science, vol. 62, no. 1, pp. 308–318, 2021.</a:t>
            </a: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612648" y="1828800"/>
            <a:ext cx="5943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332"/>
                </a:solidFill>
                <a:latin typeface="Arial" panose="020B0604020202090204"/>
              </a:rPr>
              <a:t>[2]</a:t>
            </a:r>
            <a:endParaRPr sz="120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1207008" y="1828800"/>
            <a:ext cx="1037844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2332"/>
                </a:solidFill>
                <a:latin typeface="Arial" panose="020B0604020202090204"/>
              </a:rPr>
              <a:t>M. H. Naim, J. M. Zain and K. A. Jalil, “Fault tolerance mechanism for software application through fog computing as middleware,” Int. J. Computing and Digital Systems, vol. 5, no. 3, 2016.</a:t>
            </a: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612648" y="2377440"/>
            <a:ext cx="5943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332"/>
                </a:solidFill>
                <a:latin typeface="Arial" panose="020B0604020202090204"/>
              </a:rPr>
              <a:t>[3]</a:t>
            </a:r>
            <a:endParaRPr sz="120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1207008" y="2377440"/>
            <a:ext cx="1037844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2332"/>
                </a:solidFill>
                <a:latin typeface="Arial" panose="020B0604020202090204"/>
              </a:rPr>
              <a:t>S. Gupta and N. Singh, “Optimized fault-tolerant placement of microservices in distributed fog networks,” IJDIIC, vol. 4, no. 4, pp. 52–69, 2025.</a:t>
            </a: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612648" y="2926080"/>
            <a:ext cx="5943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332"/>
                </a:solidFill>
                <a:latin typeface="Arial" panose="020B0604020202090204"/>
              </a:rPr>
              <a:t>[4]</a:t>
            </a:r>
            <a:endParaRPr sz="120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1207008" y="2926080"/>
            <a:ext cx="1037844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2332"/>
                </a:solidFill>
                <a:latin typeface="Arial" panose="020B0604020202090204"/>
              </a:rPr>
              <a:t>N. Fenton, M. Neil and D. Marquez, “Using Bayesian networks to predict software defects and reliability,” Proc. MMR07, Glasgow, 2007.</a:t>
            </a: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612648" y="3474720"/>
            <a:ext cx="5943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332"/>
                </a:solidFill>
                <a:latin typeface="Arial" panose="020B0604020202090204"/>
              </a:rPr>
              <a:t>[5]</a:t>
            </a:r>
            <a:endParaRPr sz="120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1207008" y="3474720"/>
            <a:ext cx="1037844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2332"/>
                </a:solidFill>
                <a:latin typeface="Arial" panose="020B0604020202090204"/>
              </a:rPr>
              <a:t>P. Weber, G. Medina-Oliva, C. Simon and B. Iung, “Overview on Bayesian networks applications for dependability, risk analysis and maintenance areas,” Eng. Appl. Artif. Intell., vol. 25, no. 4, pp. 671–682, 2012.</a:t>
            </a: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4" name="TextBox 12"/>
          <p:cNvSpPr txBox="1"/>
          <p:nvPr/>
        </p:nvSpPr>
        <p:spPr>
          <a:xfrm>
            <a:off x="612648" y="4023360"/>
            <a:ext cx="5943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332"/>
                </a:solidFill>
                <a:latin typeface="Arial" panose="020B0604020202090204"/>
              </a:rPr>
              <a:t>[6]</a:t>
            </a:r>
            <a:endParaRPr sz="120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1207008" y="4023360"/>
            <a:ext cx="1037844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2332"/>
                </a:solidFill>
                <a:latin typeface="Arial" panose="020B0604020202090204"/>
              </a:rPr>
              <a:t>P. A. Aguilera et al., “Bayesian networks in environmental modelling,” Environmental Modelling &amp; Software, vol. 26, no. 12, pp. 1376–1388, 2011.</a:t>
            </a: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612648" y="4572000"/>
            <a:ext cx="5943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332"/>
                </a:solidFill>
                <a:latin typeface="Arial" panose="020B0604020202090204"/>
              </a:rPr>
              <a:t>[7]</a:t>
            </a:r>
            <a:endParaRPr sz="120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1207008" y="4572000"/>
            <a:ext cx="1037844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2332"/>
                </a:solidFill>
                <a:latin typeface="Arial" panose="020B0604020202090204"/>
              </a:rPr>
              <a:t>R. Mahmud, S. Pallewatta, M. Goudarzi and R. Buyya, “iFogSim2: An extended iFogSim simulator,” J. Systems and Software, vol. 190, art. 111351, 2022.</a:t>
            </a: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8" name="TextBox 16"/>
          <p:cNvSpPr txBox="1"/>
          <p:nvPr/>
        </p:nvSpPr>
        <p:spPr>
          <a:xfrm>
            <a:off x="612648" y="5120640"/>
            <a:ext cx="5943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332"/>
                </a:solidFill>
                <a:latin typeface="Arial" panose="020B0604020202090204"/>
              </a:rPr>
              <a:t>[8]</a:t>
            </a:r>
            <a:endParaRPr sz="120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9" name="TextBox 17"/>
          <p:cNvSpPr txBox="1"/>
          <p:nvPr/>
        </p:nvSpPr>
        <p:spPr>
          <a:xfrm>
            <a:off x="1207008" y="5120640"/>
            <a:ext cx="1037844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2332"/>
                </a:solidFill>
                <a:latin typeface="Arial" panose="020B0604020202090204"/>
              </a:rPr>
              <a:t>H. Gupta, A. V. Dastjerdi, S. K. Ghosh and R. Buyya, “iFogSim: A toolkit for modeling and simulation of resource management techniques,” Software: Practice and Experience, vol. 47, no. 9, pp. 1275–1296, 2017.</a:t>
            </a: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0"/>
            <a:ext cx="10972800" cy="9144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004890"/>
                </a:solidFill>
                <a:latin typeface="Arial" panose="020B0604020202090204"/>
              </a:rPr>
              <a:t>Thank You</a:t>
            </a:r>
            <a:endParaRPr sz="400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3840480"/>
            <a:ext cx="109728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0" i="0">
                <a:solidFill>
                  <a:srgbClr val="1A2332"/>
                </a:solidFill>
                <a:latin typeface="Arial" panose="020B0604020202090204"/>
              </a:rPr>
              <a:t>Mohit R and Rahul Akshath Rajendran</a:t>
            </a:r>
            <a:endParaRPr sz="16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4206240"/>
            <a:ext cx="109728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0" i="0">
                <a:solidFill>
                  <a:srgbClr val="1A2332"/>
                </a:solidFill>
                <a:latin typeface="Arial" panose="020B0604020202090204"/>
              </a:rPr>
              <a:t>Guided by Dr. Sabireen H, Department of Information Technology</a:t>
            </a:r>
            <a:endParaRPr sz="160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9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eme9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14360</Words>
  <Application>WPS Presentation</Application>
  <PresentationFormat/>
  <Paragraphs>482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SimSun</vt:lpstr>
      <vt:lpstr>Wingdings</vt:lpstr>
      <vt:lpstr>Arial</vt:lpstr>
      <vt:lpstr>Verdana</vt:lpstr>
      <vt:lpstr>Microsoft YaHei</vt:lpstr>
      <vt:lpstr>汉仪旗黑</vt:lpstr>
      <vt:lpstr>Arial Unicode MS</vt:lpstr>
      <vt:lpstr>宋体-简</vt:lpstr>
      <vt:lpstr>Theme9</vt:lpstr>
      <vt:lpstr>1_Theme9</vt:lpstr>
      <vt:lpstr>Bayesian Belief Network-Driven Proactive Fault Tolerance
for Microservice Placement in Fog Computing</vt:lpstr>
      <vt:lpstr>Problem Statement</vt:lpstr>
      <vt:lpstr>Introduction</vt:lpstr>
      <vt:lpstr>Literature Survey</vt:lpstr>
      <vt:lpstr>Research Gap</vt:lpstr>
      <vt:lpstr>Objectives</vt:lpstr>
      <vt:lpstr>Proposed Novelties</vt:lpstr>
      <vt:lpstr>Methodology — System Architecture</vt:lpstr>
      <vt:lpstr>Methodology — BBN Model and Decision Rules</vt:lpstr>
      <vt:lpstr>Dataset Description</vt:lpstr>
      <vt:lpstr>Simulating Conditions and Failures in iFogSim2</vt:lpstr>
      <vt:lpstr>From Simulator State to BBN Evidence</vt:lpstr>
      <vt:lpstr>Evaluation Plan, Baselines and Work Plan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Bayesian Belief Network-Driven Proactive Fault Tolerance
for Microservice Placement in Fog Computing</dc:title>
  <dc:creator/>
  <cp:lastModifiedBy>rahulakshath</cp:lastModifiedBy>
  <cp:revision>9</cp:revision>
  <dcterms:created xsi:type="dcterms:W3CDTF">2026-08-22T09:08:51Z</dcterms:created>
  <dcterms:modified xsi:type="dcterms:W3CDTF">2026-08-22T09:08:51Z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1033-12.1.26050.26050</vt:lpwstr>
  </property>
  <property fmtid="{D5CDD505-2E9C-101B-9397-08002B2CF9AE}" pid="3" name="ICV">
    <vt:lpwstr>69A80B6EBB77E8D97E64856A7BBC5B39_42</vt:lpwstr>
  </property>
</Properties>
</file>