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71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2" r:id="rId14"/>
    <p:sldId id="273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2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25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 spc="0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</a:t>
            </a:r>
          </a:p>
          <a:p>
            <a:r>
              <a:t>Para 1 - fog puts modules close to the sensors so latency-critical work meets its deadline, but the hosts are</a:t>
            </a:r>
          </a:p>
          <a:p>
            <a:r>
              <a:t>ordinary hardware in uncontrolled places, and a single failure breaks a critical service.</a:t>
            </a:r>
          </a:p>
          <a:p>
            <a:r>
              <a:t>Para 2 - existing methods are reactive. Checkpoint-and-restore, retransmission and heartbeat failover all</a:t>
            </a:r>
          </a:p>
          <a:p>
            <a:r>
              <a:t>start recovery AFTER the fault, so the recovery time lands at the worst possible moment. The proactive methods</a:t>
            </a:r>
          </a:p>
          <a:p>
            <a:r>
              <a:t>compare ONE measurement to a FIXED threshold: it fires on harmless load spikes, and stays silent when the node</a:t>
            </a:r>
          </a:p>
          <a:p>
            <a:r>
              <a:t>degrades in a way that measurement does not show.</a:t>
            </a:r>
          </a:p>
          <a:p>
            <a:r>
              <a:t>Para 3 - the real difficulty: node health cannot be observed directly. It must be inferred from several noisy,</a:t>
            </a:r>
          </a:p>
          <a:p>
            <a:r>
              <a:t>related measurements, some of which may be missing exactly when the node is closest to failing. A Bayesian</a:t>
            </a:r>
          </a:p>
          <a:p>
            <a:r>
              <a:t>Belief Network suits this - it can be built from expert knowledge when no failure data exists, it marginalises</a:t>
            </a:r>
          </a:p>
          <a:p>
            <a:r>
              <a:t>out what it cannot see instead of guessing, and it tells you which condition is responsible.</a:t>
            </a:r>
          </a:p>
          <a:p>
            <a:r>
              <a:t>Then read the problem statement at the bottom.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  Three points.</a:t>
            </a:r>
          </a:p>
          <a:p>
            <a:r>
              <a:t>1. WHY FOG. An ECG classifier or a surveillance tracker has to respond in tens of milliseconds. A round trip</a:t>
            </a:r>
          </a:p>
          <a:p>
            <a:r>
              <a:t>   to a cloud data centre is too slow. So fog computing runs the application modules on gateways, routers and</a:t>
            </a:r>
          </a:p>
          <a:p>
            <a:r>
              <a:t>   base stations, one or two hops from the sensor.</a:t>
            </a:r>
          </a:p>
          <a:p>
            <a:r>
              <a:t>2. WHY THAT IS RISKY. A fog node is ordinary hardware in an uncontrolled place. It shares a limited uplink,</a:t>
            </a:r>
          </a:p>
          <a:p>
            <a:r>
              <a:t>   often runs on battery, and mobile users keep moving between nodes so the load keeps changing. These nodes</a:t>
            </a:r>
          </a:p>
          <a:p>
            <a:r>
              <a:t>   fail far more often than data-centre servers, and one failure can break a safety-critical deadline.</a:t>
            </a:r>
          </a:p>
          <a:p>
            <a:r>
              <a:t>3. THE OPENING FOR OUR WORK. Nodes rarely fail suddenly. Utilisation rises, queues grow, links get worse and</a:t>
            </a:r>
          </a:p>
          <a:p>
            <a:r>
              <a:t>   energy drains first. That gives us a short window. We predict the failure inside that window and use the</a:t>
            </a:r>
          </a:p>
          <a:p>
            <a:r>
              <a:t>   prediction to place, migrate and replicate modules.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(~90 sec)  Six papers, in two groups. Refer to them by number and title, not by author.</a:t>
            </a:r>
          </a:p>
          <a:p>
            <a:r>
              <a:t>FOG FAULT TOLERANCE (rows 1-3):</a:t>
            </a:r>
          </a:p>
          <a:p>
            <a:r>
              <a:t>[1] "Dynamic fault tolerance aware scheduling for healthcare system on fog computing", 2021 -</a:t>
            </a:r>
          </a:p>
          <a:p>
            <a:r>
              <a:t>    weighted round-robin scheduling, a checkpoint whenever CPU use crosses 0.2, and primary-backup</a:t>
            </a:r>
          </a:p>
          <a:p>
            <a:r>
              <a:t>    replication. Load-aware scheduling raises throughput.</a:t>
            </a:r>
          </a:p>
          <a:p>
            <a:r>
              <a:t>[2] "Fault tolerance mechanism for software application through fog computing as middleware", 2016 -</a:t>
            </a:r>
          </a:p>
          <a:p>
            <a:r>
              <a:t>    middleware polls the server with heartbeats and switches to a replicated backup. Failover is</a:t>
            </a:r>
          </a:p>
          <a:p>
            <a:r>
              <a:t>    invisible to the user; it recovered three of four test scenarios.</a:t>
            </a:r>
          </a:p>
          <a:p>
            <a:r>
              <a:t>[3] "Optimized fault-tolerant placement of microservices in distributed fog networks", 2025 - the</a:t>
            </a:r>
          </a:p>
          <a:p>
            <a:r>
              <a:t>    closest work to ours. FTAPA picks a primary node, pre-selects a backup, and migrates once a health</a:t>
            </a:r>
          </a:p>
          <a:p>
            <a:r>
              <a:t>    index crosses a threshold. Moving BEFORE the host fails reduces downtime. That is what we build on.</a:t>
            </a:r>
          </a:p>
          <a:p>
            <a:r>
              <a:t>BAYESIAN NETWORKS IN RELIABILITY (rows 4-6):</a:t>
            </a:r>
          </a:p>
          <a:p>
            <a:r>
              <a:t>[4] "Using Bayesian networks to predict software defects and reliability", 2007 - expert judgement and</a:t>
            </a:r>
          </a:p>
          <a:p>
            <a:r>
              <a:t>    measured data can be combined. Deployed at Motorola, Siemens and Philips.</a:t>
            </a:r>
          </a:p>
          <a:p>
            <a:r>
              <a:t>[5] "Overview on Bayesian networks applications for dependability, risk analysis and maintenance</a:t>
            </a:r>
          </a:p>
          <a:p>
            <a:r>
              <a:t>    areas", 2012 - ten-year survey; better than fault trees and Markov chains for mixed variables.</a:t>
            </a:r>
          </a:p>
          <a:p>
            <a:r>
              <a:t>[6] "Bayesian networks in environmental modelling", 2011 - inference still works when part of the</a:t>
            </a:r>
          </a:p>
          <a:p>
            <a:r>
              <a:t>    evidence is missing. That is the property fog telemetry needs.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  One gap per paper. Read the paper number, then the gap - do not read the whole title</a:t>
            </a:r>
          </a:p>
          <a:p>
            <a:r>
              <a:t>aloud, the audience can see it.</a:t>
            </a:r>
          </a:p>
          <a:p>
            <a:r>
              <a:t>[1] The CPU threshold is fixed and ignores workload, so checkpoints happen during load spikes that</a:t>
            </a:r>
          </a:p>
          <a:p>
            <a:r>
              <a:t>    pass harmlessly; a backup is stored for every task.</a:t>
            </a:r>
          </a:p>
          <a:p>
            <a:r>
              <a:t>[2] Recovery starts only after the server stops answering, and only one backup is kept.</a:t>
            </a:r>
          </a:p>
          <a:p>
            <a:r>
              <a:t>[3] The authors themselves say the threshold is hard to set - too low, migration is late; too high, it</a:t>
            </a:r>
          </a:p>
          <a:p>
            <a:r>
              <a:t>    is wasted. A backup node is still reserved per microservice.</a:t>
            </a:r>
          </a:p>
          <a:p>
            <a:r>
              <a:t>[4] Built for software development processes, not running infrastructure; tables are never updated</a:t>
            </a:r>
          </a:p>
          <a:p>
            <a:r>
              <a:t>    while the system operates.</a:t>
            </a:r>
          </a:p>
          <a:p>
            <a:r>
              <a:t>[5] Covers industrial plants and process systems - fog computing, where telemetry is often incomplete,</a:t>
            </a:r>
          </a:p>
          <a:p>
            <a:r>
              <a:t>    is not among the domains studied.</a:t>
            </a:r>
          </a:p>
          <a:p>
            <a:r>
              <a:t>[6] No decision has to be taken within a deadline, so it says nothing about acting in real time.</a:t>
            </a:r>
          </a:p>
          <a:p>
            <a:r>
              <a:t>THE COMMON GAP (last bullet): none of them produces a PROBABILITY that a node will fail, and none uses</a:t>
            </a:r>
          </a:p>
          <a:p>
            <a:r>
              <a:t>such a probability to decide placement, migration and redundancy. That is the space we occupy.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(~60 sec)  Three objectives, one sentence each, plus how each is judged.</a:t>
            </a:r>
          </a:p>
          <a:p>
            <a:r>
              <a:t>1. ESTIMATE FAILURE AS A PROBABILITY - for every node, P(fails within horizon Delta-t), using only whatever</a:t>
            </a:r>
          </a:p>
          <a:p>
            <a:r>
              <a:t>   telemetry happens to be available. Judged by precision, recall, calibration and lead time.</a:t>
            </a:r>
          </a:p>
          <a:p>
            <a:r>
              <a:t>2. USE THAT PROBABILITY TO PLACE AND MIGRATE - score candidates on latency, energy and risk; move a running</a:t>
            </a:r>
          </a:p>
          <a:p>
            <a:r>
              <a:t>   module only when the expected loss of staying is larger than the cost of moving. Judged by loop delay,</a:t>
            </a:r>
          </a:p>
          <a:p>
            <a:r>
              <a:t>   deadline violations and downtime against baselines.</a:t>
            </a:r>
          </a:p>
          <a:p>
            <a:r>
              <a:t>3. ALLOCATE REDUNDANCY BY RISK AND CRITICALITY - decide how much redundancy each module gets, instead of a</a:t>
            </a:r>
          </a:p>
          <a:p>
            <a:r>
              <a:t>   backup for everything. Judged by the downtime obtained for a given amount of reserved standby capacity.</a:t>
            </a:r>
          </a:p>
          <a:p>
            <a:r>
              <a:t>Say clearly: objective 1 produces the probability; objectives 2 and 3 spend 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  One novelty per objective.</a:t>
            </a:r>
          </a:p>
          <a:p>
            <a:r>
              <a:t>NOVELTY 1 (Obj 1) - a causal Bayesian Belief Network over node health.</a:t>
            </a:r>
          </a:p>
          <a:p>
            <a:r>
              <a:t>  * Failure becomes a probability, not a threshold crossing or a binary alarm.</a:t>
            </a:r>
          </a:p>
          <a:p>
            <a:r>
              <a:t>  * Missing evidence is marginalised out, so a prediction is still produced.</a:t>
            </a:r>
          </a:p>
          <a:p>
            <a:r>
              <a:t>  * Because the network is causal, it NAMES the condition behind the estimate instead of giving a bare score.</a:t>
            </a:r>
          </a:p>
          <a:p>
            <a:r>
              <a:t>NOVELTY 2 (Obj 2) - expected-loss migration instead of a fixed threshold.</a:t>
            </a:r>
          </a:p>
          <a:p>
            <a:r>
              <a:t>  * The probability enters a utility over latency, energy and risk that ranks candidate nodes.</a:t>
            </a:r>
          </a:p>
          <a:p>
            <a:r>
              <a:t>  * A module moves only when expected loss from staying &gt; cost of moving.</a:t>
            </a:r>
          </a:p>
          <a:p>
            <a:r>
              <a:t>  * The effective threshold falls out of the cost ratio, so it differs per module. Nothing is hand-tuned.</a:t>
            </a:r>
          </a:p>
          <a:p>
            <a:r>
              <a:t>NOVELTY 3 (Obj 3) - redundancy that follows risk and criticality.</a:t>
            </a:r>
          </a:p>
          <a:p>
            <a:r>
              <a:t>  * Redundancy is a resource we spend where it matters, not a backup reserved for every module.</a:t>
            </a:r>
          </a:p>
          <a:p>
            <a:r>
              <a:t>  * Warm-standby / checkpoint-only / no-redundancy tiers, assigned by risk x criticality.</a:t>
            </a:r>
          </a:p>
          <a:p>
            <a:r>
              <a:t>  * Tiers are recomputed as the probabilities change, so standby capacity follows the risk over time.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(~60 sec)  Walk the diagram left to right.</a:t>
            </a:r>
          </a:p>
          <a:p>
            <a:r>
              <a:t>LAYOUT: IoT devices on the left send tuples into the fog layer. Each fog node runs a lightweight telemetry</a:t>
            </a:r>
          </a:p>
          <a:p>
            <a:r>
              <a:t>agent. The cloud on the right is for offload and for the model/CPT repository.</a:t>
            </a:r>
          </a:p>
          <a:p>
            <a:r>
              <a:t>In the centre is our Proactive Fault-Tolerance Controller. It sits at the PROXY tier, because from there it</a:t>
            </a:r>
          </a:p>
          <a:p>
            <a:r>
              <a:t>can see a whole cluster of fog nodes without paying the round trip to the cloud.</a:t>
            </a:r>
          </a:p>
          <a:p>
            <a:r>
              <a:t>INSIDE THE CONTROLLER: pre-processing discretises the telemetry; N1 is the BBN inference engine that returns</a:t>
            </a:r>
          </a:p>
          <a:p>
            <a:r>
              <a:t>P(fail | evidence); N2 turns that into placement and expected-loss migration; N3 assigns a redundancy tier.</a:t>
            </a:r>
          </a:p>
          <a:p>
            <a:r>
              <a:t>Observed outcomes go back to the cloud repository, so other clusters benefit from what this one learned.</a:t>
            </a:r>
          </a:p>
          <a:p>
            <a:r>
              <a:t>The three N-blocks are the three novelties - say the number as you point at each.</a:t>
            </a:r>
          </a:p>
          <a:p>
            <a:r>
              <a:t>(Figure drawn in draw.io: figures/methodology_architecture.drawio)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(~90 sec)</a:t>
            </a:r>
          </a:p>
          <a:p>
            <a:r>
              <a:t>NETWORK STRUCTURE - three tiers, left to right.</a:t>
            </a:r>
          </a:p>
          <a:p>
            <a:r>
              <a:t>  Left: evidence we observe (CPU, RAM, queue depth, uplink latency, jitter/loss, residual energy, handover</a:t>
            </a:r>
          </a:p>
          <a:p>
            <a:r>
              <a:t>    rate, and sustained utilisation as a proxy for temperature - iFogSim2 has no thermal sensor).</a:t>
            </a:r>
          </a:p>
          <a:p>
            <a:r>
              <a:t>  Middle: four LATENT conditions we never measure directly but infer - computational stress, network</a:t>
            </a:r>
          </a:p>
          <a:p>
            <a:r>
              <a:t>    degradation, energy stress, thermal stress.</a:t>
            </a:r>
          </a:p>
          <a:p>
            <a:r>
              <a:t>  Right: the target - does this node fail within Delta-t, also conditioned on a node-reliability prior from</a:t>
            </a:r>
          </a:p>
          <a:p>
            <a:r>
              <a:t>    device class and historical MTBF.</a:t>
            </a:r>
          </a:p>
          <a:p>
            <a:r>
              <a:t>DISCRETISATION - every variable becomes low/medium/high, which keeps the CPTs small enough to read and to</a:t>
            </a:r>
          </a:p>
          <a:p>
            <a:r>
              <a:t>  elicit from an expert.</a:t>
            </a:r>
          </a:p>
          <a:p>
            <a:r>
              <a:t>THE FACTORISATION - 13 variables at 3 states is roughly 1.6 million numbers as a full joint; factorised over</a:t>
            </a:r>
          </a:p>
          <a:p>
            <a:r>
              <a:t>  this sparse graph it is a few hundred. That reduction is why Bayesian networks are usable at all.</a:t>
            </a:r>
          </a:p>
          <a:p>
            <a:r>
              <a:t>THE KEY PROPERTY - inference is exact, and anything unobserved is MARGINALISED OUT, not imputed. If jitter is</a:t>
            </a:r>
          </a:p>
          <a:p>
            <a:r>
              <a:t>  not reported this epoch we sum over its states and the posterior comes out slightly less sharp. An SVM or a</a:t>
            </a:r>
          </a:p>
          <a:p>
            <a:r>
              <a:t>  neural network needs a value in every slot, so you must impute - and imputing for a channel that went</a:t>
            </a:r>
          </a:p>
          <a:p>
            <a:r>
              <a:t>  silent BECAUSE the node is in trouble is exactly the wrong guess. Lead with this if challenged on model</a:t>
            </a:r>
          </a:p>
          <a:p>
            <a:r>
              <a:t>  choice.</a:t>
            </a:r>
          </a:p>
          <a:p>
            <a:r>
              <a:t>WHERE THE NUMBERS COME FROM - structure from domain knowledge (no failure corpus to learn it from); initial</a:t>
            </a:r>
          </a:p>
          <a:p>
            <a:r>
              <a:t>  CPTs from the reliability literature and expert elicitation; refined online by Bayesian parameter learning</a:t>
            </a:r>
          </a:p>
          <a:p>
            <a:r>
              <a:t>  with Dirichlet priors, which is conjugate, so updating is just adding counts.</a:t>
            </a:r>
          </a:p>
          <a:p>
            <a:r>
              <a:t>IF PRESSED ON CPT SIZE - the failure node has five parents at three states, so 3^5 = 243 rows, the largest</a:t>
            </a:r>
          </a:p>
          <a:p>
            <a:r>
              <a:t>  table in the network. The remedy if it grows is a noisy-OR formulation: linear in the parents, not</a:t>
            </a:r>
          </a:p>
          <a:p>
            <a:r>
              <a:t>  exponential. Naming noisy-OR unprompted signals you understand the limitation.</a:t>
            </a:r>
          </a:p>
          <a:p>
            <a:r>
              <a:t>(Figure drawn in draw.io: figures/bbn_model.drawio)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(~90 sec)  Three rules, one per novelty. This slide carries the review - deliver the migration rule well.</a:t>
            </a:r>
          </a:p>
          <a:p>
            <a:r>
              <a:t>PLACEMENT - score each candidate with U = a(1-latency) + b(1-energy) + g(1-P(F|e)). Weights depend on the</a:t>
            </a:r>
          </a:p>
          <a:p>
            <a:r>
              <a:t>  application class: a health module gets a large gamma so it avoids fragile nodes. Risk sits in the score</a:t>
            </a:r>
          </a:p>
          <a:p>
            <a:r>
              <a:t>  itself, so a fast node that is about to fail does not win.</a:t>
            </a:r>
          </a:p>
          <a:p>
            <a:r>
              <a:t>MIGRATION - this is the best answer you have, because every paper you surveyed struggles with its threshold.</a:t>
            </a:r>
          </a:p>
          <a:p>
            <a:r>
              <a:t>  Migrating is not free: bandwidth, a brief interruption, possibly a worse host. So compare expected losses.</a:t>
            </a:r>
          </a:p>
          <a:p>
            <a:r>
              <a:t>  Staying costs P(fail | e) x C_fail. Migrating costs about C_migrate. Move when staying is worse.</a:t>
            </a:r>
          </a:p>
          <a:p>
            <a:r>
              <a:t>  Rearranged, the effective threshold P* IS the cost ratio - it is DERIVED, not tuned, and it differs from</a:t>
            </a:r>
          </a:p>
          <a:p>
            <a:r>
              <a:t>  module to module. This directly answers the weakness in [1] and [3].</a:t>
            </a:r>
          </a:p>
          <a:p>
            <a:r>
              <a:t>REPLICATION - R(m) = P(F|e) x criticality puts each module into warm-standby, checkpoint-only, or no</a:t>
            </a:r>
          </a:p>
          <a:p>
            <a:r>
              <a:t>  redundancy. Redundancy is a budget to spend, not a backup reserved for everything. Tiers are recomputed as</a:t>
            </a:r>
          </a:p>
          <a:p>
            <a:r>
              <a:t>  the posteriors move, so reserved capacity follows the risk.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(~60 sec)  Walk the six numbered steps, then point at the feedback arrow.</a:t>
            </a:r>
          </a:p>
          <a:p>
            <a:r>
              <a:t> 1. Collect telemetry from the agents on every fog node.</a:t>
            </a:r>
          </a:p>
          <a:p>
            <a:r>
              <a:t> 2. Discretise it into the states the network is defined over - quantiles of the baseline runs.</a:t>
            </a:r>
          </a:p>
          <a:p>
            <a:r>
              <a:t> 3. The BBN inference engine computes P(fail | evidence), marginalising whatever is missing  &lt;- Novelty 1.</a:t>
            </a:r>
          </a:p>
          <a:p>
            <a:r>
              <a:t> 4. Risk-aware placement and expected-loss migration turn that into a decision  &lt;- Novelty 2.</a:t>
            </a:r>
          </a:p>
          <a:p>
            <a:r>
              <a:t> 5. Criticality-aware replication assigns a redundancy tier  &lt;- Novelty 3.</a:t>
            </a:r>
          </a:p>
          <a:p>
            <a:r>
              <a:t> 6. We observe what actually happened and update the CPTs, then sync them to the cloud repository so other</a:t>
            </a:r>
          </a:p>
          <a:p>
            <a:r>
              <a:t>    clusters benefit from what this one learned.</a:t>
            </a:r>
          </a:p>
          <a:p>
            <a:r>
              <a:t>Steps 1-3 are inference; steps 4-5 are control; step 6 closes the loop, which is why the posteriors sharpen</a:t>
            </a:r>
          </a:p>
          <a:p>
            <a:r>
              <a:t>as the run proceeds. Everything in the loop is per-epoch, so it runs inside the deadline.</a:t>
            </a:r>
          </a:p>
          <a:p>
            <a:r>
              <a:t>(Figure drawn in draw.io: figures/methodology_flow.drawio)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(~90 sec)  START BY DEFINING THE WORD "DATASET".</a:t>
            </a:r>
          </a:p>
          <a:p>
            <a:r>
              <a:t>iFogSim2 is a SIMULATOR, not a machine-learning tool. So this dataset is not training data. It DESCRIBES THE</a:t>
            </a:r>
          </a:p>
          <a:p>
            <a:r>
              <a:t>ENVIRONMENT we simulate: where the fog nodes are, how they connect, and how users move.</a:t>
            </a:r>
          </a:p>
          <a:p>
            <a:r>
              <a:t>WHAT IT CONTAINS:</a:t>
            </a:r>
          </a:p>
          <a:p>
            <a:r>
              <a:t> * edgeResources-melbCBD.csv - 131 rows, one per computing resource in the Melbourne central business</a:t>
            </a:r>
          </a:p>
          <a:p>
            <a:r>
              <a:t>   district. Each row has latitude and longitude, the city block, its level in the hierarchy, and its parent.</a:t>
            </a:r>
          </a:p>
          <a:p>
            <a:r>
              <a:t>   These are real cell-site locations.</a:t>
            </a:r>
          </a:p>
          <a:p>
            <a:r>
              <a:t> * usersLocation - 87 recorded user positions; five synthetic traces add 100 positions each so we can scale up.</a:t>
            </a:r>
          </a:p>
          <a:p>
            <a:r>
              <a:t> * ApplicationConfig.json - the applications themselves: ten microservice profiles, each with the MIPS the</a:t>
            </a:r>
          </a:p>
          <a:p>
            <a:r>
              <a:t>   module needs, the network load on its edges, and its deadline.</a:t>
            </a:r>
          </a:p>
          <a:p>
            <a:r>
              <a:t>HOW iFogSim2 BUILDS THE DEVICES:</a:t>
            </a:r>
          </a:p>
          <a:p>
            <a:r>
              <a:t> * Every CSV row becomes a FogDevice object. createFogDevice() builds a processing element (a CPU core rated</a:t>
            </a:r>
          </a:p>
          <a:p>
            <a:r>
              <a:t>   in MIPS - millions of instructions per second), a power host that owns RAM and bandwidth, and the device</a:t>
            </a:r>
          </a:p>
          <a:p>
            <a:r>
              <a:t>   characteristics for that tier.</a:t>
            </a:r>
          </a:p>
          <a:p>
            <a:r>
              <a:t> * The four levels give 1 cloud data centre, 12 block proxy servers, 118 cell-site gateways, and the mobile</a:t>
            </a:r>
          </a:p>
          <a:p>
            <a:r>
              <a:t>   devices under them. Each device has a parent one level up, and each link has a latency - that is how</a:t>
            </a:r>
          </a:p>
          <a:p>
            <a:r>
              <a:t>   end-to-end delay is computed.</a:t>
            </a:r>
          </a:p>
          <a:p>
            <a:r>
              <a:t> * Sensors (ECG, EEG, camera) and actuators (a display, a pan-tilt-zoom motor) attach at level 3. Sensors</a:t>
            </a:r>
          </a:p>
          <a:p>
            <a:r>
              <a:t>   emit the tuples; the modules process them; the actuator consumes the result.</a:t>
            </a:r>
          </a:p>
          <a:p>
            <a:r>
              <a:t>THE TABLE - what each tier is given. Point at the gap: the cloud has 44,800 MIPS, a gateway only 2,800. That</a:t>
            </a:r>
          </a:p>
          <a:p>
            <a:r>
              <a:t>is exactly why placement matters and why a gateway saturates. Busy/idle watts feed the energy model.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(~90 sec)  THIS SLIDE ANSWERS: "where do your failures come from?"</a:t>
            </a:r>
          </a:p>
          <a:p>
            <a:r>
              <a:t>HOW WE CREATE DIFFERENT CONDITIONS - if every node idled, there would be nothing to predict.</a:t>
            </a:r>
          </a:p>
          <a:p>
            <a:r>
              <a:t> * Load: change how many modules sit on a node and how much MIPS each needs.</a:t>
            </a:r>
          </a:p>
          <a:p>
            <a:r>
              <a:t> * Network: the configured link latency, plus the queueing delay that builds up when tuples pile on the uplink.</a:t>
            </a:r>
          </a:p>
          <a:p>
            <a:r>
              <a:t> * Energy: iFogSim's linear power model, P(u) = idle + (busy - idle) x u, where u is utilisation from 0 to 1.</a:t>
            </a:r>
          </a:p>
          <a:p>
            <a:r>
              <a:t>   A node that stays busy drains its residual energy faster.</a:t>
            </a:r>
          </a:p>
          <a:p>
            <a:r>
              <a:t> * Mobility: the traces move users between gateways, so the load a node carries changes during the run.</a:t>
            </a:r>
          </a:p>
          <a:p>
            <a:r>
              <a:t>HOW FAILURES ARE INTRODUCED:</a:t>
            </a:r>
          </a:p>
          <a:p>
            <a:r>
              <a:t> * Say the limitation FIRST: there is no public failure trace for a fog topology like this. So we add our own</a:t>
            </a:r>
          </a:p>
          <a:p>
            <a:r>
              <a:t>   fault-injection harness to iFogSim2.</a:t>
            </a:r>
          </a:p>
          <a:p>
            <a:r>
              <a:t> * A node is failed using a HAZARD FUNCTION over the simulator's true internal state (load, energy, link).</a:t>
            </a:r>
          </a:p>
          <a:p>
            <a:r>
              <a:t>   A hazard function is simply the instantaneous rate of failure given the node has survived so far - a</a:t>
            </a:r>
          </a:p>
          <a:p>
            <a:r>
              <a:t>   stressed node is more likely to be killed at the next step. The record of what failed and when is our</a:t>
            </a:r>
          </a:p>
          <a:p>
            <a:r>
              <a:t>   GROUND TRUTH for scoring predictions.</a:t>
            </a:r>
          </a:p>
          <a:p>
            <a:r>
              <a:t> * THE KEY LINE: the Bayesian network never sees that internal state. It sees only telemetry - sampled at</a:t>
            </a:r>
          </a:p>
          <a:p>
            <a:r>
              <a:t>   intervals, discretised, delayed and sometimes missing. So it is genuinely inferring, not reading the</a:t>
            </a:r>
          </a:p>
          <a:p>
            <a:r>
              <a:t>   answer key. (This pre-empts the "isn't that circular?" question.)</a:t>
            </a:r>
          </a:p>
          <a:p>
            <a:r>
              <a:t>CASES WE RUN: a baseline with no failures for reference numbers; single-node failures at the proxy and gateway</a:t>
            </a:r>
          </a:p>
          <a:p>
            <a:r>
              <a:t>tiers under light and heavy load; runs with telemetry channels withheld (tests the marginalisation claim);</a:t>
            </a:r>
          </a:p>
          <a:p>
            <a:r>
              <a:t>and runs with more users and mobility.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  THE POINT OF THIS TABLE: every input the network needs is something the simulator already</a:t>
            </a:r>
          </a:p>
          <a:p>
            <a:r>
              <a:t>tracks. We are not assuming data we cannot get.</a:t>
            </a:r>
          </a:p>
          <a:p>
            <a:r>
              <a:t>ROW BY ROW:</a:t>
            </a:r>
          </a:p>
          <a:p>
            <a:r>
              <a:t> * CPU utilisation = allocated MIPS / the host's processing capacity, measured each scheduling interval.</a:t>
            </a:r>
          </a:p>
          <a:p>
            <a:r>
              <a:t>   (2,100 used out of 2,800 = 0.75.)</a:t>
            </a:r>
          </a:p>
          <a:p>
            <a:r>
              <a:t> * RAM utilisation - RamProvisionerSimple is the CloudSim/iFogSim class that hands memory to modules; ask it</a:t>
            </a:r>
          </a:p>
          <a:p>
            <a:r>
              <a:t>   how much it has allocated against how much exists.</a:t>
            </a:r>
          </a:p>
          <a:p>
            <a:r>
              <a:t> * Tuple queue depth - how many tuples are waiting on the device. A growing queue means the node cannot keep up.</a:t>
            </a:r>
          </a:p>
          <a:p>
            <a:r>
              <a:t> * Uplink latency and jitter - the configured link latency plus queueing delay. Jitter is the variation in it.</a:t>
            </a:r>
          </a:p>
          <a:p>
            <a:r>
              <a:t> * Residual energy - the FogDevice's cumulative energy consumption against a configured budget.</a:t>
            </a:r>
          </a:p>
          <a:p>
            <a:r>
              <a:t> * Handover rate - how many times users were reassigned to a different parent in the last window. iFogSim2's</a:t>
            </a:r>
          </a:p>
          <a:p>
            <a:r>
              <a:t>   LocationHandler tracks positions and parents.</a:t>
            </a:r>
          </a:p>
          <a:p>
            <a:r>
              <a:t> * Node reliability prior - NOT measured. It is a starting belief from the device class (a cloud data centre is</a:t>
            </a:r>
          </a:p>
          <a:p>
            <a:r>
              <a:t>   more reliable than a phone) and its configured MTBF.</a:t>
            </a:r>
          </a:p>
          <a:p>
            <a:r>
              <a:t>THIRD COLUMN links back to the previous slide: CPU, RAM and queue depth all feed COMPUTATIONAL STRESS;</a:t>
            </a:r>
          </a:p>
          <a:p>
            <a:r>
              <a:t>latency and handovers feed NETWORK DEGRADATION; energy feeds ENERGY STRESS.</a:t>
            </a:r>
          </a:p>
          <a:p>
            <a:r>
              <a:t>TWO NOTES: everything is binned low/medium/high, and the bin edges come from the QUANTILES OF THE BASELINE</a:t>
            </a:r>
          </a:p>
          <a:p>
            <a:r>
              <a:t>RUNS - so "high CPU" means high FOR THIS TOPOLOGY, not an arbitrary 80%. And thermal stress has no sensor in</a:t>
            </a:r>
          </a:p>
          <a:p>
            <a:r>
              <a:t>iFogSim2, so we infer it from sustained utilisation. We state that openly rather than hide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(~75 sec)</a:t>
            </a:r>
          </a:p>
          <a:p>
            <a:r>
              <a:t>PREDICTION QUALITY - precision, recall and F1 within Delta-t; calibration (if we say 0.7, does it fail 70% of</a:t>
            </a:r>
          </a:p>
          <a:p>
            <a:r>
              <a:t>the time?); lead time, because a prediction that arrives too late is worthless; and robustness when we</a:t>
            </a:r>
          </a:p>
          <a:p>
            <a:r>
              <a:t>deliberately withhold telemetry channels.</a:t>
            </a:r>
          </a:p>
          <a:p>
            <a:r>
              <a:t>SYSTEM QUALITY - mean and tail loop delay and the deadline-violation ratio; energy across cloud, fog and</a:t>
            </a:r>
          </a:p>
          <a:p>
            <a:r>
              <a:t>device tiers; service downtime per injected failure; and redundancy overhead, meaning how much standby</a:t>
            </a:r>
          </a:p>
          <a:p>
            <a:r>
              <a:t>capacity we reserved.</a:t>
            </a:r>
          </a:p>
          <a:p>
            <a:r>
              <a:t>BASELINES - cloud-only; iFogSim2's own edgeward placement with no fault tolerance; reactive checkpointing and</a:t>
            </a:r>
          </a:p>
          <a:p>
            <a:r>
              <a:t>replication [1]; and threshold-based proactive migration, FTAPA [3]. Baseline 4 is the important one: it</a:t>
            </a:r>
          </a:p>
          <a:p>
            <a:r>
              <a:t>separates the benefit of PROBABILISTIC INFERENCE from the benefit of simply ACTING EARLY.</a:t>
            </a:r>
          </a:p>
          <a:p>
            <a:r>
              <a:t>WORK PLAN - be precise and do not overstate. Done: the survey, the iFogSim2 environment, the baseline fog vs</a:t>
            </a:r>
          </a:p>
          <a:p>
            <a:r>
              <a:t>cloud runs, and the framework design. Remaining: build and validate the network and its CPTs, the inference</a:t>
            </a:r>
          </a:p>
          <a:p>
            <a:r>
              <a:t>engine and the fault-injection harness, the three policies, then the comparative evaluation. The BBN</a:t>
            </a:r>
          </a:p>
          <a:p>
            <a:r>
              <a:t>implementation is Phase II - that is the plan, not a slip.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(~10 sec)</a:t>
            </a:r>
          </a:p>
          <a:p>
            <a:r>
              <a:t>These are our references: the six surveyed papers, plus the two iFogSim papers for the simulator itself.</a:t>
            </a:r>
          </a:p>
          <a:p>
            <a:r>
              <a:t>Do not read them out. Move on unless asked.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(~10 sec)</a:t>
            </a:r>
          </a:p>
          <a:p>
            <a:r>
              <a:t>Thank you. We are happy to take questions.</a:t>
            </a:r>
          </a:p>
          <a:p>
            <a:r>
              <a:t>MOST LIKELY QUESTIONS: where is your failure data (no public trace - we inject, and we say so); isn't it</a:t>
            </a:r>
          </a:p>
          <a:p>
            <a:r>
              <a:t>circular (harness sees internal state, BBN sees only degraded telemetry); why not deep learning (no labelled</a:t>
            </a:r>
          </a:p>
          <a:p>
            <a:r>
              <a:t>failure corpus exists, and it is not explainable); how do you get the CPTs (expert elicitation plus the</a:t>
            </a:r>
          </a:p>
          <a:p>
            <a:r>
              <a:t>reliability literature, then online updating); what is the inference cost (about 13 variables, near-polytree,</a:t>
            </a:r>
          </a:p>
          <a:p>
            <a:r>
              <a:t>milliseconds, once per node per epoch, not per tuple); what if the controller fails (fog nodes fall back to</a:t>
            </a:r>
          </a:p>
          <a:p>
            <a:r>
              <a:t>their last placement; CPTs are synced to the cloud; distributed inference is future work).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7" name="Google Shape;27;p6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28" name="Google Shape;28;p6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29" name="Google Shape;29;p6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36" name="Google Shape;36;p9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type="subTitle" idx="1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 panose="020B0804030504040204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  <p:sp>
        <p:nvSpPr>
          <p:cNvPr id="65" name="Google Shape;65;p17"/>
          <p:cNvSpPr txBox="1"/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69" name="Google Shape;69;p18"/>
          <p:cNvSpPr txBox="1"/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  <p:sp>
        <p:nvSpPr>
          <p:cNvPr id="70" name="Google Shape;70;p18"/>
          <p:cNvSpPr txBox="1"/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None/>
              <a:defRPr sz="1600" b="1"/>
            </a:lvl9pPr>
          </a:lstStyle>
          <a:p/>
        </p:txBody>
      </p:sp>
      <p:sp>
        <p:nvSpPr>
          <p:cNvPr id="71" name="Google Shape;71;p18"/>
          <p:cNvSpPr txBox="1"/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 panose="020B080403050404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 panose="020B0804030504040204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/>
            </a:lvl9pPr>
          </a:lstStyle>
          <a:p/>
        </p:txBody>
      </p:sp>
      <p:sp>
        <p:nvSpPr>
          <p:cNvPr id="78" name="Google Shape;78;p21"/>
          <p:cNvSpPr txBox="1"/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2"/>
          <p:cNvSpPr txBox="1"/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 panose="020B080403050404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 panose="020B080403050404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 panose="020B080403050404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 panose="020B0804030504040204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 panose="020B0804030504040204"/>
              <a:buChar char="•"/>
              <a:defRPr sz="32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 panose="020B0804030504040204"/>
              <a:buChar char="–"/>
              <a:defRPr sz="28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 panose="020B080403050404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 panose="020B0804030504040204"/>
              <a:buChar char="»"/>
              <a:defRPr sz="2000" b="0" i="0" u="none" strike="noStrike" cap="none">
                <a:solidFill>
                  <a:schemeClr val="dk1"/>
                </a:solidFill>
                <a:latin typeface="Verdana" panose="020B0804030504040204"/>
                <a:ea typeface="Verdana" panose="020B0804030504040204"/>
                <a:cs typeface="Verdana" panose="020B0804030504040204"/>
                <a:sym typeface="Verdana" panose="020B0804030504040204"/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 spc="0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18288"/>
            <a:ext cx="12191695" cy="1444752"/>
          </a:xfrm>
          <a:prstGeom prst="rect">
            <a:avLst/>
          </a:prstGeom>
          <a:solidFill>
            <a:srgbClr val="3352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47088"/>
            <a:ext cx="10543032" cy="1188720"/>
          </a:xfrm>
        </p:spPr>
        <p:txBody>
          <a:bodyPr wrap="square" anchor="ctr"/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004890"/>
                </a:solidFill>
                <a:latin typeface="Arial" panose="020B0604020202090204"/>
              </a:rPr>
              <a:t>Bayesian Belief Network-Driven Proactive Fault Tolerance
for Microservice Placement in Fog Computing</a:t>
            </a:r>
            <a:endParaRPr sz="27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"/>
            <a:ext cx="10728655" cy="8686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 panose="020B0604020202090204"/>
              </a:rPr>
              <a:t>UG PROJECT WORK — PHASE I   |   REVIEW I</a:t>
            </a:r>
            <a:endParaRPr sz="1500" b="1" i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PRESENTED BY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20190" y="3547872"/>
            <a:ext cx="10362895" cy="3429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Mohit R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3122235002072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    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Rahul Akshath Rajendran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  — 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3122235002095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362895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6675"/>
                </a:solidFill>
                <a:latin typeface="Arial" panose="020B0604020202090204"/>
              </a:rPr>
              <a:t>PROJECT GUIDE</a:t>
            </a:r>
            <a:endParaRPr sz="1100" b="1" i="0">
              <a:solidFill>
                <a:srgbClr val="5A6675"/>
              </a:solidFill>
              <a:latin typeface="Arial" panose="020B060402020209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2895" cy="285115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Dr. Sabireen H</a:t>
            </a:r>
            <a:r>
              <a:rPr sz="1500" b="0" i="0">
                <a:solidFill>
                  <a:srgbClr val="1A2332"/>
                </a:solidFill>
                <a:latin typeface="Arial" panose="020B0604020202090204"/>
              </a:rPr>
              <a:t>, </a:t>
            </a:r>
            <a:r>
              <a:rPr lang="en-US" sz="1500" b="0" i="0">
                <a:solidFill>
                  <a:srgbClr val="1A2332"/>
                </a:solidFill>
                <a:latin typeface="Arial" panose="020B0604020202090204"/>
              </a:rPr>
              <a:t>Assistant Professor</a:t>
            </a:r>
            <a:endParaRPr lang="en-US" sz="15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64327" y="4956048"/>
            <a:ext cx="1463040" cy="27432"/>
          </a:xfrm>
          <a:prstGeom prst="rect">
            <a:avLst/>
          </a:prstGeom>
          <a:solidFill>
            <a:srgbClr val="004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38928"/>
            <a:ext cx="10362895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Department of Information Technology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SSN College of Engineering, Kalavakkam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5A6675"/>
                </a:solidFill>
                <a:latin typeface="Arial" panose="020B0604020202090204"/>
              </a:rPr>
              <a:t>20 August 2026</a:t>
            </a:r>
            <a:endParaRPr sz="1300" b="0" i="0">
              <a:solidFill>
                <a:srgbClr val="5A667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Problem Statement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What goes wrong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3716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Fog nodes run latency-critical work on ordinary, exposed hardware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node failure loses its microservice and misses a hard deadline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Checkpointing, retransmission, heartbeat failover: all act after the fault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20040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it is hard to prevent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529584"/>
            <a:ext cx="10972800" cy="137160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Fixed thresholds on one metric fire on load spikes, miss real degradation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Node health is never measured directly — only inferred from noisy telemetry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BBN needs no failure corpus, tolerates missing evidence, names the cause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548640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•  Problem statement:  no fog fault-tolerance mechanism estimates the probability that a node will fail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within a given time, or uses that probability to decide placement, migration and redundancy.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Introduction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325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fog computing is used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5506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Cardiac monitoring and video surveillance must react within tens of milliseconds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distant cloud data centre cannot meet that deadline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Fog runs the application modules on gateways and base stations, near the sensor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632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fog nodes are unreliable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924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Ordinary hardware, uncontrolled location, shared uplink, often on battery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Mobile users hand over between nodes, so each node's load keeps changing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They fail far more often than data-centre servers, breaking critical deadlines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80060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the failure can be anticipated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12978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Nodes degrade first: utilisation rises, queues grow, links and energy decay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That leaves a short window to move the microservice out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We predict inside that window, then place, migrate and replicate on it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Literature Survey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4" name="Table 2"/>
          <p:cNvGraphicFramePr>
            <a:graphicFrameLocks noGrp="1"/>
          </p:cNvGraphicFramePr>
          <p:nvPr/>
        </p:nvGraphicFramePr>
        <p:xfrm>
          <a:off x="612648" y="1225296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Paper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Approach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Main finding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[1]  FT-aware scheduling for healthcare fog
2021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Weighted round-robin, checkpoint above 0.2 CPU, primary-backup replication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Load-aware scheduling raises throughput; adaptive checkpointing costs less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[2]  Fog middleware fault tolerance
2016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Heartbeat polling of the server, switch to a replicated backup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Failover can be made invisible; recovered 3 of 4 test scenarios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[3]  Fault-tolerant microservice placement (FTAPA)
2025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Load-balanced primary, pre-selected backup, migration on a health threshold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Moving a microservice before its host fails reduces service downtime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[4]  BNs to predict software defects and reliability
2007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Bayesian networks over causal factors and measurement data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Expert judgement and data combine; used at Motorola, Siemens, Philips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[5]  BNs for dependability and risk — survey
2012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Ten years of BN use in dependability, risk and maintenance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BNs suit heterogeneous variables better than fault trees or Markov chains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[6]  BNs in environmental modelling
2011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BNs applied to environmental models under sparse observation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Inference still usable when part of the evidence is missing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Research Gap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39319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[1]  FT-aware healthcare scheduling — fixed CPU threshold, a backup stored for every task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[2]  Fog middleware failover — recovery begins only after the server stops answering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[3]  FTAPA microservice placement — threshold hard to set, a backup node per microservice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[4]  BNs for software defects — software processes, not infrastructure; CPTs never updated online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[5]  BN dependability survey — industrial plants, not fog; assumes telemetry is complete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1100"/>
              </a:spcAft>
            </a:pPr>
            <a:r>
              <a:rPr sz="1400" b="1" i="0">
                <a:solidFill>
                  <a:srgbClr val="003060"/>
                </a:solidFill>
                <a:latin typeface="Arial" panose="020B0604020202090204"/>
              </a:rPr>
              <a:t>•  [6]  BNs in environmental modelling — no deadline, so nothing is placed or migrated in real time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530352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•  Common gap:  none of them estimates the probability that a fog node will fail, or uses such an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estimate to decide placement, migration and redundancy.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Objectives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1:  Estimate the failure of a fog node as a probability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0934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Infer P(failure within horizon Δt) for every node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Use whatever telemetry is available; marginalise over the rest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precision, recall, calibration and lead time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1752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2:  Use that probability to place and migrate microservices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4670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Score candidate nodes on latency, energy and failure risk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Move a module only when expected loss of staying exceeds cost of moving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loop delay, deadline violations and downtime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754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Objective 3:  Allocate redundancy by risk and application criticality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08406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Set each module's redundancy from predicted risk × application criticality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Assessed by downtime per unit of reserved standby capacity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Proposed Novelties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1 (Objective 1):  a causal Bayesian Belief Network over node health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0934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Failure is a probability, not a threshold crossing or a binary alarm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Missing evidence is marginalised out, so a prediction is still produced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structure is causal, so it reports which condition drives the risk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301752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2 (Objective 2):  expected-loss migration in place of a fixed threshold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34670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probability enters a utility over latency, energy and risk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Move only when the expected loss of staying exceeds the cost of moving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threshold follows from the cost ratio, so it differs per module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7548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Novelty 3 (Objective 3):  redundancy that follows risk and criticality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5084064"/>
            <a:ext cx="10972800" cy="11887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Redundancy is a budget to spend, not a backup reserved for everything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Warm-standby, checkpoint-only or none, assigned by risk × criticality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Tiers are recomputed as the probabilities change over time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System Architecture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The Proactive Fault-Tolerance Controller sits at the proxy tier, above a cluster of fog nodes</a:t>
            </a:r>
            <a:endParaRPr sz="1250" b="0" i="1">
              <a:solidFill>
                <a:srgbClr val="5A6675"/>
              </a:solidFill>
              <a:latin typeface="Arial" panose="020B0604020202090204"/>
            </a:endParaRPr>
          </a:p>
        </p:txBody>
      </p:sp>
      <p:pic>
        <p:nvPicPr>
          <p:cNvPr id="6" name="Picture 5" descr="methodology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83080"/>
            <a:ext cx="10972800" cy="3536514"/>
          </a:xfrm>
          <a:prstGeom prst="rect">
            <a:avLst/>
          </a:prstGeom>
        </p:spPr>
      </p:pic>
      <p:sp>
        <p:nvSpPr>
          <p:cNvPr id="5" name="TextBox 3"/>
          <p:cNvSpPr txBox="1"/>
          <p:nvPr/>
        </p:nvSpPr>
        <p:spPr>
          <a:xfrm>
            <a:off x="612648" y="553212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250" b="0" i="1">
                <a:solidFill>
                  <a:srgbClr val="5A6675"/>
                </a:solidFill>
                <a:latin typeface="Arial" panose="020B0604020202090204"/>
              </a:rPr>
              <a:t>Telemetry flows up from every fog node; placement, migration and replication decisions flow back down.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The Bayesian Belief Network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1280160"/>
            <a:ext cx="7863840" cy="3852203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612648" y="5230368"/>
            <a:ext cx="53949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Why a Bayesian Belief Network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612648" y="5559552"/>
            <a:ext cx="5394960" cy="9601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~1.6 M joint entries collapse to a few hundred, factorised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Exact inference; missing evidence is marginalised out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Causal — it names the condition driving the risk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2"/>
          <p:cNvSpPr txBox="1"/>
          <p:nvPr/>
        </p:nvSpPr>
        <p:spPr>
          <a:xfrm>
            <a:off x="6190488" y="5230368"/>
            <a:ext cx="53949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Where the numbers come from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6190488" y="5559552"/>
            <a:ext cx="5394960" cy="9601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Structure from domain knowledge, not learned from data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Initial CPTs seeded from the reliability literature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300" b="0" i="0">
                <a:solidFill>
                  <a:srgbClr val="1A2332"/>
                </a:solidFill>
                <a:latin typeface="Arial" panose="020B0604020202090204"/>
              </a:rPr>
              <a:t>•  Refined online by Dirichlet parameter updating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Decision Rules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Placement — score every candidate node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609343"/>
            <a:ext cx="10972800" cy="9601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004890"/>
                </a:solidFill>
                <a:latin typeface="Arial" panose="020B0604020202090204"/>
              </a:rPr>
              <a:t>U(m, n)  =  α (1 − latency)  +  β (1 − energy)  +  γ (1 − P(F | e))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Risk enters the score directly; weights are set per application class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612648" y="292608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Migration — move only when it pays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612648" y="3255264"/>
            <a:ext cx="10972800" cy="9601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004890"/>
                </a:solidFill>
                <a:latin typeface="Arial" panose="020B0604020202090204"/>
              </a:rPr>
              <a:t>E[loss | stay]  =  P(F | e) · C_fail                    E[loss | migrate]  ≈  C_migrate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Migrate when  P(F | e) · C_fail  &gt;  C_migrate  — no threshold is chosen, it falls out of the cost ratio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612648" y="457200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Replication — spend redundancy where risk meets criticality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612648" y="4901184"/>
            <a:ext cx="10972800" cy="9601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 i="0">
                <a:solidFill>
                  <a:srgbClr val="004890"/>
                </a:solidFill>
                <a:latin typeface="Arial" panose="020B0604020202090204"/>
              </a:rPr>
              <a:t>R(m)  =  P(F | e)  ×  κ(m)      →      warm-standby   |   checkpoint-only   |   no redundancy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Tiers are recomputed each epoch, so reserved capacity follows the risk over time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Methodology — Execution Flow per Epoch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pic>
        <p:nvPicPr>
          <p:cNvPr id="4" name="Picture 3" descr="methodology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54480"/>
            <a:ext cx="10972800" cy="1916419"/>
          </a:xfrm>
          <a:prstGeom prst="rect">
            <a:avLst/>
          </a:prstGeom>
        </p:spPr>
      </p:pic>
      <p:sp>
        <p:nvSpPr>
          <p:cNvPr id="5" name="TextBox 2"/>
          <p:cNvSpPr txBox="1"/>
          <p:nvPr/>
        </p:nvSpPr>
        <p:spPr>
          <a:xfrm>
            <a:off x="612648" y="3977639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What runs at each decision epoch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612648" y="43068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Steps 1–3 are inference: telemetry in, a posterior P(F | e) per node out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Steps 4–5 are control: placement, migration and replication act on that posterior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Step 6 closes the loop — outcomes update the CPTs, so the model sharpens as the run proceeds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Dataset Description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What the dataset contains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edgeResources-melbCBD.csv — 131 real edge sites (lat, lon, block, level, parent)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usersLocation-melbCBD_1.csv — 87 real user positions; 5 synthetic traces of 100 each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ApplicationConfig.json — 10 microservice profiles: MIPS, network load, deadline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28346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iFogSim2 builds the devices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1638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Each row becomes a FogDevice through createFogDevice()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Four levels give 1 cloud, 12 block proxies, 118 gateways and mobile devices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Sensors (ECG, EEG, camera) and actuators attach at level 3 and emit tuples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8" name="Table 6"/>
          <p:cNvGraphicFramePr>
            <a:graphicFrameLocks noGrp="1"/>
          </p:cNvGraphicFramePr>
          <p:nvPr/>
        </p:nvGraphicFramePr>
        <p:xfrm>
          <a:off x="612648" y="402336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83280"/>
                <a:gridCol w="1371600"/>
                <a:gridCol w="1554480"/>
                <a:gridCol w="1554480"/>
                <a:gridCol w="1554479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Tier (level)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What it represents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MIPS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RAM (MB)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Uplink BW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Busy / Idle W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Cloud (0)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Cloud data centre, 1 node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44 800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1 648 / 1 332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Proxy (1)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Block proxy servers, 12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 / 83.43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Gateway (2)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Cell-site gateways, 118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2 800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4 000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107.34 / 83.43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Mobile (3)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Phones, cameras, ECG and EEG nodes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200 - 1 000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1 024 - 2 048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10 000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87.53 / 82.44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Simulating Conditions and Failures in iFogSim2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different conditions are produced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Load varied through modules per node and the MIPS each one needs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Network conditions from configured link latency and uplink queueing delay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Mobility traces move users between gateways, shifting load during a run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2834640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How failures are introduced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12648" y="3163824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No public failure trace exists, so a harness injects failures into iFogSim2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 hazard function over true load, energy and link state decides when a node dies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 BBN never sees that state — only sampled, discretised, sometimes missing telemetry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4443984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Cases simulated in the evaluation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4773168"/>
            <a:ext cx="10972800" cy="10972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Baseline run with no failures, for normal loop delay and energy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Single-node failures at proxy and gateway tiers, under light and heavy load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Runs with telemetry withheld, and with more users, so handovers change the load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From Simulator State to BBN Evidence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Every evidence variable is computed from a quantity that iFogSim2 already tracks during a run.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612648" y="1737360"/>
          <a:ext cx="109728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577840"/>
                <a:gridCol w="265176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Evidence variable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Quantity in iFogSim2 it is derived from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 panose="020B0604020202090204"/>
                        </a:rPr>
                        <a:t>Latent condition it feeds</a:t>
                      </a:r>
                      <a:endParaRPr sz="1200" b="1">
                        <a:solidFill>
                          <a:srgbClr val="FFFFFF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00489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CPU utilisation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Allocated MIPS against host PE capacity, per scheduling interval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RAM utilisation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RamProvisionerSimple allocation against available RAM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Tuple queue depth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Length of the pending tuple queue on the device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Computational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Uplink latency and jitter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Configured link latency plus queueing delay on the uplink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Network degradation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Residual energy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FogDevice energy consumption against a configured budget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Energy stress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Handover rate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Parent reassignments per window, from LocationHandler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Network degradation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1">
                          <a:solidFill>
                            <a:srgbClr val="003060"/>
                          </a:solidFill>
                          <a:latin typeface="Arial" panose="020B0604020202090204"/>
                        </a:rPr>
                        <a:t>Node reliability prior</a:t>
                      </a:r>
                      <a:endParaRPr sz="1200" b="1">
                        <a:solidFill>
                          <a:srgbClr val="003060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Device class (cloud, proxy, gateway, mobile) and its MTBF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</a:pPr>
                      <a:r>
                        <a:rPr sz="1200" b="0">
                          <a:solidFill>
                            <a:srgbClr val="1A2332"/>
                          </a:solidFill>
                          <a:latin typeface="Arial" panose="020B0604020202090204"/>
                        </a:rPr>
                        <a:t>Parent of the target</a:t>
                      </a:r>
                      <a:endParaRPr sz="1200" b="0">
                        <a:solidFill>
                          <a:srgbClr val="1A2332"/>
                        </a:solidFill>
                        <a:latin typeface="Arial" panose="020B0604020202090204"/>
                      </a:endParaRP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4"/>
          <p:cNvSpPr txBox="1"/>
          <p:nvPr/>
        </p:nvSpPr>
        <p:spPr>
          <a:xfrm>
            <a:off x="612648" y="5440680"/>
            <a:ext cx="109728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All variables are binned into low, medium and high, using quantiles of the baseline runs.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Thermal stress is inferred from sustained utilisation, as iFogSim2 has no temperature sensor.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Evaluation Plan, Baselines and Work Plan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Evaluation metrics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12648" y="155448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Prediction quality</a:t>
            </a:r>
            <a:endParaRPr sz="14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1874520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Precision, recall and F1 within Δt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Calibration against observed frequency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Lead time before the actual failure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Robustness when telemetry is withheld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6227064" y="155448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1" i="0">
                <a:solidFill>
                  <a:srgbClr val="1A2332"/>
                </a:solidFill>
                <a:latin typeface="Arial" panose="020B0604020202090204"/>
              </a:rPr>
              <a:t>System quality</a:t>
            </a:r>
            <a:endParaRPr sz="14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227064" y="1874520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Loop delay and deadline-violation ratio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Energy across cloud, fog and device tiers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Service downtime per injected failure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Reserved standby capacity as overhead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612648" y="356616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Baselines for comparison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2648" y="3895344"/>
            <a:ext cx="5358384" cy="1462608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1.  Cloud-only placement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2.  iFogSim2 edgeward placement, no fault tolerance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3.  Reactive checkpointing and replication [1]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4.  Threshold-based proactive migration, FTAPA [3]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612648" y="5303520"/>
            <a:ext cx="5358384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Baseline 4 separates probabilistic inference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     from simply acting early.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227064" y="3566160"/>
            <a:ext cx="5358384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3060"/>
                </a:solidFill>
                <a:latin typeface="Arial" panose="020B0604020202090204"/>
              </a:rPr>
              <a:t>Work plan</a:t>
            </a:r>
            <a:endParaRPr sz="1700" b="1" i="0">
              <a:solidFill>
                <a:srgbClr val="003060"/>
              </a:solidFill>
              <a:latin typeface="Arial" panose="020B0604020202090204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6227064" y="3895344"/>
            <a:ext cx="5358384" cy="201168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Done: survey, iFogSim2 set up, baseline runs, design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build and validate the BBN and its CPTs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inference engine and fault-injection harness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placement, migration and replication policies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Arial" panose="020B0604020202090204"/>
              </a:rPr>
              <a:t>•  Next: comparative evaluation against the baselines</a:t>
            </a:r>
            <a:endParaRPr sz="14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10896"/>
            <a:ext cx="10972800" cy="658368"/>
          </a:xfrm>
        </p:spPr>
        <p:txBody>
          <a:bodyPr wrap="square" anchor="ctr"/>
          <a:lstStyle/>
          <a:p>
            <a:pPr algn="ctr"/>
            <a:r>
              <a:rPr sz="2500" b="1">
                <a:solidFill>
                  <a:srgbClr val="004890"/>
                </a:solidFill>
                <a:latin typeface="Arial" panose="020B0604020202090204"/>
              </a:rPr>
              <a:t>References</a:t>
            </a:r>
            <a:endParaRPr sz="2500" b="1">
              <a:solidFill>
                <a:srgbClr val="004890"/>
              </a:solidFill>
              <a:latin typeface="Arial" panose="020B0604020202090204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612648" y="1097280"/>
            <a:ext cx="10972800" cy="25603"/>
          </a:xfrm>
          <a:prstGeom prst="rect">
            <a:avLst/>
          </a:prstGeom>
          <a:solidFill>
            <a:srgbClr val="D3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12648" y="128016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[1]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207008" y="128016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H. T. Rajab and M. F. Younis, “Dynamic fault tolerance aware scheduling for healthcare system on fog computing,” Iraqi Journal of Science, vol. 62, no. 1, pp. 308–318, 2021.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12648" y="182880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[2]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207008" y="182880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M. H. Naim, J. M. Zain and K. A. Jalil, “Fault tolerance mechanism for software application through fog computing as middleware,” Int. J. Computing and Digital Systems, vol. 5, no. 3, 2016.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12648" y="237744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[3]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207008" y="237744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S. Gupta and N. Singh, “Optimized fault-tolerant placement of microservices in distributed fog networks,” IJDIIC, vol. 4, no. 4, pp. 52–69, 2025.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612648" y="292608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[4]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207008" y="292608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N. Fenton, M. Neil and D. Marquez, “Using Bayesian networks to predict software defects and reliability,” Proc. MMR07, Glasgow, 2007.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612648" y="347472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[5]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1207008" y="347472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P. Weber, G. Medina-Oliva, C. Simon and B. Iung, “Overview on Bayesian networks applications for dependability, risk analysis and maintenance areas,” Eng. Appl. Artif. Intell., vol. 25, no. 4, pp. 671–682, 2012.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612648" y="402336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[6]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1207008" y="402336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P. A. Aguilera et al., “Bayesian networks in environmental modelling,” Environmental Modelling &amp; Software, vol. 26, no. 12, pp. 1376–1388, 2011.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612648" y="457200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[7]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1207008" y="457200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R. Mahmud, S. Pallewatta, M. Goudarzi and R. Buyya, “iFogSim2: An extended iFogSim simulator,” J. Systems and Software, vol. 190, art. 111351, 2022.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8" name="TextBox 16"/>
          <p:cNvSpPr txBox="1"/>
          <p:nvPr/>
        </p:nvSpPr>
        <p:spPr>
          <a:xfrm>
            <a:off x="612648" y="5120640"/>
            <a:ext cx="59436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332"/>
                </a:solidFill>
                <a:latin typeface="Arial" panose="020B0604020202090204"/>
              </a:rPr>
              <a:t>[8]</a:t>
            </a:r>
            <a:endParaRPr sz="1200" b="1" i="0">
              <a:solidFill>
                <a:srgbClr val="1A2332"/>
              </a:solidFill>
              <a:latin typeface="Arial" panose="020B0604020202090204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207008" y="5120640"/>
            <a:ext cx="1037844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2332"/>
                </a:solidFill>
                <a:latin typeface="Arial" panose="020B0604020202090204"/>
              </a:rPr>
              <a:t>H. Gupta, A. V. Dastjerdi, S. K. Ghosh and R. Buyya, “iFogSim: A toolkit for modeling and simulation of resource management techniques,” Software: Practice and Experience, vol. 47, no. 9, pp. 1275–1296, 2017.</a:t>
            </a:r>
            <a:endParaRPr sz="1200" b="0" i="0">
              <a:solidFill>
                <a:srgbClr val="1A2332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0"/>
            <a:ext cx="1097280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04890"/>
                </a:solidFill>
                <a:latin typeface="Arial" panose="020B0604020202090204"/>
              </a:rPr>
              <a:t>Thank You</a:t>
            </a:r>
            <a:endParaRPr sz="4000" b="1" i="0">
              <a:solidFill>
                <a:srgbClr val="004890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12032</Words>
  <Application>WPS Presentation</Application>
  <PresentationFormat/>
  <Paragraphs>414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Verdana</vt:lpstr>
      <vt:lpstr>Microsoft YaHei</vt:lpstr>
      <vt:lpstr>汉仪旗黑</vt:lpstr>
      <vt:lpstr>Arial Unicode MS</vt:lpstr>
      <vt:lpstr>宋体-简</vt:lpstr>
      <vt:lpstr>Theme9</vt:lpstr>
      <vt:lpstr>1_Theme9</vt:lpstr>
      <vt:lpstr>Bayesian Belief Network-Driven Proactive Fault Tolerance
for Microservice Placement in Fog Computing</vt:lpstr>
      <vt:lpstr>Problem Statement</vt:lpstr>
      <vt:lpstr>Introduction</vt:lpstr>
      <vt:lpstr>Literature Survey</vt:lpstr>
      <vt:lpstr>Research Gap</vt:lpstr>
      <vt:lpstr>Objectives</vt:lpstr>
      <vt:lpstr>Proposed Novelties</vt:lpstr>
      <vt:lpstr>Methodology — System Architecture</vt:lpstr>
      <vt:lpstr>Methodology — The Bayesian Belief Network</vt:lpstr>
      <vt:lpstr>Methodology — Decision Rules</vt:lpstr>
      <vt:lpstr>Methodology — Execution Flow per Epoch</vt:lpstr>
      <vt:lpstr>Dataset Description</vt:lpstr>
      <vt:lpstr>Simulating Conditions and Failures in iFogSim2</vt:lpstr>
      <vt:lpstr>From Simulator State to BBN Evidence</vt:lpstr>
      <vt:lpstr>Evaluation Plan, Baselines and Work Plan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Belief Network-Driven Proactive Fault Tolerance
for Microservice Placement in Fog Computing</dc:title>
  <dc:creator/>
  <cp:lastModifiedBy>rahul</cp:lastModifiedBy>
  <cp:revision>10</cp:revision>
  <dcterms:created xsi:type="dcterms:W3CDTF">2026-08-30T10:48:27Z</dcterms:created>
  <dcterms:modified xsi:type="dcterms:W3CDTF">2026-08-30T10:48:27Z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69A80B6EBB77E8D97E64856A7BBC5B39_42</vt:lpwstr>
  </property>
</Properties>
</file>