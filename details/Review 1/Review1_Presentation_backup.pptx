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5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7" name="Google Shape;27;p6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28" name="Google Shape;28;p6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9" name="Google Shape;29;p6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36" name="Google Shape;36;p9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65" name="Google Shape;65;p17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69" name="Google Shape;69;p18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70" name="Google Shape;70;p18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71" name="Google Shape;71;p18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78" name="Google Shape;78;p21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2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18288"/>
            <a:ext cx="12191695" cy="1444752"/>
          </a:xfrm>
          <a:prstGeom prst="rect">
            <a:avLst/>
          </a:prstGeom>
          <a:solidFill>
            <a:srgbClr val="335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47088"/>
            <a:ext cx="10543032" cy="1188720"/>
          </a:xfrm>
        </p:spPr>
        <p:txBody>
          <a:bodyPr wrap="square" anchor="ctr"/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004890"/>
                </a:solidFill>
                <a:latin typeface="Arial" panose="020B0604020202090204"/>
              </a:rPr>
              <a:t>Bayesian Belief Network-Driven Proactive Fault Tolerance
for Microservice Placement in Fog Computing</a:t>
            </a:r>
            <a:endParaRPr sz="27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728655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 panose="020B0604020202090204"/>
              </a:rPr>
              <a:t>UG PROJECT WORK — PHASE I   |   REVIEW I</a:t>
            </a:r>
            <a:endParaRPr sz="15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PRESENTED BY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190" y="3547872"/>
            <a:ext cx="10362895" cy="3429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Mohit R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3122235002072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    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Rahul Akshath Rajendran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3122235002095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PROJECT GUIDE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2895" cy="28511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Dr. Sabireen H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,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Assistant Professor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64327" y="4956048"/>
            <a:ext cx="1463040" cy="27432"/>
          </a:xfrm>
          <a:prstGeom prst="rect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Department of Information Technology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SSN College of Engineering, Kalavakkam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20 August 2026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Introduction &amp; Motivation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Fog computing buys latency — and pays for it in reliability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81328"/>
            <a:ext cx="5358384" cy="201168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3816" y="1609344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3060"/>
                </a:solidFill>
                <a:latin typeface="Arial" panose="020B0604020202090204"/>
              </a:rPr>
              <a:t>Why fog computing</a:t>
            </a:r>
            <a:endParaRPr sz="15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4" y="1975104"/>
            <a:ext cx="4937760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Latency-critical IoT cannot round-trip to the cloud — ECG must be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    classified in tens of milliseconds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Fog places computation one or two hops from the sensor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Gateways, routers and base stations host the application modules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7064" y="1481328"/>
            <a:ext cx="5358384" cy="201168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 w="12700">
            <a:solidFill>
              <a:srgbClr val="B2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232" y="1609344"/>
            <a:ext cx="493776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23A3E"/>
                </a:solidFill>
                <a:latin typeface="Arial" panose="020B0604020202090204"/>
              </a:rPr>
              <a:t>Why reliability is the weak point</a:t>
            </a:r>
            <a:endParaRPr sz="1500" b="1" i="0">
              <a:solidFill>
                <a:srgbClr val="B23A3E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975104"/>
            <a:ext cx="4937760" cy="13898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Commodity hardware in uncontrolled environments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Shared constrained uplinks; limited or battery power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Mobile users continually reshape the load each node carries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250" b="0" i="0">
                <a:solidFill>
                  <a:srgbClr val="1A2332"/>
                </a:solidFill>
                <a:latin typeface="Arial" panose="020B0604020202090204"/>
              </a:rPr>
              <a:t>•  No redundant power, cooling or network path as in a data centre</a:t>
            </a:r>
            <a:endParaRPr sz="12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" y="3712464"/>
            <a:ext cx="10972800" cy="84124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A85D00"/>
                </a:solidFill>
                <a:latin typeface="Arial" panose="020B0604020202090204"/>
              </a:rPr>
              <a:t>Failures are rarely instantaneous — a node degrades through rising utilisation, thermal stress,</a:t>
            </a:r>
            <a:endParaRPr sz="1400" b="1" i="0">
              <a:solidFill>
                <a:srgbClr val="A85D00"/>
              </a:solidFill>
              <a:latin typeface="Arial" panose="020B0604020202090204"/>
            </a:endParaRPr>
          </a:p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A85D00"/>
                </a:solidFill>
                <a:latin typeface="Arial" panose="020B0604020202090204"/>
              </a:rPr>
              <a:t>queue build-up and link deterioration before it becomes unresponsive.</a:t>
            </a:r>
            <a:endParaRPr sz="140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" y="4681728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 panose="020B0604020202090204"/>
              </a:rPr>
              <a:t>That degradation window is the opportunity this project exploits.</a:t>
            </a:r>
            <a:endParaRPr sz="150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Literature Survey — Reactive Approaches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Three of the five surveyed systems recover only after a fault has occurred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81328"/>
          <a:ext cx="10972799" cy="405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788920"/>
                <a:gridCol w="315468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Paper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Technique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Inference drawn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Limitation identified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12252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[1] Rajab &amp; Younis
Iraqi J. Science, 2021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Dynamic Weighted Round Robin scheduling, dynamic checkpointing at CPU &gt; 0.2, primary–backup replication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Load-aware distribution raises throughput, and adaptive checkpointing cuts re-execution cost versus fixed intervals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Threshold is fixed and workload-independent; backup storage reserved always; no capacity to anticipate failure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12252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[2] Syed et al.
Sensors, 2022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SDN-controlled priority scheduling with ACK-based retransmission for vehicular networks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Prioritising safety-critical traffic roughly halves response time and lowers the message failure ratio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Recovery is retransmission alone — no backup execution or state management; ACK traffic adds network load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1225296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[3] Naim et al.
IJCDS, 2016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Fog middleware with heartbeat monitoring and automatic failover to a replicated backup server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Middleware-level indirection allows failover to be transparent to the user, recovering 3 of 4 test scenarios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Waits until the server has already stopped responding; single backup; continuous heartbeat overhead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" y="5705856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003060"/>
                </a:solidFill>
                <a:latin typeface="Arial" panose="020B0604020202090204"/>
              </a:rPr>
              <a:t>Common to all three: detection-driven recovery — the cost is paid exactly when the deadline matters most.</a:t>
            </a:r>
            <a:endParaRPr sz="1250" b="0" i="1">
              <a:solidFill>
                <a:srgbClr val="003060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Literature Survey — Proactive Placement &amp; BBN Foundations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The closest prior work, and the body of theory this project draws on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81328"/>
          <a:ext cx="1097279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788920"/>
                <a:gridCol w="3154680"/>
                <a:gridCol w="3154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Paper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Technique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Inference drawn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Limitation identified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[4] Reyana et al.
Sustainability, 2023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QoS-EO — hybrid Particle Swarm and Artificial Bee Colony task placement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Better placement reduces node overload, improving fault tolerance indirectly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Two metaheuristics in sequence is costly and parameter-sensitive; reliability is only a static fitness term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[5] Gupta &amp; Singh
IJDIIC, 2025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FTAPA — load-balanced node selection with threshold-triggered proactive migration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Acting before failure measurably reduces downtime versus detection-driven recovery — the key positive result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Fault threshold is hard to tune (too low, migration is late; too high, it is wasteful); a backup is reserved per microservice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986784"/>
            <a:ext cx="109728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060"/>
                </a:solidFill>
                <a:latin typeface="Arial" panose="020B0604020202090204"/>
              </a:rPr>
              <a:t>Bayesian Belief Network foundations — established in reliability engineering, not yet applied to fog placement</a:t>
            </a:r>
            <a:endParaRPr sz="12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" y="4261104"/>
            <a:ext cx="1097280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4306824"/>
            <a:ext cx="21488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4890"/>
                </a:solidFill>
                <a:latin typeface="Arial" panose="020B0604020202090204"/>
              </a:rPr>
              <a:t>[6] Pearl, 1988</a:t>
            </a:r>
            <a:endParaRPr sz="10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44368" y="4306824"/>
            <a:ext cx="85039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 i="0">
                <a:solidFill>
                  <a:srgbClr val="5A6675"/>
                </a:solidFill>
                <a:latin typeface="Arial" panose="020B0604020202090204"/>
              </a:rPr>
              <a:t>Semantics of belief networks and the message-passing algorithms that make inference practical</a:t>
            </a:r>
            <a:endParaRPr sz="102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" y="4645152"/>
            <a:ext cx="109728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" y="4690872"/>
            <a:ext cx="21488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4890"/>
                </a:solidFill>
                <a:latin typeface="Arial" panose="020B0604020202090204"/>
              </a:rPr>
              <a:t>[7] Fenton et al., 2007</a:t>
            </a:r>
            <a:endParaRPr sz="10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44368" y="4690872"/>
            <a:ext cx="85039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 i="0">
                <a:solidFill>
                  <a:srgbClr val="5A6675"/>
                </a:solidFill>
                <a:latin typeface="Arial" panose="020B0604020202090204"/>
              </a:rPr>
              <a:t>BNs predict software defects and reliability; combine causal factors with measurement; deployed at Motorola, Siemens, Philips</a:t>
            </a:r>
            <a:endParaRPr sz="102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" y="5029200"/>
            <a:ext cx="1097280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0664" y="5074920"/>
            <a:ext cx="21488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4890"/>
                </a:solidFill>
                <a:latin typeface="Arial" panose="020B0604020202090204"/>
              </a:rPr>
              <a:t>[8] Weber et al., 2012</a:t>
            </a:r>
            <a:endParaRPr sz="10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44368" y="5074920"/>
            <a:ext cx="85039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 i="0">
                <a:solidFill>
                  <a:srgbClr val="5A6675"/>
                </a:solidFill>
                <a:latin typeface="Arial" panose="020B0604020202090204"/>
              </a:rPr>
              <a:t>Decade-long survey: BNs outperform Markov chains, fault trees and Petri nets for dependability and maintenance</a:t>
            </a:r>
            <a:endParaRPr sz="102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" y="5413248"/>
            <a:ext cx="10972800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" y="5458968"/>
            <a:ext cx="21488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4890"/>
                </a:solidFill>
                <a:latin typeface="Arial" panose="020B0604020202090204"/>
              </a:rPr>
              <a:t>[9] Aguilera et al., 2011</a:t>
            </a:r>
            <a:endParaRPr sz="10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44368" y="5458968"/>
            <a:ext cx="85039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 i="0">
                <a:solidFill>
                  <a:srgbClr val="5A6675"/>
                </a:solidFill>
                <a:latin typeface="Arial" panose="020B0604020202090204"/>
              </a:rPr>
              <a:t>BNs handle sparse and unreliable observation gracefully in environmental modelling</a:t>
            </a:r>
            <a:endParaRPr sz="102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2648" y="5797296"/>
            <a:ext cx="10972800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" y="5843016"/>
            <a:ext cx="214884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4890"/>
                </a:solidFill>
                <a:latin typeface="Arial" panose="020B0604020202090204"/>
              </a:rPr>
              <a:t>[10] Pang &amp; Abramov, 2025</a:t>
            </a:r>
            <a:endParaRPr sz="10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44368" y="5843016"/>
            <a:ext cx="850392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 i="0">
                <a:solidFill>
                  <a:srgbClr val="5A6675"/>
                </a:solidFill>
                <a:latin typeface="Arial" panose="020B0604020202090204"/>
              </a:rPr>
              <a:t>Deep learning for IoT reliability — confirms the need, but at the cost of interpretability</a:t>
            </a:r>
            <a:endParaRPr sz="102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Inference from the Literature Survey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What the five systems, taken together, tell us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63040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58952" y="1764792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9304" y="1554480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Fault tolerance in fog is overwhelmingly reactive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9304" y="1828800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Three of five act only after detection. Recovery latency is incurred at the worst possible moment.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27064" y="1463040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73368" y="1764792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554480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Acting early demonstrably works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3720" y="1828800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FTAPA [5] shows proactive migration reduces downtime — the principle is sound and worth building on.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" y="2596896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2898648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9304" y="2688336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But prediction is deterministic and single-metric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9304" y="2962656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Fixed thresholds on one scalar (CPU &gt; 0.2, a health index) — reported by the authors themselves as hard to tune.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27064" y="2596896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73368" y="2898648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2688336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Node health is treated as directly observable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No system models it as a latent condition inferred from noisy, interdependent, sometimes-missing telemetry.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" y="3730752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8952" y="4032504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5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9304" y="3822191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Redundancy is provisioned uniformly, not by risk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89304" y="4096512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A backup per task or per microservice, consuming standby capacity whether or not failure ever occurs.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27064" y="3730752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73368" y="4032504"/>
            <a:ext cx="402336" cy="402336"/>
          </a:xfrm>
          <a:prstGeom prst="roundRect">
            <a:avLst>
              <a:gd name="adj" fmla="val 24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6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03720" y="3822191"/>
            <a:ext cx="4535424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003060"/>
                </a:solidFill>
                <a:latin typeface="Arial" panose="020B0604020202090204"/>
              </a:rPr>
              <a:t>Reliability enters optimisation only as a static term</a:t>
            </a:r>
            <a:endParaRPr sz="128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4096512"/>
            <a:ext cx="4553712" cy="56692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QoS-EO [4] scores reliability in a fitness function but never estimates whether a given node is about to fail.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2648" y="4919472"/>
            <a:ext cx="10972800" cy="786384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Conclusion:  the field needs a probabilistic, explainable estimate of imminent node failure —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and a decision rule that spends migration and redundancy in proportion to that probability.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Research Gap &amp; Problem Statement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25295"/>
            <a:ext cx="109728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060"/>
                </a:solidFill>
                <a:latin typeface="Arial" panose="020B0604020202090204"/>
              </a:rPr>
              <a:t>No surveyed system does any of the following:</a:t>
            </a:r>
            <a:endParaRPr sz="13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1536192"/>
            <a:ext cx="5358384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58952" y="178308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✕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9304" y="1627632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332"/>
                </a:solidFill>
                <a:latin typeface="Arial" panose="020B0604020202090204"/>
              </a:rPr>
              <a:t>Quantifies failure probability</a:t>
            </a:r>
            <a:endParaRPr sz="13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9304" y="1901952"/>
            <a:ext cx="4553712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Binary alarms and threshold comparisons — never a calibrated probability.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27064" y="1536192"/>
            <a:ext cx="5358384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73368" y="178308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✕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3720" y="1627632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332"/>
                </a:solidFill>
                <a:latin typeface="Arial" panose="020B0604020202090204"/>
              </a:rPr>
              <a:t>Reasons under partial telemetry</a:t>
            </a:r>
            <a:endParaRPr sz="13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03720" y="1901952"/>
            <a:ext cx="4553712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When a channel drops out — likeliest just as failure nears — a threshold rule stops firing.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" y="2542032"/>
            <a:ext cx="5358384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" y="278892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✕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9304" y="2633472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332"/>
                </a:solidFill>
                <a:latin typeface="Arial" panose="020B0604020202090204"/>
              </a:rPr>
              <a:t>Explains its own prediction</a:t>
            </a:r>
            <a:endParaRPr sz="13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9304" y="2907792"/>
            <a:ext cx="4553712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A scalar health index cannot say which condition drives the risk, so it cannot guide the remedy.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27064" y="2542032"/>
            <a:ext cx="5358384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73368" y="2788920"/>
            <a:ext cx="384048" cy="384048"/>
          </a:xfrm>
          <a:prstGeom prst="roundRect">
            <a:avLst>
              <a:gd name="adj" fmla="val 26000"/>
            </a:avLst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✕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03720" y="2633472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332"/>
                </a:solidFill>
                <a:latin typeface="Arial" panose="020B0604020202090204"/>
              </a:rPr>
              <a:t>Modulates redundancy by risk</a:t>
            </a:r>
            <a:endParaRPr sz="13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03720" y="2907792"/>
            <a:ext cx="4553712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Standby capacity is allocated uniformly rather than where it changes the outcome.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" y="3675887"/>
            <a:ext cx="10972800" cy="1389888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Problem Statement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  <a:p>
            <a:pPr algn="ctr">
              <a:lnSpc>
                <a:spcPct val="122000"/>
              </a:lnSpc>
            </a:pPr>
          </a:p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No existing fog fault-tolerance mechanism quantifies the probability of imminent node failure under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uncertainty, or uses that probability to drive placement, migration and redundancy decisions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  <a:p>
            <a:pPr algn="ctr">
              <a:lnSpc>
                <a:spcPct val="122000"/>
              </a:lnSpc>
            </a:pPr>
            <a:r>
              <a:rPr sz="1450" b="1" i="0">
                <a:solidFill>
                  <a:srgbClr val="FFFFFF"/>
                </a:solidFill>
                <a:latin typeface="Arial" panose="020B0604020202090204"/>
              </a:rPr>
              <a:t>before the failure occurs.</a:t>
            </a:r>
            <a:endParaRPr sz="1450" b="1" i="0">
              <a:solidFill>
                <a:srgbClr val="FFFFFF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Approach Selection — Why a Bayesian Belief Network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Candidate approaches evaluated against the requirements of this problem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81328"/>
          <a:ext cx="10972800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063240"/>
                <a:gridCol w="5577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Candidate approach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Strength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Why it does not fit this problem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Fixed threshold rules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Trivial to implement; needs no training data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Single metric, no uncertainty, cannot reason when telemetry is missing, threshold hard to tune — the documented weakness of [1] and [5]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Metaheuristics (PSO, ABC, GA)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Effective at searching a large placement space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Optimises an assignment but never estimates whether a node will fail; computationally heavy and parameter-sensitive [4]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Markov chains / fault trees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Classical, well-understood reliability formalisms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State-space explosion; poor at partial evidence; structure is static — Weber et al. [8] document BN advantages over exactly these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ML classifiers / deep learning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High accuracy when abundant labelled data exists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Needs thousands of labelled failures that do not exist for fog; outputs are miscalibrated; black-box; requires imputation for missing inputs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A85D00"/>
                          </a:solidFill>
                          <a:latin typeface="Arial" panose="020B0604020202090204"/>
                        </a:rPr>
                        <a:t>Bayesian Belief Network</a:t>
                      </a:r>
                      <a:endParaRPr sz="1100" b="1">
                        <a:solidFill>
                          <a:srgbClr val="A85D0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B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A85D00"/>
                          </a:solidFill>
                          <a:latin typeface="Arial" panose="020B0604020202090204"/>
                        </a:rPr>
                        <a:t>Causal graph with conditional probability tables; exact posterior inference</a:t>
                      </a:r>
                      <a:endParaRPr sz="1100" b="1">
                        <a:solidFill>
                          <a:srgbClr val="A85D0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BF3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A85D00"/>
                          </a:solidFill>
                          <a:latin typeface="Arial" panose="020B0604020202090204"/>
                        </a:rPr>
                        <a:t>SELECTED — meets every requirement below</a:t>
                      </a:r>
                      <a:endParaRPr sz="1100" b="1">
                        <a:solidFill>
                          <a:srgbClr val="A85D0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BF3E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" y="5266944"/>
            <a:ext cx="2633472" cy="786384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0664" y="5349240"/>
            <a:ext cx="2377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Works without a failure corpus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0664" y="5623559"/>
            <a:ext cx="239572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675"/>
                </a:solidFill>
                <a:latin typeface="Arial" panose="020B0604020202090204"/>
              </a:rPr>
              <a:t>CPTs seeded from expert knowledge and reliability literature</a:t>
            </a:r>
            <a:endParaRPr sz="10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83279" y="5266944"/>
            <a:ext cx="2633472" cy="786384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11296" y="5349240"/>
            <a:ext cx="2377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Handles missing evidence natively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11296" y="5623559"/>
            <a:ext cx="239572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675"/>
                </a:solidFill>
                <a:latin typeface="Arial" panose="020B0604020202090204"/>
              </a:rPr>
              <a:t>Unobserved variables are marginalised, not imputed</a:t>
            </a:r>
            <a:endParaRPr sz="10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53912" y="5266944"/>
            <a:ext cx="2633472" cy="786384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1927" y="5349240"/>
            <a:ext cx="2377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Calibrated probability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81927" y="5623559"/>
            <a:ext cx="239572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675"/>
                </a:solidFill>
                <a:latin typeface="Arial" panose="020B0604020202090204"/>
              </a:rPr>
              <a:t>Required by the expected-loss decision rule</a:t>
            </a:r>
            <a:endParaRPr sz="10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24544" y="5266944"/>
            <a:ext cx="2633472" cy="786384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5349240"/>
            <a:ext cx="237744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Explainable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52560" y="5623559"/>
            <a:ext cx="239572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A6675"/>
                </a:solidFill>
                <a:latin typeface="Arial" panose="020B0604020202090204"/>
              </a:rPr>
              <a:t>Reports which condition drives the risk</a:t>
            </a:r>
            <a:endParaRPr sz="100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Proposed Work — Three Novelties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One produces a probability; the other two spend it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81328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1481328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8952" y="1609344"/>
            <a:ext cx="493776" cy="36576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N1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2011680"/>
            <a:ext cx="3182112" cy="4206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BBN-Based Failure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Prediction Engine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8" y="2615184"/>
            <a:ext cx="3127248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1A2332"/>
                </a:solidFill>
                <a:latin typeface="Arial" panose="020B0604020202090204"/>
              </a:rPr>
              <a:t>A causal Bayesian Belief Network infers P(failure within Δt | evidence) from heterogeneous telemetry.</a:t>
            </a:r>
            <a:endParaRPr sz="118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13816" y="369417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6696" y="361188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Marginalises over missing evidence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3816" y="424281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" y="416052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Reports the causal chain, not a score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3816" y="4791455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6696" y="4709159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CPTs adapted online from outcomes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61688" y="1481328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61688" y="1481328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07992" y="1609344"/>
            <a:ext cx="493776" cy="36576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N2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07992" y="2011680"/>
            <a:ext cx="3182112" cy="4206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Risk-Aware Placement &amp;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Expected-Loss Migration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44568" y="2615184"/>
            <a:ext cx="3127248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1A2332"/>
                </a:solidFill>
                <a:latin typeface="Arial" panose="020B0604020202090204"/>
              </a:rPr>
              <a:t>The posterior enters a utility over latency, energy and risk; migration becomes cost-sensitive.</a:t>
            </a:r>
            <a:endParaRPr sz="118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62855" y="369417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45736" y="361188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Migrate iff P(fail)·C_fail &gt; C_migrate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562855" y="424281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45736" y="416052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No threshold left to tune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562855" y="4791455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45736" y="4709159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Effective threshold derived per module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10727" y="1481328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10727" y="1481328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57031" y="1609344"/>
            <a:ext cx="493776" cy="36576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 panose="020B0604020202090204"/>
              </a:rPr>
              <a:t>N3</a:t>
            </a:r>
            <a:endParaRPr sz="12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57031" y="2011680"/>
            <a:ext cx="3182112" cy="42062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Criticality-Aware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Arial" panose="020B0604020202090204"/>
              </a:rPr>
              <a:t>Selective Replication</a:t>
            </a:r>
            <a:endParaRPr sz="13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93607" y="2615184"/>
            <a:ext cx="3127248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 i="0">
                <a:solidFill>
                  <a:srgbClr val="1A2332"/>
                </a:solidFill>
                <a:latin typeface="Arial" panose="020B0604020202090204"/>
              </a:rPr>
              <a:t>Standby capacity allocated in proportion to predicted risk × application criticality.</a:t>
            </a:r>
            <a:endParaRPr sz="118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311896" y="369417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94776" y="361188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Warm standby — high risk, critical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311896" y="4242816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94776" y="4160520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Checkpoint only — intermediate risk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311896" y="4791455"/>
            <a:ext cx="91440" cy="91440"/>
          </a:xfrm>
          <a:prstGeom prst="ellipse">
            <a:avLst/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94776" y="4709159"/>
            <a:ext cx="2926080" cy="47548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A6675"/>
                </a:solidFill>
                <a:latin typeface="Arial" panose="020B0604020202090204"/>
              </a:rPr>
              <a:t>No redundancy — best effort</a:t>
            </a:r>
            <a:endParaRPr sz="110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System Architecture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The Proactive Fault-Tolerance Controller sits at the proxy tier, above a cluster of fog nodes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810512"/>
            <a:ext cx="1783080" cy="2761488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088" y="1856231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IoT / End Devices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206654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Health Sensors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(ECG / EEG)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288950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Surveillance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Cameras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3712463"/>
            <a:ext cx="15819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Mobile Users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(handover)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50592" y="3054096"/>
            <a:ext cx="310896" cy="27432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743200"/>
            <a:ext cx="64008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5A6675"/>
                </a:solidFill>
                <a:latin typeface="Arial" panose="020B0604020202090204"/>
              </a:rPr>
              <a:t>tuples</a:t>
            </a:r>
            <a:endParaRPr sz="90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07208" y="1810512"/>
            <a:ext cx="1965960" cy="2761488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98648" y="1856231"/>
            <a:ext cx="178308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Fog Layer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07791" y="206654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1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07791" y="288950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2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07791" y="3712463"/>
            <a:ext cx="176479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Fog Node n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+ Telemetry Agent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818888" y="2286000"/>
            <a:ext cx="384048" cy="274320"/>
          </a:xfrm>
          <a:prstGeom prst="rightArrow">
            <a:avLst/>
          </a:prstGeom>
          <a:solidFill>
            <a:srgbClr val="1E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1639" y="2110867"/>
            <a:ext cx="585216" cy="17716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1E7A47"/>
                </a:solidFill>
                <a:latin typeface="Arial" panose="020B0604020202090204"/>
              </a:rPr>
              <a:t>telemetry</a:t>
            </a:r>
            <a:endParaRPr sz="800" b="0" i="1">
              <a:solidFill>
                <a:srgbClr val="1E7A47"/>
              </a:solidFill>
              <a:latin typeface="Arial" panose="020B0604020202090204"/>
            </a:endParaRPr>
          </a:p>
        </p:txBody>
      </p:sp>
      <p:sp>
        <p:nvSpPr>
          <p:cNvPr id="19" name="Left Arrow 18"/>
          <p:cNvSpPr/>
          <p:nvPr/>
        </p:nvSpPr>
        <p:spPr>
          <a:xfrm>
            <a:off x="4818888" y="3840480"/>
            <a:ext cx="384048" cy="274320"/>
          </a:xfrm>
          <a:prstGeom prst="leftArrow">
            <a:avLst/>
          </a:prstGeom>
          <a:solidFill>
            <a:srgbClr val="B2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6775" y="4112132"/>
            <a:ext cx="694944" cy="311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i="1">
                <a:solidFill>
                  <a:srgbClr val="B23A3E"/>
                </a:solidFill>
                <a:latin typeface="Arial" panose="020B0604020202090204"/>
              </a:rPr>
              <a:t>migrate /</a:t>
            </a:r>
            <a:endParaRPr sz="800" b="0" i="1">
              <a:solidFill>
                <a:srgbClr val="B23A3E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800" b="0" i="1">
                <a:solidFill>
                  <a:srgbClr val="B23A3E"/>
                </a:solidFill>
                <a:latin typeface="Arial" panose="020B0604020202090204"/>
              </a:rPr>
              <a:t>replicate</a:t>
            </a:r>
            <a:endParaRPr sz="800" b="0" i="1">
              <a:solidFill>
                <a:srgbClr val="B23A3E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276088" y="1591056"/>
            <a:ext cx="4160520" cy="312724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651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85816" y="1682496"/>
            <a:ext cx="3941063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A85D00"/>
                </a:solidFill>
                <a:latin typeface="Arial" panose="020B0604020202090204"/>
              </a:rPr>
              <a:t>Proactive Fault-Tolerance Controller</a:t>
            </a:r>
            <a:endParaRPr sz="12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52415" y="1962785"/>
            <a:ext cx="3401060" cy="4025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Telemetry Pre-processing &amp; Discretisation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7086600" y="2381250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45430" y="2548255"/>
            <a:ext cx="3416300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N1  |  BBN Inference Engine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P(Fail | evidence)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7086600" y="3130423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45430" y="3296285"/>
            <a:ext cx="3416935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N2  |  Risk-Aware Placement &amp;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Expected-Loss Migration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7086600" y="3885311"/>
            <a:ext cx="219456" cy="146304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9400" y="4040505"/>
            <a:ext cx="3401695" cy="567055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N3  |  Criticality-Aware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1A2332"/>
                </a:solidFill>
                <a:latin typeface="Arial" panose="020B0604020202090204"/>
              </a:rPr>
              <a:t>Selective Replication</a:t>
            </a:r>
            <a:endParaRPr sz="105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09685" y="2466975"/>
            <a:ext cx="460375" cy="1737360"/>
          </a:xfrm>
          <a:prstGeom prst="roundRect">
            <a:avLst>
              <a:gd name="adj" fmla="val 32000"/>
            </a:avLst>
          </a:prstGeom>
          <a:noFill/>
          <a:ln w="11430">
            <a:solidFill>
              <a:srgbClr val="5A66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65870" y="2713355"/>
            <a:ext cx="539115" cy="660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obser</a:t>
            </a:r>
            <a:r>
              <a:rPr lang="en-US" sz="750" b="0" i="1">
                <a:solidFill>
                  <a:srgbClr val="5A6675"/>
                </a:solidFill>
                <a:latin typeface="Arial" panose="020B0604020202090204"/>
              </a:rPr>
              <a:t>v</a:t>
            </a: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e</a:t>
            </a:r>
            <a:r>
              <a:rPr lang="en-US" sz="750" b="0" i="1">
                <a:solidFill>
                  <a:srgbClr val="5A6675"/>
                </a:solidFill>
                <a:latin typeface="Arial" panose="020B0604020202090204"/>
              </a:rPr>
              <a:t>d</a:t>
            </a:r>
            <a:endParaRPr sz="75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05000"/>
              </a:lnSpc>
            </a:pPr>
            <a:r>
              <a:rPr sz="750" b="0" i="1">
                <a:solidFill>
                  <a:srgbClr val="5A6675"/>
                </a:solidFill>
                <a:latin typeface="Arial" panose="020B0604020202090204"/>
              </a:rPr>
              <a:t>outcomes</a:t>
            </a:r>
            <a:endParaRPr sz="7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855708" y="1810512"/>
            <a:ext cx="1783080" cy="2761488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016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93808" y="1856231"/>
            <a:ext cx="1600200" cy="21945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A6675"/>
                </a:solidFill>
                <a:latin typeface="Arial" panose="020B0604020202090204"/>
              </a:rPr>
              <a:t>Cloud Layer</a:t>
            </a:r>
            <a:endParaRPr sz="9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956292" y="2157984"/>
            <a:ext cx="158191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Cloud Data Centre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(offload, archival)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56292" y="3255264"/>
            <a:ext cx="158191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Model &amp; CPT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0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Repository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6" name="Left-Right Arrow 35"/>
          <p:cNvSpPr/>
          <p:nvPr/>
        </p:nvSpPr>
        <p:spPr>
          <a:xfrm>
            <a:off x="9465564" y="3054096"/>
            <a:ext cx="365760" cy="237744"/>
          </a:xfrm>
          <a:prstGeom prst="left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77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04088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69848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Collect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telemetry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2247265" y="5047615"/>
            <a:ext cx="155575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5999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551176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16936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Discretise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evidence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4" name="Right Arrow 43"/>
          <p:cNvSpPr/>
          <p:nvPr/>
        </p:nvSpPr>
        <p:spPr>
          <a:xfrm>
            <a:off x="4106545" y="5047615"/>
            <a:ext cx="155575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0657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98264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64024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Infer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P(fail | e)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5954395" y="5047615"/>
            <a:ext cx="155448" cy="146050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5378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45352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11112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Place /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migrate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7788910" y="5047488"/>
            <a:ext cx="155448" cy="146304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01000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092440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5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458200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Assign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replication tier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9648698" y="5047488"/>
            <a:ext cx="155448" cy="146304"/>
          </a:xfrm>
          <a:prstGeom prst="right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848215" y="4791710"/>
            <a:ext cx="1581785" cy="65849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939528" y="4882896"/>
            <a:ext cx="292608" cy="292608"/>
          </a:xfrm>
          <a:prstGeom prst="roundRect">
            <a:avLst>
              <a:gd name="adj" fmla="val 26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Arial" panose="020B0604020202090204"/>
              </a:rPr>
              <a:t>6</a:t>
            </a:r>
            <a:endParaRPr sz="10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305288" y="4873752"/>
            <a:ext cx="1225296" cy="51206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Update CPTs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A2332"/>
                </a:solidFill>
                <a:latin typeface="Arial" panose="020B0604020202090204"/>
              </a:rPr>
              <a:t>from outcomes</a:t>
            </a:r>
            <a:endParaRPr sz="10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BBN Model and Decision Rules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Three tiers of variables, and how the resulting probability becomes a decision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426464"/>
            <a:ext cx="5358384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060"/>
                </a:solidFill>
                <a:latin typeface="Arial" panose="020B0604020202090204"/>
              </a:rPr>
              <a:t>Network structure</a:t>
            </a:r>
            <a:endParaRPr sz="13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1737360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029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Evidence  (observed)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121408"/>
            <a:ext cx="5047488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CPU and RAM utilisation • tuple queue depth • uplink latency,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jitter and packet loss • residual energy • handover rate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200400" y="2761488"/>
            <a:ext cx="182880" cy="128016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" y="2889504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E9F4EE"/>
          </a:solidFill>
          <a:ln w="12700">
            <a:solidFill>
              <a:srgbClr val="1E7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80944"/>
            <a:ext cx="5029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Latent conditions  (inferred)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5047488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Computational stress • Network degradation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Energy stress • Thermal stress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3200400" y="3913632"/>
            <a:ext cx="182880" cy="128016"/>
          </a:xfrm>
          <a:prstGeom prst="downArrow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4041648"/>
            <a:ext cx="5358384" cy="1005840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133087"/>
            <a:ext cx="502920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Target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425696"/>
            <a:ext cx="5047488" cy="53035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Node failure within horizon Δt, conditioned also on device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  <a:p>
            <a:pPr algn="l">
              <a:lnSpc>
                <a:spcPct val="114000"/>
              </a:lnSpc>
            </a:pPr>
            <a:r>
              <a:rPr sz="1080" b="0" i="0">
                <a:solidFill>
                  <a:srgbClr val="5A6675"/>
                </a:solidFill>
                <a:latin typeface="Arial" panose="020B0604020202090204"/>
              </a:rPr>
              <a:t>class and historical MTBF</a:t>
            </a:r>
            <a:endParaRPr sz="10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" y="5212079"/>
            <a:ext cx="5358384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5A6675"/>
                </a:solidFill>
                <a:latin typeface="Arial" panose="020B0604020202090204"/>
              </a:rPr>
              <a:t>All variables discretised to {low, medium, high}; missing</a:t>
            </a:r>
            <a:endParaRPr sz="1100" b="0" i="1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5A6675"/>
                </a:solidFill>
                <a:latin typeface="Arial" panose="020B0604020202090204"/>
              </a:rPr>
              <a:t>evidence is marginalised, not imputed.</a:t>
            </a:r>
            <a:endParaRPr sz="110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7064" y="1426464"/>
            <a:ext cx="5358384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060"/>
                </a:solidFill>
                <a:latin typeface="Arial" panose="020B0604020202090204"/>
              </a:rPr>
              <a:t>From probability to decision</a:t>
            </a:r>
            <a:endParaRPr sz="13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27064" y="1737360"/>
            <a:ext cx="5358384" cy="365760"/>
          </a:xfrm>
          <a:prstGeom prst="roundRect">
            <a:avLst>
              <a:gd name="adj" fmla="val 12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PLACEMENT — score every candidate node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27064" y="2157984"/>
            <a:ext cx="5358384" cy="585216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03060"/>
                </a:solidFill>
                <a:latin typeface="Arial" panose="020B0604020202090204"/>
              </a:rPr>
              <a:t>U(m, n) = α(1 − latency) + β(1 − energy) + γ(1 − P(F | e))</a:t>
            </a:r>
            <a:endParaRPr sz="12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27064" y="2852928"/>
            <a:ext cx="5358384" cy="365760"/>
          </a:xfrm>
          <a:prstGeom prst="roundRect">
            <a:avLst>
              <a:gd name="adj" fmla="val 12000"/>
            </a:avLst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90204"/>
              </a:rPr>
              <a:t>MIGRATION — move only when it pays</a:t>
            </a:r>
            <a:endParaRPr sz="11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27064" y="3273552"/>
            <a:ext cx="5358384" cy="585216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03060"/>
                </a:solidFill>
                <a:latin typeface="Arial" panose="020B0604020202090204"/>
              </a:rPr>
              <a:t>Migrate  ⟺   P(F | e) · C_fail  &gt;  C_migrate</a:t>
            </a:r>
            <a:endParaRPr sz="12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27064" y="3968496"/>
            <a:ext cx="5358384" cy="859536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4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Effective threshold  P* = C_migrate / C_fail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  <a:p>
            <a:pPr algn="ctr">
              <a:lnSpc>
                <a:spcPct val="114000"/>
              </a:lnSpc>
            </a:pPr>
          </a:p>
          <a:p>
            <a:pPr algn="ctr">
              <a:lnSpc>
                <a:spcPct val="114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The threshold is derived from the cost ratio, not tuned —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  <a:p>
            <a:pPr algn="ctr">
              <a:lnSpc>
                <a:spcPct val="114000"/>
              </a:lnSpc>
            </a:pPr>
            <a:r>
              <a:rPr sz="1150" b="1" i="0">
                <a:solidFill>
                  <a:srgbClr val="A85D00"/>
                </a:solidFill>
                <a:latin typeface="Arial" panose="020B0604020202090204"/>
              </a:rPr>
              <a:t>each module effectively gets its own.</a:t>
            </a:r>
            <a:endParaRPr sz="1150" b="1" i="0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7064" y="4937760"/>
            <a:ext cx="535838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6000"/>
              </a:lnSpc>
            </a:pPr>
            <a:r>
              <a:rPr sz="1100" b="0" i="0">
                <a:solidFill>
                  <a:srgbClr val="1A2332"/>
                </a:solidFill>
                <a:latin typeface="Arial" panose="020B0604020202090204"/>
              </a:rPr>
              <a:t>REPLICATION — R(m) = P(F | e) × κ(m) assigns each module to a</a:t>
            </a:r>
            <a:endParaRPr sz="1100" b="0" i="0">
              <a:solidFill>
                <a:srgbClr val="1A2332"/>
              </a:solidFill>
              <a:latin typeface="Arial" panose="020B0604020202090204"/>
            </a:endParaRPr>
          </a:p>
          <a:p>
            <a:pPr algn="ctr">
              <a:lnSpc>
                <a:spcPct val="116000"/>
              </a:lnSpc>
            </a:pPr>
            <a:r>
              <a:rPr sz="1100" b="0" i="0">
                <a:solidFill>
                  <a:srgbClr val="1A2332"/>
                </a:solidFill>
                <a:latin typeface="Arial" panose="020B0604020202090204"/>
              </a:rPr>
              <a:t>warm-standby, checkpoint-only or no-redundancy tier.</a:t>
            </a:r>
            <a:endParaRPr sz="11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Dataset Description &amp; Topology Generation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iFogSim2 is input-driven — the dataset defines the environment, not a training corpus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63040"/>
            <a:ext cx="4754880" cy="212140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edgeResources-melbCBD.csv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48056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5"/>
                </a:solidFill>
                <a:latin typeface="Arial" panose="020B0604020202090204"/>
              </a:rPr>
              <a:t>ID, Latitude, Longitude, Block, Level, Parent, Details</a:t>
            </a:r>
            <a:endParaRPr sz="100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139696"/>
            <a:ext cx="6217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3060"/>
                </a:solidFill>
                <a:latin typeface="Arial" panose="020B0604020202090204"/>
              </a:rPr>
              <a:t>1</a:t>
            </a:r>
            <a:endParaRPr sz="11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374903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5"/>
                </a:solidFill>
                <a:latin typeface="Arial" panose="020B0604020202090204"/>
              </a:rPr>
              <a:t>Level 0 — cloud data centre</a:t>
            </a:r>
            <a:endParaRPr sz="105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96312"/>
            <a:ext cx="6217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3060"/>
                </a:solidFill>
                <a:latin typeface="Arial" panose="020B0604020202090204"/>
              </a:rPr>
              <a:t>12</a:t>
            </a:r>
            <a:endParaRPr sz="11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2478024"/>
            <a:ext cx="374903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5"/>
                </a:solidFill>
                <a:latin typeface="Arial" panose="020B0604020202090204"/>
              </a:rPr>
              <a:t>Level 1 — block proxy servers</a:t>
            </a:r>
            <a:endParaRPr sz="105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852928"/>
            <a:ext cx="621792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3060"/>
                </a:solidFill>
                <a:latin typeface="Arial" panose="020B0604020202090204"/>
              </a:rPr>
              <a:t>118</a:t>
            </a:r>
            <a:endParaRPr sz="11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8760" y="2834640"/>
            <a:ext cx="374903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5"/>
                </a:solidFill>
                <a:latin typeface="Arial" panose="020B0604020202090204"/>
              </a:rPr>
              <a:t>Level 2 — gateways at real Optus / Telstra / Vodafone cell sites</a:t>
            </a:r>
            <a:endParaRPr sz="105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3209544"/>
            <a:ext cx="621792" cy="310896"/>
          </a:xfrm>
          <a:prstGeom prst="roundRect">
            <a:avLst>
              <a:gd name="adj" fmla="val 8000"/>
            </a:avLst>
          </a:prstGeom>
          <a:solidFill>
            <a:srgbClr val="004890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 panose="020B0604020202090204"/>
              </a:rPr>
              <a:t>131</a:t>
            </a:r>
            <a:endParaRPr sz="115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3191256"/>
            <a:ext cx="374903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A6675"/>
                </a:solidFill>
                <a:latin typeface="Arial" panose="020B0604020202090204"/>
              </a:rPr>
              <a:t>total resource records</a:t>
            </a:r>
            <a:endParaRPr sz="105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2648" y="3694176"/>
            <a:ext cx="4754880" cy="1170432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785616"/>
            <a:ext cx="44805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Mobility traces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059935"/>
            <a:ext cx="448056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•  usersLocation-melbCBD_1.csv — 87 real positions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•  Five synthetic traces of 100 positions each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2332"/>
                </a:solidFill>
                <a:latin typeface="Arial" panose="020B0604020202090204"/>
              </a:rPr>
              <a:t>•  Drives handover, and so how load moves between nodes</a:t>
            </a:r>
            <a:endParaRPr sz="10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86984" y="1426464"/>
            <a:ext cx="5998464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060"/>
                </a:solidFill>
                <a:latin typeface="Arial" panose="020B0604020202090204"/>
              </a:rPr>
              <a:t>Per-tier device parameters (set in createFogDevice)</a:t>
            </a:r>
            <a:endParaRPr sz="1250" b="1" i="0">
              <a:solidFill>
                <a:srgbClr val="003060"/>
              </a:solidFill>
              <a:latin typeface="Arial" panose="020B0604020202090204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586984" y="1719072"/>
          <a:ext cx="5998464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969264"/>
                <a:gridCol w="896112"/>
                <a:gridCol w="859536"/>
                <a:gridCol w="804672"/>
                <a:gridCol w="768096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Tier (level)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MIPS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RAM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Up BW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Busy W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Idle W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Cloud (0)</a:t>
                      </a:r>
                      <a:endParaRPr sz="105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44 800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40 000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1 648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1 332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Proxy (1)</a:t>
                      </a:r>
                      <a:endParaRPr sz="105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83.43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Gateway (2)</a:t>
                      </a:r>
                      <a:endParaRPr sz="105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83.43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Mobile / camera (3)</a:t>
                      </a:r>
                      <a:endParaRPr sz="105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200–1 000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1–2 GB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87.53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05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82.44</a:t>
                      </a:r>
                      <a:endParaRPr sz="105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586984" y="3438144"/>
            <a:ext cx="5998464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3060"/>
                </a:solidFill>
                <a:latin typeface="Arial" panose="020B0604020202090204"/>
              </a:rPr>
              <a:t>How the topology is built</a:t>
            </a:r>
            <a:endParaRPr sz="125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86984" y="3730752"/>
            <a:ext cx="5998464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96712" y="3776472"/>
            <a:ext cx="18745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 i="0">
                <a:solidFill>
                  <a:srgbClr val="004890"/>
                </a:solidFill>
                <a:latin typeface="Arial" panose="020B0604020202090204"/>
              </a:rPr>
              <a:t>parseResourceInfo()</a:t>
            </a:r>
            <a:endParaRPr sz="102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16952" y="3776472"/>
            <a:ext cx="3877056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A6675"/>
                </a:solidFill>
                <a:latin typeface="Arial" panose="020B0604020202090204"/>
              </a:rPr>
              <a:t>reads config.properties level map, then every CSV row</a:t>
            </a:r>
            <a:endParaRPr sz="9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586984" y="4114800"/>
            <a:ext cx="5998464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96712" y="4160520"/>
            <a:ext cx="18745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 i="0">
                <a:solidFill>
                  <a:srgbClr val="004890"/>
                </a:solidFill>
                <a:latin typeface="Arial" panose="020B0604020202090204"/>
              </a:rPr>
              <a:t>createFogDevice()</a:t>
            </a:r>
            <a:endParaRPr sz="102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16952" y="4160520"/>
            <a:ext cx="3877056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A6675"/>
                </a:solidFill>
                <a:latin typeface="Arial" panose="020B0604020202090204"/>
              </a:rPr>
              <a:t>PE → PowerHost → characteristics → FogDevice, per tier profile</a:t>
            </a:r>
            <a:endParaRPr sz="9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586984" y="4498848"/>
            <a:ext cx="5998464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96712" y="4544568"/>
            <a:ext cx="18745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 i="0">
                <a:solidFill>
                  <a:srgbClr val="004890"/>
                </a:solidFill>
                <a:latin typeface="Arial" panose="020B0604020202090204"/>
              </a:rPr>
              <a:t>linkDataWithInstance()</a:t>
            </a:r>
            <a:endParaRPr sz="102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16952" y="4544568"/>
            <a:ext cx="3877056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A6675"/>
                </a:solidFill>
                <a:latin typeface="Arial" panose="020B0604020202090204"/>
              </a:rPr>
              <a:t>binds each simulator entity to its geographic record</a:t>
            </a:r>
            <a:endParaRPr sz="9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586984" y="4882896"/>
            <a:ext cx="5998464" cy="347472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96712" y="4928616"/>
            <a:ext cx="18745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 i="0">
                <a:solidFill>
                  <a:srgbClr val="004890"/>
                </a:solidFill>
                <a:latin typeface="Arial" panose="020B0604020202090204"/>
              </a:rPr>
              <a:t>determineParent()</a:t>
            </a:r>
            <a:endParaRPr sz="102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16952" y="4928616"/>
            <a:ext cx="3877056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A6675"/>
                </a:solidFill>
                <a:latin typeface="Arial" panose="020B0604020202090204"/>
              </a:rPr>
              <a:t>attaches each gateway to the proxy sharing its Block value</a:t>
            </a:r>
            <a:endParaRPr sz="9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586984" y="5266944"/>
            <a:ext cx="5998464" cy="347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96712" y="5312664"/>
            <a:ext cx="1874519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 i="0">
                <a:solidFill>
                  <a:srgbClr val="004890"/>
                </a:solidFill>
                <a:latin typeface="Arial" panose="020B0604020202090204"/>
              </a:rPr>
              <a:t>parseUserInfo()</a:t>
            </a:r>
            <a:endParaRPr sz="102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16952" y="5312664"/>
            <a:ext cx="3877056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5A6675"/>
                </a:solidFill>
                <a:latin typeface="Arial" panose="020B0604020202090204"/>
              </a:rPr>
              <a:t>binds each user to a trajectory; nearest gateway changes → handover</a:t>
            </a:r>
            <a:endParaRPr sz="980" b="0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2648" y="5705856"/>
            <a:ext cx="10972800" cy="38404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5D00"/>
                </a:solidFill>
                <a:latin typeface="Arial" panose="020B0604020202090204"/>
              </a:rPr>
              <a:t>Link latencies — proxy→cloud 100 ms, gateway→proxy 4 ms, mobile→gateway 2 ms, sensor→device 6 ms.   Power model:  P(u) = idle + (busy − idle) × u</a:t>
            </a:r>
            <a:endParaRPr sz="1050" b="0" i="1">
              <a:solidFill>
                <a:srgbClr val="A85D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From Simulator State to BBN Evidence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987552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Every evidence variable is derived from a quantity iFogSim2 already tracks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481328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635508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BBN evidence variable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Derived from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States</a:t>
                      </a:r>
                      <a:endParaRPr sz="115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CPU utilisation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Allocated MIPS against host PE capacity, per scheduling interval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RAM utilisation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RamProvisionerSimple allocated against available RAM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Tuple queue depth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Pending tuple queue length on the device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Uplink latency &amp; jitter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Configured link latency plus queueing delay on the uplink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Residual energy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FogDevice energy consumption against a configured budget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Handover rate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Count of parent reassignments per window, from LocationHandler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low / med / high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Node reliability prior</a:t>
                      </a:r>
                      <a:endParaRPr sz="11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Device class (cloud / proxy / gateway / mobile) and configured MTBF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1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static prior</a:t>
                      </a:r>
                      <a:endParaRPr sz="11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12648" y="4828032"/>
            <a:ext cx="5358384" cy="786384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003060"/>
                </a:solidFill>
                <a:latin typeface="Arial" panose="020B0604020202090204"/>
              </a:rPr>
              <a:t>Thermal stress is treated as a latent condition inferred from</a:t>
            </a:r>
            <a:endParaRPr sz="1100" b="0" i="1">
              <a:solidFill>
                <a:srgbClr val="003060"/>
              </a:solidFill>
              <a:latin typeface="Arial" panose="020B0604020202090204"/>
            </a:endParaRPr>
          </a:p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003060"/>
                </a:solidFill>
                <a:latin typeface="Arial" panose="020B0604020202090204"/>
              </a:rPr>
              <a:t>sustained utilisation — iFogSim2 exposes no temperature sensor.</a:t>
            </a:r>
            <a:endParaRPr sz="1100" b="0" i="1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27064" y="4828032"/>
            <a:ext cx="5358384" cy="786384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A85D00"/>
                </a:solidFill>
                <a:latin typeface="Arial" panose="020B0604020202090204"/>
              </a:rPr>
              <a:t>Bin edges come from quantiles of the baseline runs, so 'high CPU'</a:t>
            </a:r>
            <a:endParaRPr sz="1100" b="0" i="1">
              <a:solidFill>
                <a:srgbClr val="A85D00"/>
              </a:solidFill>
              <a:latin typeface="Arial" panose="020B0604020202090204"/>
            </a:endParaRPr>
          </a:p>
          <a:p>
            <a:pPr algn="ctr">
              <a:lnSpc>
                <a:spcPct val="116000"/>
              </a:lnSpc>
            </a:pPr>
            <a:r>
              <a:rPr sz="1100" b="0" i="1">
                <a:solidFill>
                  <a:srgbClr val="A85D00"/>
                </a:solidFill>
                <a:latin typeface="Arial" panose="020B0604020202090204"/>
              </a:rPr>
              <a:t>means high relative to this topology's observed distribution.</a:t>
            </a:r>
            <a:endParaRPr sz="1100" b="0" i="1">
              <a:solidFill>
                <a:srgbClr val="A85D00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Evaluation Plan, Baselines &amp; Work Plan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" y="1243584"/>
            <a:ext cx="5358384" cy="1773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5528" y="1335024"/>
            <a:ext cx="49377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Prediction quality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3816" y="1627631"/>
            <a:ext cx="4937760" cy="13167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Precision, recall and F1 of failure prediction within Δt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Calibration of the posterior against observed frequency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Lead time — a prediction too late to act on has no value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Robustness with telemetry channels deliberately withheld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27064" y="1243584"/>
            <a:ext cx="5358384" cy="17739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9944" y="1335024"/>
            <a:ext cx="49377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System quality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8232" y="1627631"/>
            <a:ext cx="4937760" cy="1316736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Mean and tail loop delay; deadline-violation ratio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Energy across cloud, fog and device tiers; network usage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Service downtime per injected failure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6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•  Redundancy overhead — reserved standby capacity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" y="3163824"/>
            <a:ext cx="5358384" cy="148132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1430">
            <a:solidFill>
              <a:srgbClr val="A8C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8" y="3255264"/>
            <a:ext cx="49377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Baselines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3816" y="3547872"/>
            <a:ext cx="4937760" cy="10058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1.  Cloud-only placement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2.  iFogSim2 edgeward placement, no fault tolerance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3.  Reactive checkpointing + replication  [1]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1A2332"/>
                </a:solidFill>
                <a:latin typeface="Arial" panose="020B0604020202090204"/>
              </a:rPr>
              <a:t>4.  Threshold-based proactive migration — FTAPA  [5]</a:t>
            </a:r>
            <a:endParaRPr sz="11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648" y="4754879"/>
            <a:ext cx="5358384" cy="475488"/>
          </a:xfrm>
          <a:prstGeom prst="roundRect">
            <a:avLst>
              <a:gd name="adj" fmla="val 8000"/>
            </a:avLst>
          </a:prstGeom>
          <a:solidFill>
            <a:srgbClr val="FBF3E4"/>
          </a:solidFill>
          <a:ln w="12700">
            <a:solidFill>
              <a:srgbClr val="A8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85D00"/>
                </a:solidFill>
                <a:latin typeface="Arial" panose="020B0604020202090204"/>
              </a:rPr>
              <a:t>Baseline 4 isolates probabilistic inference from merely acting early.</a:t>
            </a:r>
            <a:endParaRPr sz="1050" b="0" i="1">
              <a:solidFill>
                <a:srgbClr val="A85D00"/>
              </a:solidFill>
              <a:latin typeface="Arial" panose="020B060402020209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27064" y="3163824"/>
            <a:ext cx="5358384" cy="2066543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1430">
            <a:solidFill>
              <a:srgbClr val="004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9944" y="3255264"/>
            <a:ext cx="4937760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4890"/>
                </a:solidFill>
                <a:latin typeface="Arial" panose="020B0604020202090204"/>
              </a:rPr>
              <a:t>Work plan</a:t>
            </a:r>
            <a:endParaRPr sz="12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9944" y="3566160"/>
            <a:ext cx="566928" cy="274320"/>
          </a:xfrm>
          <a:prstGeom prst="roundRect">
            <a:avLst>
              <a:gd name="adj" fmla="val 22000"/>
            </a:avLst>
          </a:prstGeom>
          <a:solidFill>
            <a:srgbClr val="1E7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 panose="020B0604020202090204"/>
              </a:rPr>
              <a:t>Done</a:t>
            </a:r>
            <a:endParaRPr sz="9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68312" y="3538728"/>
            <a:ext cx="431596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20" b="0" i="0">
                <a:solidFill>
                  <a:srgbClr val="1A2332"/>
                </a:solidFill>
                <a:latin typeface="Arial" panose="020B0604020202090204"/>
              </a:rPr>
              <a:t>Literature survey; iFogSim2 set up; baseline fog vs. cloud runs; framework design</a:t>
            </a:r>
            <a:endParaRPr sz="10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9944" y="3895344"/>
            <a:ext cx="566928" cy="27432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 panose="020B0604020202090204"/>
              </a:rPr>
              <a:t>Next</a:t>
            </a:r>
            <a:endParaRPr sz="9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68312" y="3867911"/>
            <a:ext cx="431596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20" b="0" i="0">
                <a:solidFill>
                  <a:srgbClr val="1A2332"/>
                </a:solidFill>
                <a:latin typeface="Arial" panose="020B0604020202090204"/>
              </a:rPr>
              <a:t>Construct and validate the BBN structure and initial CPTs</a:t>
            </a:r>
            <a:endParaRPr sz="10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9944" y="4224528"/>
            <a:ext cx="566928" cy="27432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 panose="020B0604020202090204"/>
              </a:rPr>
              <a:t>Next</a:t>
            </a:r>
            <a:endParaRPr sz="9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68312" y="4197096"/>
            <a:ext cx="431596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20" b="0" i="0">
                <a:solidFill>
                  <a:srgbClr val="1A2332"/>
                </a:solidFill>
                <a:latin typeface="Arial" panose="020B0604020202090204"/>
              </a:rPr>
              <a:t>Implement the inference engine and fault-injection harness</a:t>
            </a:r>
            <a:endParaRPr sz="10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9944" y="4553712"/>
            <a:ext cx="566928" cy="27432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 panose="020B0604020202090204"/>
              </a:rPr>
              <a:t>Next</a:t>
            </a:r>
            <a:endParaRPr sz="9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68312" y="4526280"/>
            <a:ext cx="431596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20" b="0" i="0">
                <a:solidFill>
                  <a:srgbClr val="1A2332"/>
                </a:solidFill>
                <a:latin typeface="Arial" panose="020B0604020202090204"/>
              </a:rPr>
              <a:t>Implement placement, migration and replication policies</a:t>
            </a:r>
            <a:endParaRPr sz="102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9944" y="4882896"/>
            <a:ext cx="566928" cy="274320"/>
          </a:xfrm>
          <a:prstGeom prst="roundRect">
            <a:avLst>
              <a:gd name="adj" fmla="val 22000"/>
            </a:avLst>
          </a:prstGeom>
          <a:solidFill>
            <a:srgbClr val="A8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Arial" panose="020B0604020202090204"/>
              </a:rPr>
              <a:t>Next</a:t>
            </a:r>
            <a:endParaRPr sz="9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68312" y="4855464"/>
            <a:ext cx="4315968" cy="38404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20" b="0" i="0">
                <a:solidFill>
                  <a:srgbClr val="1A2332"/>
                </a:solidFill>
                <a:latin typeface="Arial" panose="020B0604020202090204"/>
              </a:rPr>
              <a:t>Comparative evaluation against the four baselines</a:t>
            </a:r>
            <a:endParaRPr sz="102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References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188719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6696" y="1188719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H. T. Rajab and M. F. Younis, “Dynamic fault tolerance aware scheduling for healthcare system on fog computing,” Iraqi Journal of Science, vol. 62, no. 1, pp. 308–318, 2021.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27064" y="1188719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[2]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11112" y="1188719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S. A. Syed et al., “QoS aware and fault tolerance based software-defined vehicular networks using cloud-fog computing,” Sensors, vol. 22, no. 1, art. 401, 2022.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1751075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[3]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6" y="1751075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M. H. Naim, J. M. Zain, and K. A. Jalil, “Fault tolerance mechanism for software application through fog computing as middleware,” Int. J. Computing and Digital Systems, vol. 5, no. 3, 2016.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7064" y="1751075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[4]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11112" y="1751075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A. Reyana et al., “Opportunities of IoT in fog computing for high fault tolerance and sustainable energy optimization,” Sustainability, vol. 15, no. 11, art. 8702, 2023.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2313432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[5]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" y="2313432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S. Gupta and N. Singh, “Optimized fault-tolerant placement of microservices in distributed fog networks,” IJDIIC, vol. 4, no. 4, pp. 52–69, 2025.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27064" y="2313432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[6]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11112" y="2313432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J. Pearl, Probabilistic Reasoning in Intelligent Systems. Morgan Kaufmann, 1988.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2648" y="2875787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[7]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6696" y="2875787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N. Fenton, M. Neil, and D. Marquez, “Using Bayesian networks to predict software defects and reliability,” Proc. MMR07, Glasgow, 2007.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27064" y="2875787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[8]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1112" y="2875787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P. Weber, G. Medina-Oliva, C. Simon, and B. Iung, “Overview on Bayesian networks applications for dependability, risk analysis and maintenance areas,” Eng. Appl. Artif. Intell., vol. 25, no. 4, pp. 671–682, 2012.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2648" y="3438144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[9]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6696" y="3438144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P. A. Aguilera et al., “Bayesian networks in environmental modelling,” Environmental Modelling &amp; Software, vol. 26, no. 12, pp. 1376–1388, 2011.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7064" y="3438144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[10]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11112" y="3438144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B. Pang and E. S. Abramov, “Reliability analysis and parameter selection for IoT communication based on deep learning,” Eng, vol. 6, no. 8, art. 171, 2025.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2648" y="4000500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[11]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6696" y="4000500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D. A. Hasan and S. R. M. Zeebaree, “Proactive fault tolerance in distributed cloud systems: A review,” Indonesian J. Computer Science, vol. 13, no. 2, 2024.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27064" y="4000500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[12]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11112" y="4000500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P. Sharma and P. K. Gupta, “Novel particle bee optimisation based framework for fault tolerance in fog environment,” J. Phys.: Conf. Ser., vol. 2570, art. 012029, 2023.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2648" y="4562856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[13]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6696" y="4562856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S. Khan, S. Parkinson, and Y. Qin, “Fog computing security: A review,” J. Cloud Computing, vol. 6, art. 19, 2017.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27064" y="4562856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[14]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11112" y="4562856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R. Mahmud, S. Pallewatta, M. Goudarzi, and R. Buyya, “iFogSim2: An extended iFogSim simulator…,” J. Systems and Software, vol. 190, art. 111351, 2022.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2648" y="5125212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04890"/>
                </a:solidFill>
                <a:latin typeface="Arial" panose="020B0604020202090204"/>
              </a:rPr>
              <a:t>[15]</a:t>
            </a:r>
            <a:endParaRPr sz="950" b="1" i="0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" y="5125212"/>
            <a:ext cx="5047488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 i="0">
                <a:solidFill>
                  <a:srgbClr val="1A2332"/>
                </a:solidFill>
                <a:latin typeface="Arial" panose="020B0604020202090204"/>
              </a:rPr>
              <a:t>H. Gupta, A. V. Dastjerdi, S. K. Ghosh, and R. Buyya, “iFogSim: A toolkit for modeling and simulation…,” Software: Practice and Experience, vol. 47, no. 9, pp. 1275–1296, 2017.</a:t>
            </a:r>
            <a:endParaRPr sz="95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63640"/>
          </a:xfrm>
          <a:prstGeom prst="rect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Arial" panose="020B0604020202090204"/>
              </a:rPr>
              <a:t>Thank You</a:t>
            </a:r>
            <a:endParaRPr sz="42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64327" y="3054096"/>
            <a:ext cx="146304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15750</Words>
  <Application>WPS Presentation</Application>
  <PresentationFormat/>
  <Paragraphs>719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Arial</vt:lpstr>
      <vt:lpstr>Verdana</vt:lpstr>
      <vt:lpstr>Microsoft YaHei</vt:lpstr>
      <vt:lpstr>汉仪旗黑</vt:lpstr>
      <vt:lpstr>Arial Unicode MS</vt:lpstr>
      <vt:lpstr>宋体-简</vt:lpstr>
      <vt:lpstr>Apple Symbols</vt:lpstr>
      <vt:lpstr>Theme9</vt:lpstr>
      <vt:lpstr>1_Theme9</vt:lpstr>
      <vt:lpstr>Bayesian Belief Network-Driven Proactive Fault Tolerance
for Microservice Placement in Fog Computing</vt:lpstr>
      <vt:lpstr>Introduction &amp; Motivation</vt:lpstr>
      <vt:lpstr>Literature Survey — Reactive Approaches</vt:lpstr>
      <vt:lpstr>Literature Survey — Proactive Placement &amp; BBN Foundations</vt:lpstr>
      <vt:lpstr>Inference from the Literature Survey</vt:lpstr>
      <vt:lpstr>Research Gap &amp; Problem Statement</vt:lpstr>
      <vt:lpstr>Approach Selection — Why a Bayesian Belief Network</vt:lpstr>
      <vt:lpstr>Proposed Work — Three Novelties</vt:lpstr>
      <vt:lpstr>Methodology — System Architecture</vt:lpstr>
      <vt:lpstr>Methodology — BBN Model and Decision Rules</vt:lpstr>
      <vt:lpstr>Dataset Description &amp; Topology Generation</vt:lpstr>
      <vt:lpstr>From Simulator State to BBN Evidence</vt:lpstr>
      <vt:lpstr>Evaluation Plan, Baselines &amp; Work Plan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Belief Network-Driven Proactive Fault Tolerance
for Microservice Placement in Fog Computing</dc:title>
  <dc:creator/>
  <cp:lastModifiedBy>rahul</cp:lastModifiedBy>
  <cp:revision>8</cp:revision>
  <dcterms:created xsi:type="dcterms:W3CDTF">2026-08-19T17:34:12Z</dcterms:created>
  <dcterms:modified xsi:type="dcterms:W3CDTF">2026-08-19T17:34:12Z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69A80B6EBB77E8D97E64856A7BBC5B39_42</vt:lpwstr>
  </property>
</Properties>
</file>