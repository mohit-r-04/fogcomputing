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rawings/vmlDrawing1.vml" ContentType="application/vnd.openxmlformats-officedocument.vmlDrawing"/>
  <Override PartName="/ppt/embeddings/oleObject1.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0"/>
  </p:handoutMasterIdLst>
  <p:sldIdLst>
    <p:sldId id="631" r:id="rId3"/>
    <p:sldId id="641" r:id="rId8"/>
    <p:sldId id="642" r:id="rId7"/>
    <p:sldId id="643" r:id="rId6"/>
    <p:sldId id="644" r:id="rId5"/>
    <p:sldId id="645" r:id="rId14"/>
    <p:sldId id="646" r:id="rId15"/>
    <p:sldId id="647" r:id="rId16"/>
    <p:sldId id="648" r:id="rId17"/>
    <p:sldId id="649" r:id="rId18"/>
    <p:sldId id="650" r:id="rId19"/>
    <p:sldId id="651" r:id="rId20"/>
    <p:sldId id="652" r:id="rId21"/>
    <p:sldId id="653" r:id="rId22"/>
    <p:sldId id="654" r:id="rId23"/>
    <p:sldId id="655" r:id="rId24"/>
    <p:sldId id="656" r:id="rId25"/>
    <p:sldId id="657" r:id="rId26"/>
    <p:sldId id="658" r:id="rId27"/>
    <p:sldId id="659" r:id="rId28"/>
    <p:sldId id="660" r:id="rId29"/>
    <p:sldId id="661" r:id="rId30"/>
    <p:sldId id="662" r:id="rId31"/>
    <p:sldId id="663" r:id="rId32"/>
    <p:sldId id="664" r:id="rId33"/>
    <p:sldId id="640" r:id="rId9"/>
  </p:sldIdLst>
  <p:sldSz cx="12192000" cy="6858000"/>
  <p:notesSz cx="7010400" cy="9296400"/>
  <p:defaultTextStyle>
    <a:defPPr>
      <a:defRPr lang="en-US"/>
    </a:defPPr>
    <a:lvl1pPr algn="l" rtl="0" fontAlgn="base">
      <a:spcBef>
        <a:spcPct val="0"/>
      </a:spcBef>
      <a:spcAft>
        <a:spcPct val="0"/>
      </a:spcAft>
      <a:defRPr sz="2000" kern="1200">
        <a:solidFill>
          <a:schemeClr val="tx1"/>
        </a:solidFill>
        <a:latin typeface="Arial" panose="020B0604020202090204" pitchFamily="34" charset="0"/>
        <a:ea typeface="+mn-ea"/>
        <a:cs typeface="+mn-cs"/>
      </a:defRPr>
    </a:lvl1pPr>
    <a:lvl2pPr marL="457200" algn="l" rtl="0" fontAlgn="base">
      <a:spcBef>
        <a:spcPct val="0"/>
      </a:spcBef>
      <a:spcAft>
        <a:spcPct val="0"/>
      </a:spcAft>
      <a:defRPr sz="2000" kern="1200">
        <a:solidFill>
          <a:schemeClr val="tx1"/>
        </a:solidFill>
        <a:latin typeface="Arial" panose="020B0604020202090204" pitchFamily="34" charset="0"/>
        <a:ea typeface="+mn-ea"/>
        <a:cs typeface="+mn-cs"/>
      </a:defRPr>
    </a:lvl2pPr>
    <a:lvl3pPr marL="914400" algn="l" rtl="0" fontAlgn="base">
      <a:spcBef>
        <a:spcPct val="0"/>
      </a:spcBef>
      <a:spcAft>
        <a:spcPct val="0"/>
      </a:spcAft>
      <a:defRPr sz="2000" kern="1200">
        <a:solidFill>
          <a:schemeClr val="tx1"/>
        </a:solidFill>
        <a:latin typeface="Arial" panose="020B0604020202090204" pitchFamily="34" charset="0"/>
        <a:ea typeface="+mn-ea"/>
        <a:cs typeface="+mn-cs"/>
      </a:defRPr>
    </a:lvl3pPr>
    <a:lvl4pPr marL="1371600" algn="l" rtl="0" fontAlgn="base">
      <a:spcBef>
        <a:spcPct val="0"/>
      </a:spcBef>
      <a:spcAft>
        <a:spcPct val="0"/>
      </a:spcAft>
      <a:defRPr sz="2000" kern="1200">
        <a:solidFill>
          <a:schemeClr val="tx1"/>
        </a:solidFill>
        <a:latin typeface="Arial" panose="020B0604020202090204" pitchFamily="34" charset="0"/>
        <a:ea typeface="+mn-ea"/>
        <a:cs typeface="+mn-cs"/>
      </a:defRPr>
    </a:lvl4pPr>
    <a:lvl5pPr marL="1828800" algn="l" rtl="0" fontAlgn="base">
      <a:spcBef>
        <a:spcPct val="0"/>
      </a:spcBef>
      <a:spcAft>
        <a:spcPct val="0"/>
      </a:spcAft>
      <a:defRPr sz="2000" kern="1200">
        <a:solidFill>
          <a:schemeClr val="tx1"/>
        </a:solidFill>
        <a:latin typeface="Arial" panose="020B0604020202090204" pitchFamily="34" charset="0"/>
        <a:ea typeface="+mn-ea"/>
        <a:cs typeface="+mn-cs"/>
      </a:defRPr>
    </a:lvl5pPr>
    <a:lvl6pPr marL="2286000" algn="l" defTabSz="914400" rtl="0" eaLnBrk="1" latinLnBrk="0" hangingPunct="1">
      <a:defRPr sz="2000" kern="1200">
        <a:solidFill>
          <a:schemeClr val="tx1"/>
        </a:solidFill>
        <a:latin typeface="Arial" panose="020B0604020202090204" pitchFamily="34" charset="0"/>
        <a:ea typeface="+mn-ea"/>
        <a:cs typeface="+mn-cs"/>
      </a:defRPr>
    </a:lvl6pPr>
    <a:lvl7pPr marL="2743200" algn="l" defTabSz="914400" rtl="0" eaLnBrk="1" latinLnBrk="0" hangingPunct="1">
      <a:defRPr sz="2000" kern="1200">
        <a:solidFill>
          <a:schemeClr val="tx1"/>
        </a:solidFill>
        <a:latin typeface="Arial" panose="020B0604020202090204" pitchFamily="34" charset="0"/>
        <a:ea typeface="+mn-ea"/>
        <a:cs typeface="+mn-cs"/>
      </a:defRPr>
    </a:lvl7pPr>
    <a:lvl8pPr marL="3200400" algn="l" defTabSz="914400" rtl="0" eaLnBrk="1" latinLnBrk="0" hangingPunct="1">
      <a:defRPr sz="2000" kern="1200">
        <a:solidFill>
          <a:schemeClr val="tx1"/>
        </a:solidFill>
        <a:latin typeface="Arial" panose="020B0604020202090204" pitchFamily="34" charset="0"/>
        <a:ea typeface="+mn-ea"/>
        <a:cs typeface="+mn-cs"/>
      </a:defRPr>
    </a:lvl8pPr>
    <a:lvl9pPr marL="3657600" algn="l" defTabSz="914400" rtl="0" eaLnBrk="1" latinLnBrk="0" hangingPunct="1">
      <a:defRPr sz="2000" kern="1200">
        <a:solidFill>
          <a:schemeClr val="tx1"/>
        </a:solidFill>
        <a:latin typeface="Arial" panose="020B0604020202090204" pitchFamily="34" charset="0"/>
        <a:ea typeface="+mn-ea"/>
        <a:cs typeface="+mn-cs"/>
      </a:defRPr>
    </a:lvl9pPr>
  </p:defaultTextStyle>
  <p:extLst>
    <p:ext uri="{EFAFB233-063F-42B5-8137-9DF3F51BA10A}">
      <p15:sldGuideLst xmlns:p15="http://schemas.microsoft.com/office/powerpoint/2012/main">
        <p15:guide id="1" orient="horz" pos="220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a:srgbClr val="90B0D4"/>
    <a:srgbClr val="B4593C"/>
    <a:srgbClr val="0066CC"/>
    <a:srgbClr val="547B9C"/>
    <a:srgbClr val="C0309A"/>
    <a:srgbClr val="0079BC"/>
    <a:srgbClr val="3E708E"/>
    <a:srgbClr val="3399FF"/>
    <a:srgbClr val="A54B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1" d="2"/>
          <a:sy n="1" d="2"/>
        </p:scale>
        <p:origin x="0" y="0"/>
      </p:cViewPr>
      <p:guideLst>
        <p:guide orient="horz" pos="2200"/>
        <p:guide pos="3840"/>
      </p:guideLst>
    </p:cSldViewPr>
  </p:slideViewPr>
  <p:notesViewPr>
    <p:cSldViewPr snapToGrid="0">
      <p:cViewPr>
        <p:scale>
          <a:sx n="1" d="2"/>
          <a:sy n="1" d="2"/>
        </p:scale>
        <p:origin x="0" y="0"/>
      </p:cViewPr>
      <p:guideLst>
        <p:guide orient="horz" pos="2982"/>
        <p:guide pos="2208"/>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2.xml"/><Relationship Id="rId9" Type="http://schemas.openxmlformats.org/officeDocument/2006/relationships/slide" Target="slides/slide26.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ableStyles" Target="tableStyles.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628" cy="464981"/>
          </a:xfrm>
          <a:prstGeom prst="rect">
            <a:avLst/>
          </a:prstGeom>
        </p:spPr>
        <p:txBody>
          <a:bodyPr vert="horz" lIns="92153" tIns="46077" rIns="92153" bIns="46077" rtlCol="0"/>
          <a:lstStyle>
            <a:lvl1pPr algn="l">
              <a:defRPr sz="1200"/>
            </a:lvl1pPr>
          </a:lstStyle>
          <a:p>
            <a:endParaRPr lang="en-US"/>
          </a:p>
        </p:txBody>
      </p:sp>
      <p:sp>
        <p:nvSpPr>
          <p:cNvPr id="3" name="Date Placeholder 2"/>
          <p:cNvSpPr>
            <a:spLocks noGrp="1"/>
          </p:cNvSpPr>
          <p:nvPr>
            <p:ph type="dt" sz="quarter" idx="1"/>
          </p:nvPr>
        </p:nvSpPr>
        <p:spPr>
          <a:xfrm>
            <a:off x="3971173" y="1"/>
            <a:ext cx="3037628" cy="464981"/>
          </a:xfrm>
          <a:prstGeom prst="rect">
            <a:avLst/>
          </a:prstGeom>
        </p:spPr>
        <p:txBody>
          <a:bodyPr vert="horz" lIns="92153" tIns="46077" rIns="92153" bIns="46077" rtlCol="0"/>
          <a:lstStyle>
            <a:lvl1pPr algn="r">
              <a:defRPr sz="1200"/>
            </a:lvl1pPr>
          </a:lstStyle>
          <a:p>
            <a:fld id="{006C233A-9D74-4117-ACA8-060D36B7D83A}" type="datetimeFigureOut">
              <a:rPr lang="en-US" smtClean="0"/>
            </a:fld>
            <a:endParaRPr lang="en-US"/>
          </a:p>
        </p:txBody>
      </p:sp>
      <p:sp>
        <p:nvSpPr>
          <p:cNvPr id="4" name="Footer Placeholder 3"/>
          <p:cNvSpPr>
            <a:spLocks noGrp="1"/>
          </p:cNvSpPr>
          <p:nvPr>
            <p:ph type="ftr" sz="quarter" idx="2"/>
          </p:nvPr>
        </p:nvSpPr>
        <p:spPr>
          <a:xfrm>
            <a:off x="0" y="8829824"/>
            <a:ext cx="3037628" cy="464981"/>
          </a:xfrm>
          <a:prstGeom prst="rect">
            <a:avLst/>
          </a:prstGeom>
        </p:spPr>
        <p:txBody>
          <a:bodyPr vert="horz" lIns="92153" tIns="46077" rIns="92153" bIns="46077" rtlCol="0" anchor="b"/>
          <a:lstStyle>
            <a:lvl1pPr algn="l">
              <a:defRPr sz="1200"/>
            </a:lvl1pPr>
          </a:lstStyle>
          <a:p>
            <a:endParaRPr lang="en-US"/>
          </a:p>
        </p:txBody>
      </p:sp>
      <p:sp>
        <p:nvSpPr>
          <p:cNvPr id="5" name="Slide Number Placeholder 4"/>
          <p:cNvSpPr>
            <a:spLocks noGrp="1"/>
          </p:cNvSpPr>
          <p:nvPr>
            <p:ph type="sldNum" sz="quarter" idx="3"/>
          </p:nvPr>
        </p:nvSpPr>
        <p:spPr>
          <a:xfrm>
            <a:off x="3971173" y="8829824"/>
            <a:ext cx="3037628" cy="464981"/>
          </a:xfrm>
          <a:prstGeom prst="rect">
            <a:avLst/>
          </a:prstGeom>
        </p:spPr>
        <p:txBody>
          <a:bodyPr vert="horz" lIns="92153" tIns="46077" rIns="92153" bIns="46077" rtlCol="0" anchor="b"/>
          <a:lstStyle>
            <a:lvl1pPr algn="r">
              <a:defRPr sz="1200"/>
            </a:lvl1pPr>
          </a:lstStyle>
          <a:p>
            <a:fld id="{A28E399E-F7B0-4ADD-938A-755F22AEF967}"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1" y="0"/>
            <a:ext cx="3037840" cy="464821"/>
          </a:xfrm>
          <a:prstGeom prst="rect">
            <a:avLst/>
          </a:prstGeom>
          <a:noFill/>
          <a:ln w="9525">
            <a:noFill/>
            <a:miter lim="800000"/>
          </a:ln>
          <a:effectLst/>
        </p:spPr>
        <p:txBody>
          <a:bodyPr vert="horz" wrap="square" lIns="93205" tIns="46603" rIns="93205" bIns="46603" numCol="1" anchor="t" anchorCtr="0" compatLnSpc="1"/>
          <a:lstStyle>
            <a:lvl1pPr>
              <a:defRPr sz="1200"/>
            </a:lvl1pPr>
          </a:lstStyle>
          <a:p>
            <a:endParaRPr lang="en-US"/>
          </a:p>
        </p:txBody>
      </p:sp>
      <p:sp>
        <p:nvSpPr>
          <p:cNvPr id="4099" name="Rectangle 3"/>
          <p:cNvSpPr>
            <a:spLocks noGrp="1" noChangeArrowheads="1"/>
          </p:cNvSpPr>
          <p:nvPr>
            <p:ph type="dt" idx="1"/>
          </p:nvPr>
        </p:nvSpPr>
        <p:spPr bwMode="auto">
          <a:xfrm>
            <a:off x="3972563" y="0"/>
            <a:ext cx="3037840" cy="464821"/>
          </a:xfrm>
          <a:prstGeom prst="rect">
            <a:avLst/>
          </a:prstGeom>
          <a:noFill/>
          <a:ln w="9525">
            <a:noFill/>
            <a:miter lim="800000"/>
          </a:ln>
          <a:effectLst/>
        </p:spPr>
        <p:txBody>
          <a:bodyPr vert="horz" wrap="square" lIns="93205" tIns="46603" rIns="93205" bIns="46603" numCol="1" anchor="t" anchorCtr="0" compatLnSpc="1"/>
          <a:lstStyle>
            <a:lvl1pPr algn="r">
              <a:defRPr sz="1200"/>
            </a:lvl1pPr>
          </a:lstStyle>
          <a:p>
            <a:endParaRPr lang="en-US"/>
          </a:p>
        </p:txBody>
      </p:sp>
      <p:sp>
        <p:nvSpPr>
          <p:cNvPr id="4100" name="Rectangle 4"/>
          <p:cNvSpPr>
            <a:spLocks noGrp="1" noRot="1" noChangeAspect="1" noChangeArrowheads="1" noTextEdit="1"/>
          </p:cNvSpPr>
          <p:nvPr>
            <p:ph type="sldImg" idx="2"/>
          </p:nvPr>
        </p:nvSpPr>
        <p:spPr bwMode="auto">
          <a:xfrm>
            <a:off x="406400" y="698500"/>
            <a:ext cx="6197600" cy="3486150"/>
          </a:xfrm>
          <a:prstGeom prst="rect">
            <a:avLst/>
          </a:prstGeom>
          <a:noFill/>
          <a:ln w="9525">
            <a:solidFill>
              <a:srgbClr val="000000"/>
            </a:solidFill>
            <a:miter lim="800000"/>
          </a:ln>
          <a:effectLst/>
        </p:spPr>
      </p:sp>
      <p:sp>
        <p:nvSpPr>
          <p:cNvPr id="4101" name="Rectangle 5"/>
          <p:cNvSpPr>
            <a:spLocks noGrp="1" noChangeArrowheads="1"/>
          </p:cNvSpPr>
          <p:nvPr>
            <p:ph type="body" sz="quarter" idx="3"/>
          </p:nvPr>
        </p:nvSpPr>
        <p:spPr bwMode="auto">
          <a:xfrm>
            <a:off x="934721" y="4415792"/>
            <a:ext cx="5140960" cy="4183380"/>
          </a:xfrm>
          <a:prstGeom prst="rect">
            <a:avLst/>
          </a:prstGeom>
          <a:noFill/>
          <a:ln w="9525">
            <a:noFill/>
            <a:miter lim="800000"/>
          </a:ln>
          <a:effectLst/>
        </p:spPr>
        <p:txBody>
          <a:bodyPr vert="horz" wrap="square" lIns="93205" tIns="46603" rIns="93205" bIns="46603"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102" name="Rectangle 6"/>
          <p:cNvSpPr>
            <a:spLocks noGrp="1" noChangeArrowheads="1"/>
          </p:cNvSpPr>
          <p:nvPr>
            <p:ph type="ftr" sz="quarter" idx="4"/>
          </p:nvPr>
        </p:nvSpPr>
        <p:spPr bwMode="auto">
          <a:xfrm>
            <a:off x="1" y="8831581"/>
            <a:ext cx="3037840" cy="464821"/>
          </a:xfrm>
          <a:prstGeom prst="rect">
            <a:avLst/>
          </a:prstGeom>
          <a:noFill/>
          <a:ln w="9525">
            <a:noFill/>
            <a:miter lim="800000"/>
          </a:ln>
          <a:effectLst/>
        </p:spPr>
        <p:txBody>
          <a:bodyPr vert="horz" wrap="square" lIns="93205" tIns="46603" rIns="93205" bIns="46603" numCol="1" anchor="b" anchorCtr="0" compatLnSpc="1"/>
          <a:lstStyle>
            <a:lvl1pPr>
              <a:defRPr sz="1200"/>
            </a:lvl1pPr>
          </a:lstStyle>
          <a:p>
            <a:endParaRPr lang="en-US"/>
          </a:p>
        </p:txBody>
      </p:sp>
      <p:sp>
        <p:nvSpPr>
          <p:cNvPr id="4103" name="Rectangle 7"/>
          <p:cNvSpPr>
            <a:spLocks noGrp="1" noChangeArrowheads="1"/>
          </p:cNvSpPr>
          <p:nvPr>
            <p:ph type="sldNum" sz="quarter" idx="5"/>
          </p:nvPr>
        </p:nvSpPr>
        <p:spPr bwMode="auto">
          <a:xfrm>
            <a:off x="3972563" y="8831581"/>
            <a:ext cx="3037840" cy="464821"/>
          </a:xfrm>
          <a:prstGeom prst="rect">
            <a:avLst/>
          </a:prstGeom>
          <a:noFill/>
          <a:ln w="9525">
            <a:noFill/>
            <a:miter lim="800000"/>
          </a:ln>
          <a:effectLst/>
        </p:spPr>
        <p:txBody>
          <a:bodyPr vert="horz" wrap="square" lIns="93205" tIns="46603" rIns="93205" bIns="46603" numCol="1" anchor="b" anchorCtr="0" compatLnSpc="1"/>
          <a:lstStyle>
            <a:lvl1pPr algn="r">
              <a:defRPr sz="1200"/>
            </a:lvl1pPr>
          </a:lstStyle>
          <a:p>
            <a:fld id="{848BB432-97C3-4B7D-8D6F-1BA494990EB4}" type="slidenum">
              <a:rPr lang="en-US"/>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9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9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9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9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9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8136D09-445F-4409-95BE-72AAD8FC2949}" type="slidenum">
              <a:rPr lang="en-US"/>
            </a:fld>
            <a:endParaRPr lang="en-US"/>
          </a:p>
        </p:txBody>
      </p:sp>
      <p:sp>
        <p:nvSpPr>
          <p:cNvPr id="279554" name="Rectangle 2"/>
          <p:cNvSpPr>
            <a:spLocks noGrp="1" noRot="1" noChangeAspect="1" noChangeArrowheads="1" noTextEdit="1"/>
          </p:cNvSpPr>
          <p:nvPr>
            <p:ph type="sldImg"/>
          </p:nvPr>
        </p:nvSpPr>
        <p:spPr>
          <a:xfrm>
            <a:off x="406400" y="698500"/>
            <a:ext cx="6197600" cy="3486150"/>
          </a:xfrm>
        </p:spPr>
      </p:sp>
      <p:sp>
        <p:nvSpPr>
          <p:cNvPr id="279555" name="Rectangle 3"/>
          <p:cNvSpPr>
            <a:spLocks noGrp="1" noChangeArrowheads="1"/>
          </p:cNvSpPr>
          <p:nvPr>
            <p:ph type="body" idx="1"/>
          </p:nvPr>
        </p:nvSpPr>
        <p:spPr/>
        <p:txBody>
          <a:bodyPr/>
          <a:lstStyle/>
          <a:p>
            <a:r>
              <a:t>Good morning. We are presenting the third review of our project on Bayesian Belief Network-driven proactive fault tolerance for microservice placement in fog computing. Since Review 2 the design has been implemented inside iFogSim2 and evaluated end to end; today we show the implementation, a live demonstration and the results.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map of the talk: we restate the problem and the proposal briefly, spend most of the time on what is new since Review 2 — the dataset, the implementation, the demonstration and the results — and close with what the results do and do not show.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Fog nodes fail far more often than data-centre machines, and they usually degrade before they stop. Existing fog fault tolerance reacts after the failure, or uses a fixed threshold on one metric. Neither puts a probability on failure, so neither can weigh the risk against the cost of acting. The figure shows the opportunity: the degradation window before a failure.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survey: three of five systems are reactive, the two proactive ones rely on fixed thresholds, and all reserve redundancy uniformly. None models node health as a hidden condition with uncertainty, which is exactly what a Bayesian network provides.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novelties, one per objective, all now implemented. N1 predicts, N2 and N3 act on the prediction. Below them, the four things that changed between the Review 2 design and the system we evaluated.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blocks. A is the simulated fog environment with telemetry agents and a fault injector. B learns the BBN offline from 31 runs. C is the controller inside the simulator with the three novelties. D evaluates everything on unseen runs. The numbered flows go from telemetry to dataset, to trained model, to live inference, to decisions, to actuation, and back as online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Thirteen evidence channels feed four hidden conditions, which feed the failure target together with the device class. Because each channel feeds only one condition, inference is exact and takes about 3.6 microseconds. A missing channel is summed out. The tables are ranked nodes: one learned point per parent state instead of an exponential table, which is what made eight bins per channel learnable.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Placement scores each node with a utility in which risk is one term and the weights depend on the patient. Migration compares expected loss with the cost of moving, so each session derives its own threshold: 0.020 for a critical patient, 0.049 for best-effort. Replication picks the tier with least overhead plus expected loss.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100 time units the controller reads the reports, infers risk, learns from matured outcomes, migrates where the expected loss justifies it, re-tiers redundancy and lets the simulation run. Between epochs failures are detected after a 30 ms heartbeat timeout and recovered according to each session's tier. Placement is called whenever a session needs a node.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no public failure trace for fog, so the dataset is generated by our instrumented iFogSim2 from real inputs shipped with the simulator: the Melbourne CBD topology and mobility traces, and a cardiac-monitoring application. Every device reports thirteen channels every epoch; an empty value means the channel did not report.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iFogSim has no failures, so we added a degradation model: hidden health wears faster under stress and shows fail-slow symptoms that the telemetry can see. One failure in five is sudden. Whole regimes and seeds are held out, and the leak audit confirms independence: 2 percent of shared failures coincide, which is chance.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Java side is one new package of 31 classes inside an unmodified iFogSim2; the Python side builds the data, trains and evaluates. They share one model file, and the Java and Python engines agree to 1e-15. Fifty tests and a pgmpy cross-check guard correctness, and two scripts regenerate everything or run the demo.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runs in about 35 seconds and has nine stages. Here is stage five: the BBN is retrained live from the devices' telemetry, from 314 thousand snapshots compressed to 43 thousand patterns, in about ten seconds, and the learned failure table is printed. The retrained model is identical to the one behind every reported result.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7 with seed 201, both unseen in training. fog-61 is wearing out: the BBN puts its failure probability at 0.41 and blames energy stress, and each session moves when that exceeds its own threshold. fog-38 fails suddenly, which no predictor can see; its four users are detected and recovered by cold restart. The controller needs 2.24 ms per epoch.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eight runs all seven policies with identical failure luck and then shows the summary over all 25 held-out runs with paired Wilcoxon tests. Against FTAPA the BBN framework cuts fault downtime by 55 percent with a standby for 0.2 percent of sessions instead of all of them. Against the ML-driven controller the difference is not significant with complete telemetry.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modelling choice is made on folds of the training runs; the held-out pool is scored once. Prediction is judged by ranking and by probability quality, because the controller multiplies the probability by a cost. The closed loop is judged by downtime split into the part fault tolerance controls and the part it cannot.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Review 2 graph with tertile bins was almost blind: cross-validated PR-AUC 0.041. Supervised bins were the biggest single gain, then trends, ranked nodes with eight bins, and per-class bins. All of this was decided on training scenarios; the held-out runs were untouched until the end.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160 thousand held-out snapshots the BBN has the best ROC-AUC and a PR-AUC tied with the random forest. Because 29 percent of failures are sudden, no model can exceed 0.872 and 0.712; the BBN reaches 99 and 90 percent of that. The random forest is slightly ahead on F1 and early detection, and we say so.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random forest ranks well but is badly calibrated, with 22 thousand snapshots at 0.04 that fail at 0.0006; the BBN is within about a factor of two. Right: when channels go missing more often on degrading nodes, the BBN keeps the best probabilities at every loss rate. Naive Bayes ranks best under heavy loss.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policies on the same 25 held-out runs. The dark part of each bar is what fault tolerance controls. The BBN framework cuts it by 97, 85 and 55 percent against no fault tolerance, reactive checkpointing and FTAPA, and misses the 150 ms deadline on 0.13 percent of critical alarms. Cloud-only looks good on downtime but misses every deadline.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30 percent of channels missing on degrading nodes, the BBN-driven controller beats the ML-driven one by 29 percent: imputing a healthy median misleads, summing out does not. FTAPA, with a standby for everyone, is the most robust here. The ablation shows that risk-aware placement and selective replication carry the gain; migration alone is not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Multiplying every migration cost by 0.25 to 4 changes the number of migrations tenfold but downtime stays at 20 to 23 ms per user: no threshold needs tuning. The named causes match how nodes failed: battery and wear-out failures are blamed on energy stress, and for half of the sudden failures nothing is raised, as it should be.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summary. The BBN matches the best black box at ranking and is clearly the best at calibration, which is what decisions need. Its real advantage shows when telemetry fails with the node. It is not ahead everywhere: the random forest has slightly higher PR-AUC and F1, and nothing predicts sudden failures.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and evaluated the framework end to end. The BBN gives calibrated, explainable failure probabilities that drive placement, migration and replication, and the framework removes most of the fault-related downtime with very little standby. Next steps are real traces, a dynamic Bayesian network, and distributed inference.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pic>
        <p:nvPicPr>
          <p:cNvPr id="11266" name="Picture 2" descr="band"/>
          <p:cNvPicPr>
            <a:picLocks noChangeAspect="1" noChangeArrowheads="1"/>
          </p:cNvPicPr>
          <p:nvPr userDrawn="1"/>
        </p:nvPicPr>
        <p:blipFill>
          <a:blip r:embed="rId2" cstate="print"/>
          <a:srcRect/>
          <a:stretch>
            <a:fillRect/>
          </a:stretch>
        </p:blipFill>
        <p:spPr bwMode="auto">
          <a:xfrm>
            <a:off x="0" y="5589588"/>
            <a:ext cx="11988800" cy="1268412"/>
          </a:xfrm>
          <a:prstGeom prst="rect">
            <a:avLst/>
          </a:prstGeom>
          <a:noFill/>
        </p:spPr>
      </p:pic>
      <p:sp>
        <p:nvSpPr>
          <p:cNvPr id="11267" name="Rectangle 3"/>
          <p:cNvSpPr>
            <a:spLocks noGrp="1" noChangeArrowheads="1"/>
          </p:cNvSpPr>
          <p:nvPr>
            <p:ph type="ctrTitle"/>
          </p:nvPr>
        </p:nvSpPr>
        <p:spPr>
          <a:xfrm>
            <a:off x="914400" y="2286000"/>
            <a:ext cx="10363200" cy="1143000"/>
          </a:xfrm>
        </p:spPr>
        <p:txBody>
          <a:bodyPr/>
          <a:lstStyle>
            <a:lvl1pPr>
              <a:defRPr>
                <a:solidFill>
                  <a:srgbClr val="1B57B5"/>
                </a:solidFill>
              </a:defRPr>
            </a:lvl1pPr>
          </a:lstStyle>
          <a:p>
            <a:r>
              <a:rPr lang="en-US"/>
              <a:t>Click to edit Master title style</a:t>
            </a:r>
            <a:endParaRPr lang="en-US"/>
          </a:p>
        </p:txBody>
      </p:sp>
      <p:sp>
        <p:nvSpPr>
          <p:cNvPr id="11268" name="Rectangle 4"/>
          <p:cNvSpPr>
            <a:spLocks noGrp="1" noChangeArrowheads="1"/>
          </p:cNvSpPr>
          <p:nvPr>
            <p:ph type="subTitle" idx="1"/>
          </p:nvPr>
        </p:nvSpPr>
        <p:spPr>
          <a:xfrm>
            <a:off x="1828800" y="3810000"/>
            <a:ext cx="8534400" cy="1752600"/>
          </a:xfrm>
        </p:spPr>
        <p:txBody>
          <a:bodyPr/>
          <a:lstStyle>
            <a:lvl1pPr marL="0" indent="0" algn="ctr">
              <a:buFontTx/>
              <a:buNone/>
              <a:defRPr>
                <a:solidFill>
                  <a:schemeClr val="bg2"/>
                </a:solidFill>
              </a:defRPr>
            </a:lvl1pPr>
          </a:lstStyle>
          <a:p>
            <a:r>
              <a:rPr lang="en-US"/>
              <a:t>Click to edit Master subtitle style</a:t>
            </a:r>
            <a:endParaRPr 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3"/>
          <p:cNvSpPr>
            <a:spLocks noGrp="1"/>
          </p:cNvSpPr>
          <p:nvPr>
            <p:ph type="sldNum" sz="quarter" idx="10"/>
          </p:nvPr>
        </p:nvSpPr>
        <p:spPr/>
        <p:txBody>
          <a:bodyPr/>
          <a:lstStyle>
            <a:lvl1pPr>
              <a:defRPr/>
            </a:lvl1pPr>
          </a:lstStyle>
          <a:p>
            <a:fld id="{921F4039-2622-4E0D-BA5F-DF613486EC3F}" type="slidenum">
              <a:rPr lang="en-US"/>
            </a:fld>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Slide Number Placeholder 3"/>
          <p:cNvSpPr>
            <a:spLocks noGrp="1"/>
          </p:cNvSpPr>
          <p:nvPr>
            <p:ph type="sldNum" sz="quarter" idx="10"/>
          </p:nvPr>
        </p:nvSpPr>
        <p:spPr/>
        <p:txBody>
          <a:bodyPr/>
          <a:lstStyle>
            <a:lvl1pPr>
              <a:defRPr/>
            </a:lvl1pPr>
          </a:lstStyle>
          <a:p>
            <a:fld id="{9A93D3DE-0D14-436D-A6F8-99F9FCD4509C}" type="slidenum">
              <a:rPr lang="en-US"/>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Slide Number Placeholder 4"/>
          <p:cNvSpPr>
            <a:spLocks noGrp="1"/>
          </p:cNvSpPr>
          <p:nvPr>
            <p:ph type="sldNum" sz="quarter" idx="10"/>
          </p:nvPr>
        </p:nvSpPr>
        <p:spPr/>
        <p:txBody>
          <a:bodyPr/>
          <a:lstStyle>
            <a:lvl1pPr>
              <a:defRPr/>
            </a:lvl1pPr>
          </a:lstStyle>
          <a:p>
            <a:fld id="{DEF9CD4C-826D-4353-97CC-FD6B600239AB}" type="slidenum">
              <a:rPr lang="en-US"/>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Slide Number Placeholder 6"/>
          <p:cNvSpPr>
            <a:spLocks noGrp="1"/>
          </p:cNvSpPr>
          <p:nvPr>
            <p:ph type="sldNum" sz="quarter" idx="10"/>
          </p:nvPr>
        </p:nvSpPr>
        <p:spPr/>
        <p:txBody>
          <a:bodyPr/>
          <a:lstStyle>
            <a:lvl1pPr>
              <a:defRPr/>
            </a:lvl1pPr>
          </a:lstStyle>
          <a:p>
            <a:fld id="{E7A862DA-0300-4660-A6BD-320860488EFE}" type="slidenum">
              <a:rPr lang="en-US"/>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Slide Number Placeholder 2"/>
          <p:cNvSpPr>
            <a:spLocks noGrp="1"/>
          </p:cNvSpPr>
          <p:nvPr>
            <p:ph type="sldNum" sz="quarter" idx="10"/>
          </p:nvPr>
        </p:nvSpPr>
        <p:spPr/>
        <p:txBody>
          <a:bodyPr/>
          <a:lstStyle>
            <a:lvl1pPr>
              <a:defRPr/>
            </a:lvl1pPr>
          </a:lstStyle>
          <a:p>
            <a:fld id="{A715D3E4-362F-49DE-85B9-977E4CF2496F}" type="slidenum">
              <a:rPr lang="en-US"/>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A4670509-8842-45C7-8721-9FA549B616AB}" type="slidenum">
              <a:rPr lang="en-US"/>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Slide Number Placeholder 4"/>
          <p:cNvSpPr>
            <a:spLocks noGrp="1"/>
          </p:cNvSpPr>
          <p:nvPr>
            <p:ph type="sldNum" sz="quarter" idx="10"/>
          </p:nvPr>
        </p:nvSpPr>
        <p:spPr/>
        <p:txBody>
          <a:bodyPr/>
          <a:lstStyle>
            <a:lvl1pPr>
              <a:defRPr/>
            </a:lvl1pPr>
          </a:lstStyle>
          <a:p>
            <a:fld id="{15FF190B-BFCC-43ED-94C1-8545E3613419}" type="slidenum">
              <a:rPr lang="en-US"/>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Slide Number Placeholder 4"/>
          <p:cNvSpPr>
            <a:spLocks noGrp="1"/>
          </p:cNvSpPr>
          <p:nvPr>
            <p:ph type="sldNum" sz="quarter" idx="10"/>
          </p:nvPr>
        </p:nvSpPr>
        <p:spPr/>
        <p:txBody>
          <a:bodyPr/>
          <a:lstStyle>
            <a:lvl1pPr>
              <a:defRPr/>
            </a:lvl1pPr>
          </a:lstStyle>
          <a:p>
            <a:fld id="{A31E2E50-6244-4F8C-BC21-0143E7B1D612}" type="slidenum">
              <a:rPr lang="en-US"/>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3"/>
          <p:cNvSpPr>
            <a:spLocks noGrp="1"/>
          </p:cNvSpPr>
          <p:nvPr>
            <p:ph type="sldNum" sz="quarter" idx="10"/>
          </p:nvPr>
        </p:nvSpPr>
        <p:spPr/>
        <p:txBody>
          <a:bodyPr/>
          <a:lstStyle>
            <a:lvl1pPr>
              <a:defRPr/>
            </a:lvl1pPr>
          </a:lstStyle>
          <a:p>
            <a:fld id="{04B17A84-1EF1-46E0-86F0-87EE23199E92}" type="slidenum">
              <a:rPr lang="en-US"/>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3"/>
          <p:cNvSpPr>
            <a:spLocks noGrp="1"/>
          </p:cNvSpPr>
          <p:nvPr>
            <p:ph type="sldNum" sz="quarter" idx="10"/>
          </p:nvPr>
        </p:nvSpPr>
        <p:spPr/>
        <p:txBody>
          <a:bodyPr/>
          <a:lstStyle>
            <a:lvl1pPr>
              <a:defRPr/>
            </a:lvl1pPr>
          </a:lstStyle>
          <a:p>
            <a:fld id="{5EA6033A-ADCD-4E5D-B795-05F53A6B4939}" type="slidenum">
              <a:rPr lang="en-US"/>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US"/>
          </a:p>
        </p:txBody>
      </p:sp>
      <p:sp>
        <p:nvSpPr>
          <p:cNvPr id="3" name="Table Placeholder 2"/>
          <p:cNvSpPr>
            <a:spLocks noGrp="1"/>
          </p:cNvSpPr>
          <p:nvPr>
            <p:ph type="tbl" idx="1"/>
          </p:nvPr>
        </p:nvSpPr>
        <p:spPr>
          <a:xfrm>
            <a:off x="609600" y="1600201"/>
            <a:ext cx="10972800" cy="4525963"/>
          </a:xfrm>
        </p:spPr>
        <p:txBody>
          <a:bodyPr/>
          <a:lstStyle/>
          <a:p>
            <a:endParaRPr lang="en-US"/>
          </a:p>
        </p:txBody>
      </p:sp>
      <p:sp>
        <p:nvSpPr>
          <p:cNvPr id="4" name="Slide Number Placeholder 3"/>
          <p:cNvSpPr>
            <a:spLocks noGrp="1"/>
          </p:cNvSpPr>
          <p:nvPr>
            <p:ph type="sldNum" sz="quarter" idx="10"/>
          </p:nvPr>
        </p:nvSpPr>
        <p:spPr>
          <a:xfrm>
            <a:off x="0" y="6321425"/>
            <a:ext cx="12192000" cy="476250"/>
          </a:xfrm>
        </p:spPr>
        <p:txBody>
          <a:bodyPr/>
          <a:lstStyle>
            <a:lvl1pPr>
              <a:defRPr/>
            </a:lvl1pPr>
          </a:lstStyle>
          <a:p>
            <a:fld id="{E765331A-FB16-4349-BB1E-9292E7905A34}" type="slidenum">
              <a:rPr lang="en-US"/>
            </a:fld>
            <a:endParaRPr lang="en-US"/>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Slide Number Placeholder 2"/>
          <p:cNvSpPr>
            <a:spLocks noGrp="1"/>
          </p:cNvSpPr>
          <p:nvPr>
            <p:ph type="sldNum" sz="quarter" idx="10"/>
          </p:nvPr>
        </p:nvSpPr>
        <p:spPr>
          <a:xfrm>
            <a:off x="0" y="6321425"/>
            <a:ext cx="12192000" cy="476250"/>
          </a:xfrm>
        </p:spPr>
        <p:txBody>
          <a:bodyPr/>
          <a:lstStyle>
            <a:lvl1pPr>
              <a:defRPr/>
            </a:lvl1pPr>
          </a:lstStyle>
          <a:p>
            <a:fld id="{CA127EDD-5AE7-4F7E-A3D2-120782799796}" type="slidenum">
              <a:rPr lang="en-US"/>
            </a:fld>
            <a:endParaRPr lang="en-US"/>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US"/>
          </a:p>
        </p:txBody>
      </p:sp>
      <p:sp>
        <p:nvSpPr>
          <p:cNvPr id="3" name="Chart Placeholder 2"/>
          <p:cNvSpPr>
            <a:spLocks noGrp="1"/>
          </p:cNvSpPr>
          <p:nvPr>
            <p:ph type="chart" idx="1"/>
          </p:nvPr>
        </p:nvSpPr>
        <p:spPr>
          <a:xfrm>
            <a:off x="609600" y="1600201"/>
            <a:ext cx="10972800" cy="4525963"/>
          </a:xfrm>
        </p:spPr>
        <p:txBody>
          <a:bodyPr/>
          <a:lstStyle/>
          <a:p>
            <a:endParaRPr lang="en-US"/>
          </a:p>
        </p:txBody>
      </p:sp>
      <p:sp>
        <p:nvSpPr>
          <p:cNvPr id="4" name="Slide Number Placeholder 3"/>
          <p:cNvSpPr>
            <a:spLocks noGrp="1"/>
          </p:cNvSpPr>
          <p:nvPr>
            <p:ph type="sldNum" sz="quarter" idx="10"/>
          </p:nvPr>
        </p:nvSpPr>
        <p:spPr>
          <a:xfrm>
            <a:off x="0" y="6321425"/>
            <a:ext cx="12192000" cy="476250"/>
          </a:xfrm>
        </p:spPr>
        <p:txBody>
          <a:bodyPr/>
          <a:lstStyle>
            <a:lvl1pPr>
              <a:defRPr/>
            </a:lvl1pPr>
          </a:lstStyle>
          <a:p>
            <a:fld id="{50D1D595-6F66-4A04-B04D-68C711B5071F}" type="slidenum">
              <a:rPr lang="en-US"/>
            </a:fld>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oleObject" Target="../embeddings/oleObject1.bin"/><Relationship Id="rId16" Type="http://schemas.openxmlformats.org/officeDocument/2006/relationships/image" Target="../media/image2.emf"/><Relationship Id="rId17" Type="http://schemas.openxmlformats.org/officeDocument/2006/relationships/vmlDrawing" Target="../drawings/vmlDrawing1.v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609600" y="274638"/>
            <a:ext cx="10972800" cy="1143000"/>
          </a:xfrm>
          <a:prstGeom prst="rect">
            <a:avLst/>
          </a:prstGeom>
          <a:noFill/>
          <a:ln w="9525">
            <a:noFill/>
            <a:miter lim="800000"/>
          </a:ln>
          <a:effectLst/>
        </p:spPr>
        <p:txBody>
          <a:bodyPr vert="horz" wrap="square" lIns="91440" tIns="45720" rIns="91440" bIns="45720" numCol="1" anchor="ctr" anchorCtr="0" compatLnSpc="1"/>
          <a:lstStyle/>
          <a:p>
            <a:pPr lvl="0"/>
            <a:r>
              <a:rPr lang="en-US"/>
              <a:t>Click to edit Master title style</a:t>
            </a:r>
            <a:endParaRPr lang="en-US"/>
          </a:p>
        </p:txBody>
      </p:sp>
      <p:sp>
        <p:nvSpPr>
          <p:cNvPr id="10243" name="Rectangle 3"/>
          <p:cNvSpPr>
            <a:spLocks noGrp="1" noChangeArrowheads="1"/>
          </p:cNvSpPr>
          <p:nvPr>
            <p:ph type="body" idx="1"/>
          </p:nvPr>
        </p:nvSpPr>
        <p:spPr bwMode="auto">
          <a:xfrm>
            <a:off x="609600" y="1600201"/>
            <a:ext cx="10972800" cy="4525963"/>
          </a:xfrm>
          <a:prstGeom prst="rect">
            <a:avLst/>
          </a:prstGeom>
          <a:noFill/>
          <a:ln w="9525">
            <a:noFill/>
            <a:miter lim="800000"/>
          </a:ln>
          <a:effectLst/>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graphicFrame>
        <p:nvGraphicFramePr>
          <p:cNvPr id="10244" name="Object 4"/>
          <p:cNvGraphicFramePr>
            <a:graphicFrameLocks noChangeAspect="1"/>
          </p:cNvGraphicFramePr>
          <p:nvPr/>
        </p:nvGraphicFramePr>
        <p:xfrm>
          <a:off x="0" y="6117455"/>
          <a:ext cx="12191999" cy="788671"/>
        </p:xfrm>
        <a:graphic>
          <a:graphicData uri="http://schemas.openxmlformats.org/presentationml/2006/ole">
            <mc:AlternateContent xmlns:mc="http://schemas.openxmlformats.org/markup-compatibility/2006">
              <mc:Choice xmlns:v="urn:schemas-microsoft-com:vml" Requires="v">
                <p:oleObj spid="_x0000_s2" name="CorelDRAW" r:id="rId15" imgW="9529445" imgH="654685" progId="">
                  <p:embed/>
                </p:oleObj>
              </mc:Choice>
              <mc:Fallback>
                <p:oleObj name="CorelDRAW" r:id="rId15" imgW="9529445" imgH="654685" progId="">
                  <p:embed/>
                  <p:pic>
                    <p:nvPicPr>
                      <p:cNvPr id="0" name="Object 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6117455"/>
                        <a:ext cx="12191999" cy="788671"/>
                      </a:xfrm>
                      <a:prstGeom prst="rect">
                        <a:avLst/>
                      </a:prstGeom>
                      <a:noFill/>
                      <a:ln>
                        <a:noFill/>
                      </a:ln>
                    </p:spPr>
                  </p:pic>
                </p:oleObj>
              </mc:Fallback>
            </mc:AlternateContent>
          </a:graphicData>
        </a:graphic>
      </p:graphicFrame>
      <p:sp>
        <p:nvSpPr>
          <p:cNvPr id="10245" name="Rectangle 5"/>
          <p:cNvSpPr>
            <a:spLocks noGrp="1" noChangeArrowheads="1"/>
          </p:cNvSpPr>
          <p:nvPr>
            <p:ph type="sldNum" sz="quarter" idx="4"/>
          </p:nvPr>
        </p:nvSpPr>
        <p:spPr bwMode="auto">
          <a:xfrm>
            <a:off x="0" y="6126164"/>
            <a:ext cx="12192000" cy="476250"/>
          </a:xfrm>
          <a:prstGeom prst="rect">
            <a:avLst/>
          </a:prstGeom>
          <a:noFill/>
          <a:ln w="9525">
            <a:noFill/>
            <a:miter lim="800000"/>
          </a:ln>
          <a:effectLst/>
        </p:spPr>
        <p:txBody>
          <a:bodyPr vert="horz" wrap="square" lIns="91440" tIns="45720" rIns="91440" bIns="45720" numCol="1" anchor="t" anchorCtr="0" compatLnSpc="1"/>
          <a:lstStyle>
            <a:lvl1pPr algn="ctr">
              <a:defRPr sz="1400"/>
            </a:lvl1pPr>
          </a:lstStyle>
          <a:p>
            <a:fld id="{8AFEF79D-0508-431A-9382-43A6F8BABA35}"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fade/>
  </p:transition>
  <p:hf hdr="0" ftr="0" dt="0"/>
  <p:txStyles>
    <p:titleStyle>
      <a:lvl1pPr algn="ctr" rtl="0" fontAlgn="base">
        <a:spcBef>
          <a:spcPct val="0"/>
        </a:spcBef>
        <a:spcAft>
          <a:spcPct val="0"/>
        </a:spcAft>
        <a:defRPr sz="4000">
          <a:solidFill>
            <a:schemeClr val="tx2"/>
          </a:solidFill>
          <a:latin typeface="+mj-lt"/>
          <a:ea typeface="+mj-ea"/>
          <a:cs typeface="+mj-cs"/>
        </a:defRPr>
      </a:lvl1pPr>
      <a:lvl2pPr algn="ctr" rtl="0" fontAlgn="base">
        <a:spcBef>
          <a:spcPct val="0"/>
        </a:spcBef>
        <a:spcAft>
          <a:spcPct val="0"/>
        </a:spcAft>
        <a:defRPr sz="4000">
          <a:solidFill>
            <a:schemeClr val="tx2"/>
          </a:solidFill>
          <a:latin typeface="Verdana" panose="020B0804030504040204" pitchFamily="34" charset="0"/>
        </a:defRPr>
      </a:lvl2pPr>
      <a:lvl3pPr algn="ctr" rtl="0" fontAlgn="base">
        <a:spcBef>
          <a:spcPct val="0"/>
        </a:spcBef>
        <a:spcAft>
          <a:spcPct val="0"/>
        </a:spcAft>
        <a:defRPr sz="4000">
          <a:solidFill>
            <a:schemeClr val="tx2"/>
          </a:solidFill>
          <a:latin typeface="Verdana" panose="020B0804030504040204" pitchFamily="34" charset="0"/>
        </a:defRPr>
      </a:lvl3pPr>
      <a:lvl4pPr algn="ctr" rtl="0" fontAlgn="base">
        <a:spcBef>
          <a:spcPct val="0"/>
        </a:spcBef>
        <a:spcAft>
          <a:spcPct val="0"/>
        </a:spcAft>
        <a:defRPr sz="4000">
          <a:solidFill>
            <a:schemeClr val="tx2"/>
          </a:solidFill>
          <a:latin typeface="Verdana" panose="020B0804030504040204" pitchFamily="34" charset="0"/>
        </a:defRPr>
      </a:lvl4pPr>
      <a:lvl5pPr algn="ctr" rtl="0" fontAlgn="base">
        <a:spcBef>
          <a:spcPct val="0"/>
        </a:spcBef>
        <a:spcAft>
          <a:spcPct val="0"/>
        </a:spcAft>
        <a:defRPr sz="4000">
          <a:solidFill>
            <a:schemeClr val="tx2"/>
          </a:solidFill>
          <a:latin typeface="Verdana" panose="020B0804030504040204" pitchFamily="34" charset="0"/>
        </a:defRPr>
      </a:lvl5pPr>
      <a:lvl6pPr marL="457200" algn="ctr" rtl="0" fontAlgn="base">
        <a:spcBef>
          <a:spcPct val="0"/>
        </a:spcBef>
        <a:spcAft>
          <a:spcPct val="0"/>
        </a:spcAft>
        <a:defRPr sz="4000">
          <a:solidFill>
            <a:schemeClr val="tx2"/>
          </a:solidFill>
          <a:latin typeface="Verdana" panose="020B0804030504040204" pitchFamily="34" charset="0"/>
        </a:defRPr>
      </a:lvl6pPr>
      <a:lvl7pPr marL="914400" algn="ctr" rtl="0" fontAlgn="base">
        <a:spcBef>
          <a:spcPct val="0"/>
        </a:spcBef>
        <a:spcAft>
          <a:spcPct val="0"/>
        </a:spcAft>
        <a:defRPr sz="4000">
          <a:solidFill>
            <a:schemeClr val="tx2"/>
          </a:solidFill>
          <a:latin typeface="Verdana" panose="020B0804030504040204" pitchFamily="34" charset="0"/>
        </a:defRPr>
      </a:lvl7pPr>
      <a:lvl8pPr marL="1371600" algn="ctr" rtl="0" fontAlgn="base">
        <a:spcBef>
          <a:spcPct val="0"/>
        </a:spcBef>
        <a:spcAft>
          <a:spcPct val="0"/>
        </a:spcAft>
        <a:defRPr sz="4000">
          <a:solidFill>
            <a:schemeClr val="tx2"/>
          </a:solidFill>
          <a:latin typeface="Verdana" panose="020B0804030504040204" pitchFamily="34" charset="0"/>
        </a:defRPr>
      </a:lvl8pPr>
      <a:lvl9pPr marL="1828800" algn="ctr" rtl="0" fontAlgn="base">
        <a:spcBef>
          <a:spcPct val="0"/>
        </a:spcBef>
        <a:spcAft>
          <a:spcPct val="0"/>
        </a:spcAft>
        <a:defRPr sz="4000">
          <a:solidFill>
            <a:schemeClr val="tx2"/>
          </a:solidFill>
          <a:latin typeface="Verdana" panose="020B0804030504040204" pitchFamily="34"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0" y="0"/>
            <a:ext cx="12192000" cy="1981200"/>
          </a:xfrm>
          <a:solidFill>
            <a:srgbClr val="0079BC"/>
          </a:solidFill>
        </p:spPr>
        <p:txBody>
          <a:bodyPr/>
          <a:lstStyle/>
          <a:p>
            <a:pPr algn="ctr">
              <a:defRPr sz="2600" b="1">
                <a:solidFill>
                  <a:srgbClr val="154360"/>
                </a:solidFill>
                <a:latin typeface="Aptos Display"/>
              </a:defRPr>
            </a:pPr>
            <a:r>
              <a:rPr lang="en-US" sz="3600" b="1">
                <a:solidFill>
                  <a:schemeClr val="bg1"/>
                </a:solidFill>
                <a:latin typeface="Times New Roman" panose="02020503050405090304"/>
                <a:cs typeface="Times New Roman" panose="02020503050405090304"/>
              </a:rPr>
              <a:t>SSN College of Engineering, Kalavakkam - 603110</a:t>
            </a:r>
            <a:br>
              <a:rPr lang="en-US" sz="3000" b="1">
                <a:solidFill>
                  <a:schemeClr val="bg1"/>
                </a:solidFill>
                <a:latin typeface="Times New Roman" panose="02020503050405090304"/>
                <a:cs typeface="Times New Roman" panose="02020503050405090304"/>
              </a:rPr>
            </a:br>
            <a:r>
              <a:rPr lang="en-US" sz="2800" b="1">
                <a:solidFill>
                  <a:schemeClr val="bg1"/>
                </a:solidFill>
                <a:latin typeface="Times New Roman" panose="02020503050405090304"/>
                <a:cs typeface="Times New Roman" panose="02020503050405090304"/>
              </a:rPr>
              <a:t>Department of Information Technology</a:t>
            </a:r>
            <a:endParaRPr lang="en-US" sz="2800">
              <a:solidFill>
                <a:schemeClr val="bg1"/>
              </a:solidFill>
            </a:endParaRPr>
          </a:p>
        </p:txBody>
      </p:sp>
      <p:sp>
        <p:nvSpPr>
          <p:cNvPr id="8" name="TextBox 7"/>
          <p:cNvSpPr txBox="1"/>
          <p:nvPr/>
        </p:nvSpPr>
        <p:spPr>
          <a:xfrm>
            <a:off x="1069848" y="2761488"/>
            <a:ext cx="10058400" cy="583565"/>
          </a:xfrm>
          <a:prstGeom prst="rect">
            <a:avLst/>
          </a:prstGeom>
          <a:noFill/>
        </p:spPr>
        <p:txBody>
          <a:bodyPr wrap="square" lIns="91440" tIns="45720" rIns="91440" bIns="45720" rtlCol="0" anchor="t">
            <a:spAutoFit/>
          </a:bodyPr>
          <a:lstStyle/>
          <a:p>
            <a:pPr algn="ctr">
              <a:defRPr sz="2600" b="1">
                <a:solidFill>
                  <a:srgbClr val="154360"/>
                </a:solidFill>
                <a:latin typeface="Aptos Display"/>
              </a:defRPr>
            </a:pPr>
            <a:r>
              <a:rPr lang="en-US" altLang="en-US" sz="2600" b="1">
                <a:sym typeface="+mn-ea"/>
              </a:rPr>
              <a:t>Bayesian Belief Network-Driven Proactive Fault Tolerance for Microservice Placement in Fog Computing Environments</a:t>
            </a:r>
            <a:endParaRPr lang="en-US" altLang="en-US" sz="3200" b="1">
              <a:sym typeface="+mn-ea"/>
            </a:endParaRPr>
          </a:p>
        </p:txBody>
      </p:sp>
      <p:sp>
        <p:nvSpPr>
          <p:cNvPr id="2" name="TextBox 7"/>
          <p:cNvSpPr txBox="1"/>
          <p:nvPr/>
        </p:nvSpPr>
        <p:spPr>
          <a:xfrm>
            <a:off x="1600200" y="2299970"/>
            <a:ext cx="9144000" cy="521970"/>
          </a:xfrm>
          <a:prstGeom prst="rect">
            <a:avLst/>
          </a:prstGeom>
          <a:noFill/>
        </p:spPr>
        <p:txBody>
          <a:bodyPr wrap="square" lIns="91440" tIns="45720" rIns="91440" bIns="45720" rtlCol="0" anchor="t">
            <a:spAutoFit/>
          </a:bodyPr>
          <a:lstStyle/>
          <a:p>
            <a:pPr algn="ctr">
              <a:defRPr sz="1800" b="0">
                <a:latin typeface="Aptos"/>
              </a:defRPr>
            </a:pPr>
            <a:r>
              <a:rPr lang="en-US" altLang="en-US" sz="2800" b="1">
                <a:solidFill>
                  <a:srgbClr val="0066CC"/>
                </a:solidFill>
                <a:latin typeface="Times New Roman" panose="02020503050405090304"/>
                <a:cs typeface="Times New Roman" panose="02020503050405090304"/>
              </a:rPr>
              <a:t>UG Project Work – Phase I – Review III</a:t>
            </a:r>
            <a:endParaRPr lang="en-US" altLang="en-US" sz="2800" b="1">
              <a:solidFill>
                <a:srgbClr val="0066CC"/>
              </a:solidFill>
              <a:latin typeface="Times New Roman" panose="02020503050405090304"/>
              <a:cs typeface="Times New Roman" panose="02020503050405090304"/>
            </a:endParaRPr>
          </a:p>
        </p:txBody>
      </p:sp>
      <p:sp>
        <p:nvSpPr>
          <p:cNvPr id="5" name="TextBox 7"/>
          <p:cNvSpPr txBox="1"/>
          <p:nvPr/>
        </p:nvSpPr>
        <p:spPr>
          <a:xfrm>
            <a:off x="1661160" y="4224528"/>
            <a:ext cx="9144000" cy="1322070"/>
          </a:xfrm>
          <a:prstGeom prst="rect">
            <a:avLst/>
          </a:prstGeom>
          <a:noFill/>
        </p:spPr>
        <p:txBody>
          <a:bodyPr wrap="square" lIns="91440" tIns="45720" rIns="91440" bIns="45720" rtlCol="0" anchor="t">
            <a:spAutoFit/>
          </a:bodyPr>
          <a:lstStyle/>
          <a:p>
            <a:pPr algn="ctr">
              <a:defRPr sz="1800" b="0">
                <a:latin typeface="Aptos"/>
              </a:defRPr>
            </a:pPr>
            <a:r>
              <a:rPr lang="en-US" altLang="en-US" sz="2000" b="1">
                <a:solidFill>
                  <a:srgbClr val="0066CC"/>
                </a:solidFill>
                <a:latin typeface="Times New Roman" panose="02020503050405090304"/>
                <a:cs typeface="Times New Roman" panose="02020503050405090304"/>
              </a:rPr>
              <a:t>Rahul Akshath Rajendran – 3122235002095</a:t>
            </a:r>
            <a:endParaRPr lang="en-US" altLang="en-US" sz="2000" b="1">
              <a:solidFill>
                <a:srgbClr val="0066CC"/>
              </a:solidFill>
              <a:latin typeface="Times New Roman" panose="02020503050405090304"/>
              <a:cs typeface="Times New Roman" panose="02020503050405090304"/>
            </a:endParaRPr>
          </a:p>
          <a:p>
            <a:pPr algn="ctr">
              <a:defRPr sz="1800" b="0">
                <a:latin typeface="Aptos"/>
              </a:defRPr>
            </a:pPr>
            <a:r>
              <a:rPr lang="en-US" altLang="en-US" sz="2000" b="1">
                <a:solidFill>
                  <a:srgbClr val="0066CC"/>
                </a:solidFill>
                <a:latin typeface="Times New Roman" panose="02020503050405090304"/>
                <a:cs typeface="Times New Roman" panose="02020503050405090304"/>
                <a:sym typeface="+mn-ea"/>
              </a:rPr>
              <a:t>Mohit R – 3122235002072</a:t>
            </a:r>
            <a:endParaRPr lang="en-US" altLang="en-US" sz="2000" b="1">
              <a:solidFill>
                <a:srgbClr val="0066CC"/>
              </a:solidFill>
              <a:latin typeface="Times New Roman" panose="02020503050405090304"/>
              <a:cs typeface="Times New Roman" panose="02020503050405090304"/>
            </a:endParaRPr>
          </a:p>
          <a:p>
            <a:pPr algn="ctr">
              <a:defRPr sz="1800" b="0">
                <a:latin typeface="Aptos"/>
              </a:defRPr>
            </a:pPr>
            <a:r>
              <a:rPr lang="en-US" altLang="en-US" sz="2000" b="1">
                <a:solidFill>
                  <a:srgbClr val="0066CC"/>
                </a:solidFill>
                <a:latin typeface="Times New Roman" panose="02020503050405090304"/>
                <a:cs typeface="Times New Roman" panose="02020503050405090304"/>
                <a:sym typeface="+mn-ea"/>
              </a:rPr>
              <a:t/>
            </a:r>
            <a:endParaRPr lang="en-US" altLang="en-US" sz="2000" b="1">
              <a:solidFill>
                <a:srgbClr val="0066CC"/>
              </a:solidFill>
              <a:latin typeface="Times New Roman" panose="02020503050405090304"/>
              <a:cs typeface="Times New Roman" panose="02020503050405090304"/>
            </a:endParaRPr>
          </a:p>
          <a:p>
            <a:pPr algn="ctr">
              <a:defRPr sz="1800" b="0">
                <a:latin typeface="Aptos"/>
              </a:defRPr>
            </a:pPr>
            <a:r>
              <a:rPr lang="en-US" altLang="en-US" sz="2000" b="1">
                <a:solidFill>
                  <a:srgbClr val="154360"/>
                </a:solidFill>
                <a:latin typeface="Times New Roman" panose="02020503050405090304"/>
                <a:cs typeface="Times New Roman" panose="02020503050405090304"/>
                <a:sym typeface="+mn-ea"/>
              </a:rPr>
              <a:t>Project Guide: Dr. Sabireen H, Assistant Professor</a:t>
            </a:r>
            <a:endParaRPr lang="en-US" altLang="en-US" sz="2000" b="1">
              <a:solidFill>
                <a:srgbClr val="0066CC"/>
              </a:solidFill>
              <a:latin typeface="Times New Roman" panose="02020503050405090304"/>
              <a:cs typeface="Times New Roman" panose="02020503050405090304"/>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Outline</a:t>
            </a:r>
            <a:endParaRPr lang="en-US" sz="2800">
              <a:solidFill>
                <a:schemeClr val="bg1"/>
              </a:solidFill>
            </a:endParaRPr>
          </a:p>
        </p:txBody>
      </p:sp>
      <p:sp>
        <p:nvSpPr>
          <p:cNvPr id="278531" name="Oval 278530"/>
          <p:cNvSpPr/>
          <p:nvPr/>
        </p:nvSpPr>
        <p:spPr>
          <a:xfrm>
            <a:off x="1097280" y="1600200"/>
            <a:ext cx="502920" cy="50292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Times New Roman"/>
                <a:cs typeface="Times New Roman"/>
              </a:rPr>
              <a:t>1</a:t>
            </a:r>
          </a:p>
        </p:txBody>
      </p:sp>
      <p:sp>
        <p:nvSpPr>
          <p:cNvPr id="278532" name="TextBox 278531"/>
          <p:cNvSpPr txBox="1"/>
          <p:nvPr/>
        </p:nvSpPr>
        <p:spPr>
          <a:xfrm>
            <a:off x="1783080" y="1618488"/>
            <a:ext cx="4206240" cy="502920"/>
          </a:xfrm>
          <a:prstGeom prst="rect">
            <a:avLst/>
          </a:prstGeom>
          <a:noFill/>
        </p:spPr>
        <p:txBody>
          <a:bodyPr wrap="square" anchor="ctr" lIns="45720" rIns="45720"/>
          <a:lstStyle/>
          <a:p>
            <a:pPr algn="l">
              <a:lnSpc>
                <a:spcPct val="105000"/>
              </a:lnSpc>
              <a:spcAft>
                <a:spcPts val="0"/>
              </a:spcAft>
              <a:buNone/>
            </a:pPr>
            <a:r>
              <a:rPr sz="2100" b="0" i="0">
                <a:solidFill>
                  <a:srgbClr val="1F2933"/>
                </a:solidFill>
                <a:latin typeface="Times New Roman"/>
                <a:cs typeface="Times New Roman"/>
              </a:rPr>
              <a:t>Problem Statement</a:t>
            </a:r>
          </a:p>
        </p:txBody>
      </p:sp>
      <p:sp>
        <p:nvSpPr>
          <p:cNvPr id="278533" name="Oval 278532"/>
          <p:cNvSpPr/>
          <p:nvPr/>
        </p:nvSpPr>
        <p:spPr>
          <a:xfrm>
            <a:off x="1097280" y="2423160"/>
            <a:ext cx="502920" cy="50292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Times New Roman"/>
                <a:cs typeface="Times New Roman"/>
              </a:rPr>
              <a:t>2</a:t>
            </a:r>
          </a:p>
        </p:txBody>
      </p:sp>
      <p:sp>
        <p:nvSpPr>
          <p:cNvPr id="278534" name="TextBox 278533"/>
          <p:cNvSpPr txBox="1"/>
          <p:nvPr/>
        </p:nvSpPr>
        <p:spPr>
          <a:xfrm>
            <a:off x="1783080" y="2441448"/>
            <a:ext cx="4206240" cy="502920"/>
          </a:xfrm>
          <a:prstGeom prst="rect">
            <a:avLst/>
          </a:prstGeom>
          <a:noFill/>
        </p:spPr>
        <p:txBody>
          <a:bodyPr wrap="square" anchor="ctr" lIns="45720" rIns="45720"/>
          <a:lstStyle/>
          <a:p>
            <a:pPr algn="l">
              <a:lnSpc>
                <a:spcPct val="105000"/>
              </a:lnSpc>
              <a:spcAft>
                <a:spcPts val="0"/>
              </a:spcAft>
              <a:buNone/>
            </a:pPr>
            <a:r>
              <a:rPr sz="2100" b="0" i="0">
                <a:solidFill>
                  <a:srgbClr val="1F2933"/>
                </a:solidFill>
                <a:latin typeface="Times New Roman"/>
                <a:cs typeface="Times New Roman"/>
              </a:rPr>
              <a:t>Motivation and Research Gap</a:t>
            </a:r>
          </a:p>
        </p:txBody>
      </p:sp>
      <p:sp>
        <p:nvSpPr>
          <p:cNvPr id="278535" name="Oval 278534"/>
          <p:cNvSpPr/>
          <p:nvPr/>
        </p:nvSpPr>
        <p:spPr>
          <a:xfrm>
            <a:off x="1097280" y="3246120"/>
            <a:ext cx="502920" cy="50292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Times New Roman"/>
                <a:cs typeface="Times New Roman"/>
              </a:rPr>
              <a:t>3</a:t>
            </a:r>
          </a:p>
        </p:txBody>
      </p:sp>
      <p:sp>
        <p:nvSpPr>
          <p:cNvPr id="278536" name="TextBox 278535"/>
          <p:cNvSpPr txBox="1"/>
          <p:nvPr/>
        </p:nvSpPr>
        <p:spPr>
          <a:xfrm>
            <a:off x="1783080" y="3264408"/>
            <a:ext cx="4206240" cy="502920"/>
          </a:xfrm>
          <a:prstGeom prst="rect">
            <a:avLst/>
          </a:prstGeom>
          <a:noFill/>
        </p:spPr>
        <p:txBody>
          <a:bodyPr wrap="square" anchor="ctr" lIns="45720" rIns="45720"/>
          <a:lstStyle/>
          <a:p>
            <a:pPr algn="l">
              <a:lnSpc>
                <a:spcPct val="105000"/>
              </a:lnSpc>
              <a:spcAft>
                <a:spcPts val="0"/>
              </a:spcAft>
              <a:buNone/>
            </a:pPr>
            <a:r>
              <a:rPr sz="2100" b="0" i="0">
                <a:solidFill>
                  <a:srgbClr val="1F2933"/>
                </a:solidFill>
                <a:latin typeface="Times New Roman"/>
                <a:cs typeface="Times New Roman"/>
              </a:rPr>
              <a:t>Proposed Work</a:t>
            </a:r>
          </a:p>
        </p:txBody>
      </p:sp>
      <p:sp>
        <p:nvSpPr>
          <p:cNvPr id="278537" name="Oval 278536"/>
          <p:cNvSpPr/>
          <p:nvPr/>
        </p:nvSpPr>
        <p:spPr>
          <a:xfrm>
            <a:off x="1097280" y="4069080"/>
            <a:ext cx="502920" cy="50292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Times New Roman"/>
                <a:cs typeface="Times New Roman"/>
              </a:rPr>
              <a:t>4</a:t>
            </a:r>
          </a:p>
        </p:txBody>
      </p:sp>
      <p:sp>
        <p:nvSpPr>
          <p:cNvPr id="278538" name="TextBox 278537"/>
          <p:cNvSpPr txBox="1"/>
          <p:nvPr/>
        </p:nvSpPr>
        <p:spPr>
          <a:xfrm>
            <a:off x="1783080" y="4087368"/>
            <a:ext cx="4206240" cy="502920"/>
          </a:xfrm>
          <a:prstGeom prst="rect">
            <a:avLst/>
          </a:prstGeom>
          <a:noFill/>
        </p:spPr>
        <p:txBody>
          <a:bodyPr wrap="square" anchor="ctr" lIns="45720" rIns="45720"/>
          <a:lstStyle/>
          <a:p>
            <a:pPr algn="l">
              <a:lnSpc>
                <a:spcPct val="105000"/>
              </a:lnSpc>
              <a:spcAft>
                <a:spcPts val="0"/>
              </a:spcAft>
              <a:buNone/>
            </a:pPr>
            <a:r>
              <a:rPr sz="2100" b="0" i="0">
                <a:solidFill>
                  <a:srgbClr val="1F2933"/>
                </a:solidFill>
                <a:latin typeface="Times New Roman"/>
                <a:cs typeface="Times New Roman"/>
              </a:rPr>
              <a:t>Methodology</a:t>
            </a:r>
          </a:p>
        </p:txBody>
      </p:sp>
      <p:sp>
        <p:nvSpPr>
          <p:cNvPr id="278539" name="Oval 278538"/>
          <p:cNvSpPr/>
          <p:nvPr/>
        </p:nvSpPr>
        <p:spPr>
          <a:xfrm>
            <a:off x="1097280" y="4892040"/>
            <a:ext cx="502920" cy="502920"/>
          </a:xfrm>
          <a:prstGeom prst="ellipse">
            <a:avLst/>
          </a:prstGeom>
          <a:solidFill>
            <a:srgbClr val="0F8A6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Times New Roman"/>
                <a:cs typeface="Times New Roman"/>
              </a:rPr>
              <a:t>5</a:t>
            </a:r>
          </a:p>
        </p:txBody>
      </p:sp>
      <p:sp>
        <p:nvSpPr>
          <p:cNvPr id="278540" name="TextBox 278539"/>
          <p:cNvSpPr txBox="1"/>
          <p:nvPr/>
        </p:nvSpPr>
        <p:spPr>
          <a:xfrm>
            <a:off x="1783080" y="4910327"/>
            <a:ext cx="4206240" cy="502920"/>
          </a:xfrm>
          <a:prstGeom prst="rect">
            <a:avLst/>
          </a:prstGeom>
          <a:noFill/>
        </p:spPr>
        <p:txBody>
          <a:bodyPr wrap="square" anchor="ctr" lIns="45720" rIns="45720"/>
          <a:lstStyle/>
          <a:p>
            <a:pPr algn="l">
              <a:lnSpc>
                <a:spcPct val="105000"/>
              </a:lnSpc>
              <a:spcAft>
                <a:spcPts val="0"/>
              </a:spcAft>
              <a:buNone/>
            </a:pPr>
            <a:r>
              <a:rPr sz="2100" b="0" i="0">
                <a:solidFill>
                  <a:srgbClr val="1F2933"/>
                </a:solidFill>
                <a:latin typeface="Times New Roman"/>
                <a:cs typeface="Times New Roman"/>
              </a:rPr>
              <a:t>Dataset Description</a:t>
            </a:r>
          </a:p>
        </p:txBody>
      </p:sp>
      <p:sp>
        <p:nvSpPr>
          <p:cNvPr id="278541" name="Oval 278540"/>
          <p:cNvSpPr/>
          <p:nvPr/>
        </p:nvSpPr>
        <p:spPr>
          <a:xfrm>
            <a:off x="6355080" y="1600200"/>
            <a:ext cx="502920" cy="502920"/>
          </a:xfrm>
          <a:prstGeom prst="ellipse">
            <a:avLst/>
          </a:prstGeom>
          <a:solidFill>
            <a:srgbClr val="0F8A6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Times New Roman"/>
                <a:cs typeface="Times New Roman"/>
              </a:rPr>
              <a:t>6</a:t>
            </a:r>
          </a:p>
        </p:txBody>
      </p:sp>
      <p:sp>
        <p:nvSpPr>
          <p:cNvPr id="278542" name="TextBox 278541"/>
          <p:cNvSpPr txBox="1"/>
          <p:nvPr/>
        </p:nvSpPr>
        <p:spPr>
          <a:xfrm>
            <a:off x="7040880" y="1618488"/>
            <a:ext cx="4206240" cy="502920"/>
          </a:xfrm>
          <a:prstGeom prst="rect">
            <a:avLst/>
          </a:prstGeom>
          <a:noFill/>
        </p:spPr>
        <p:txBody>
          <a:bodyPr wrap="square" anchor="ctr" lIns="45720" rIns="45720"/>
          <a:lstStyle/>
          <a:p>
            <a:pPr algn="l">
              <a:lnSpc>
                <a:spcPct val="105000"/>
              </a:lnSpc>
              <a:spcAft>
                <a:spcPts val="0"/>
              </a:spcAft>
              <a:buNone/>
            </a:pPr>
            <a:r>
              <a:rPr sz="2100" b="0" i="0">
                <a:solidFill>
                  <a:srgbClr val="1F2933"/>
                </a:solidFill>
                <a:latin typeface="Times New Roman"/>
                <a:cs typeface="Times New Roman"/>
              </a:rPr>
              <a:t>Implementation</a:t>
            </a:r>
          </a:p>
        </p:txBody>
      </p:sp>
      <p:sp>
        <p:nvSpPr>
          <p:cNvPr id="278543" name="Oval 278542"/>
          <p:cNvSpPr/>
          <p:nvPr/>
        </p:nvSpPr>
        <p:spPr>
          <a:xfrm>
            <a:off x="6355080" y="2423160"/>
            <a:ext cx="502920" cy="502920"/>
          </a:xfrm>
          <a:prstGeom prst="ellipse">
            <a:avLst/>
          </a:prstGeom>
          <a:solidFill>
            <a:srgbClr val="0F8A6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Times New Roman"/>
                <a:cs typeface="Times New Roman"/>
              </a:rPr>
              <a:t>7</a:t>
            </a:r>
          </a:p>
        </p:txBody>
      </p:sp>
      <p:sp>
        <p:nvSpPr>
          <p:cNvPr id="278544" name="TextBox 278543"/>
          <p:cNvSpPr txBox="1"/>
          <p:nvPr/>
        </p:nvSpPr>
        <p:spPr>
          <a:xfrm>
            <a:off x="7040880" y="2441448"/>
            <a:ext cx="4206240" cy="502920"/>
          </a:xfrm>
          <a:prstGeom prst="rect">
            <a:avLst/>
          </a:prstGeom>
          <a:noFill/>
        </p:spPr>
        <p:txBody>
          <a:bodyPr wrap="square" anchor="ctr" lIns="45720" rIns="45720"/>
          <a:lstStyle/>
          <a:p>
            <a:pPr algn="l">
              <a:lnSpc>
                <a:spcPct val="105000"/>
              </a:lnSpc>
              <a:spcAft>
                <a:spcPts val="0"/>
              </a:spcAft>
              <a:buNone/>
            </a:pPr>
            <a:r>
              <a:rPr sz="2100" b="0" i="0">
                <a:solidFill>
                  <a:srgbClr val="1F2933"/>
                </a:solidFill>
                <a:latin typeface="Times New Roman"/>
                <a:cs typeface="Times New Roman"/>
              </a:rPr>
              <a:t>Demonstration</a:t>
            </a:r>
          </a:p>
        </p:txBody>
      </p:sp>
      <p:sp>
        <p:nvSpPr>
          <p:cNvPr id="278545" name="Oval 278544"/>
          <p:cNvSpPr/>
          <p:nvPr/>
        </p:nvSpPr>
        <p:spPr>
          <a:xfrm>
            <a:off x="6355080" y="3246120"/>
            <a:ext cx="502920" cy="502920"/>
          </a:xfrm>
          <a:prstGeom prst="ellipse">
            <a:avLst/>
          </a:prstGeom>
          <a:solidFill>
            <a:srgbClr val="0F8A6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Times New Roman"/>
                <a:cs typeface="Times New Roman"/>
              </a:rPr>
              <a:t>8</a:t>
            </a:r>
          </a:p>
        </p:txBody>
      </p:sp>
      <p:sp>
        <p:nvSpPr>
          <p:cNvPr id="278546" name="TextBox 278545"/>
          <p:cNvSpPr txBox="1"/>
          <p:nvPr/>
        </p:nvSpPr>
        <p:spPr>
          <a:xfrm>
            <a:off x="7040880" y="3264408"/>
            <a:ext cx="4206240" cy="502920"/>
          </a:xfrm>
          <a:prstGeom prst="rect">
            <a:avLst/>
          </a:prstGeom>
          <a:noFill/>
        </p:spPr>
        <p:txBody>
          <a:bodyPr wrap="square" anchor="ctr" lIns="45720" rIns="45720"/>
          <a:lstStyle/>
          <a:p>
            <a:pPr algn="l">
              <a:lnSpc>
                <a:spcPct val="105000"/>
              </a:lnSpc>
              <a:spcAft>
                <a:spcPts val="0"/>
              </a:spcAft>
              <a:buNone/>
            </a:pPr>
            <a:r>
              <a:rPr sz="2100" b="0" i="0">
                <a:solidFill>
                  <a:srgbClr val="1F2933"/>
                </a:solidFill>
                <a:latin typeface="Times New Roman"/>
                <a:cs typeface="Times New Roman"/>
              </a:rPr>
              <a:t>Experiments and Results</a:t>
            </a:r>
          </a:p>
        </p:txBody>
      </p:sp>
      <p:sp>
        <p:nvSpPr>
          <p:cNvPr id="278547" name="Oval 278546"/>
          <p:cNvSpPr/>
          <p:nvPr/>
        </p:nvSpPr>
        <p:spPr>
          <a:xfrm>
            <a:off x="6355080" y="4069080"/>
            <a:ext cx="502920" cy="502920"/>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Times New Roman"/>
                <a:cs typeface="Times New Roman"/>
              </a:rPr>
              <a:t>9</a:t>
            </a:r>
          </a:p>
        </p:txBody>
      </p:sp>
      <p:sp>
        <p:nvSpPr>
          <p:cNvPr id="278548" name="TextBox 278547"/>
          <p:cNvSpPr txBox="1"/>
          <p:nvPr/>
        </p:nvSpPr>
        <p:spPr>
          <a:xfrm>
            <a:off x="7040880" y="4087368"/>
            <a:ext cx="4206240" cy="502920"/>
          </a:xfrm>
          <a:prstGeom prst="rect">
            <a:avLst/>
          </a:prstGeom>
          <a:noFill/>
        </p:spPr>
        <p:txBody>
          <a:bodyPr wrap="square" anchor="ctr" lIns="45720" rIns="45720"/>
          <a:lstStyle/>
          <a:p>
            <a:pPr algn="l">
              <a:lnSpc>
                <a:spcPct val="105000"/>
              </a:lnSpc>
              <a:spcAft>
                <a:spcPts val="0"/>
              </a:spcAft>
              <a:buNone/>
            </a:pPr>
            <a:r>
              <a:rPr sz="2100" b="0" i="0">
                <a:solidFill>
                  <a:srgbClr val="1F2933"/>
                </a:solidFill>
                <a:latin typeface="Times New Roman"/>
                <a:cs typeface="Times New Roman"/>
              </a:rPr>
              <a:t>Inferences</a:t>
            </a:r>
          </a:p>
        </p:txBody>
      </p:sp>
      <p:sp>
        <p:nvSpPr>
          <p:cNvPr id="278549" name="Oval 278548"/>
          <p:cNvSpPr/>
          <p:nvPr/>
        </p:nvSpPr>
        <p:spPr>
          <a:xfrm>
            <a:off x="6355080" y="4892040"/>
            <a:ext cx="502920" cy="502920"/>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Times New Roman"/>
                <a:cs typeface="Times New Roman"/>
              </a:rPr>
              <a:t>10</a:t>
            </a:r>
          </a:p>
        </p:txBody>
      </p:sp>
      <p:sp>
        <p:nvSpPr>
          <p:cNvPr id="278550" name="TextBox 278549"/>
          <p:cNvSpPr txBox="1"/>
          <p:nvPr/>
        </p:nvSpPr>
        <p:spPr>
          <a:xfrm>
            <a:off x="7040880" y="4910327"/>
            <a:ext cx="4206240" cy="502920"/>
          </a:xfrm>
          <a:prstGeom prst="rect">
            <a:avLst/>
          </a:prstGeom>
          <a:noFill/>
        </p:spPr>
        <p:txBody>
          <a:bodyPr wrap="square" anchor="ctr" lIns="45720" rIns="45720"/>
          <a:lstStyle/>
          <a:p>
            <a:pPr algn="l">
              <a:lnSpc>
                <a:spcPct val="105000"/>
              </a:lnSpc>
              <a:spcAft>
                <a:spcPts val="0"/>
              </a:spcAft>
              <a:buNone/>
            </a:pPr>
            <a:r>
              <a:rPr sz="2100" b="0" i="0">
                <a:solidFill>
                  <a:srgbClr val="1F2933"/>
                </a:solidFill>
                <a:latin typeface="Times New Roman"/>
                <a:cs typeface="Times New Roman"/>
              </a:rPr>
              <a:t>Conclusion and Future Work</a:t>
            </a:r>
          </a:p>
        </p:txBody>
      </p:sp>
      <p:sp>
        <p:nvSpPr>
          <p:cNvPr id="278551" name="TextBox 278550"/>
          <p:cNvSpPr txBox="1"/>
          <p:nvPr/>
        </p:nvSpPr>
        <p:spPr>
          <a:xfrm>
            <a:off x="1097280" y="5623560"/>
            <a:ext cx="9966960" cy="320040"/>
          </a:xfrm>
          <a:prstGeom prst="rect">
            <a:avLst/>
          </a:prstGeom>
          <a:noFill/>
        </p:spPr>
        <p:txBody>
          <a:bodyPr wrap="square" anchor="t" lIns="45720" rIns="45720"/>
          <a:lstStyle/>
          <a:p>
            <a:pPr algn="l">
              <a:lnSpc>
                <a:spcPct val="105000"/>
              </a:lnSpc>
              <a:spcAft>
                <a:spcPts val="0"/>
              </a:spcAft>
              <a:buNone/>
            </a:pPr>
            <a:r>
              <a:rPr sz="1300" b="0" i="1">
                <a:solidFill>
                  <a:srgbClr val="0F8A6A"/>
                </a:solidFill>
                <a:latin typeface="Times New Roman"/>
                <a:cs typeface="Times New Roman"/>
              </a:rPr>
              <a:t>New since Review 2: dataset, implementation, demonstration and results (items 5–8)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Problem Statement</a:t>
            </a:r>
            <a:endParaRPr lang="en-US" sz="2800">
              <a:solidFill>
                <a:schemeClr val="bg1"/>
              </a:solidFill>
            </a:endParaRPr>
          </a:p>
        </p:txBody>
      </p:sp>
      <p:sp>
        <p:nvSpPr>
          <p:cNvPr id="278531" name="Rounded Rectangle 278530"/>
          <p:cNvSpPr/>
          <p:nvPr/>
        </p:nvSpPr>
        <p:spPr>
          <a:xfrm>
            <a:off x="502920" y="1252728"/>
            <a:ext cx="11183111" cy="1417320"/>
          </a:xfrm>
          <a:prstGeom prst="roundRect">
            <a:avLst>
              <a:gd name="adj" fmla="val 6000"/>
            </a:avLst>
          </a:prstGeom>
          <a:solidFill>
            <a:srgbClr val="E8F2FA"/>
          </a:solidFill>
          <a:ln w="15875">
            <a:solidFill>
              <a:srgbClr val="0079B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2" name="TextBox 278531"/>
          <p:cNvSpPr txBox="1"/>
          <p:nvPr/>
        </p:nvSpPr>
        <p:spPr>
          <a:xfrm>
            <a:off x="731520" y="1344168"/>
            <a:ext cx="10725911" cy="1280160"/>
          </a:xfrm>
          <a:prstGeom prst="rect">
            <a:avLst/>
          </a:prstGeom>
          <a:noFill/>
        </p:spPr>
        <p:txBody>
          <a:bodyPr wrap="square" anchor="ctr" lIns="45720" rIns="45720"/>
          <a:lstStyle/>
          <a:p>
            <a:pPr algn="l">
              <a:lnSpc>
                <a:spcPct val="110000"/>
              </a:lnSpc>
              <a:spcAft>
                <a:spcPts val="0"/>
              </a:spcAft>
              <a:buNone/>
            </a:pPr>
            <a:r>
              <a:rPr sz="1800" b="0" i="0">
                <a:solidFill>
                  <a:srgbClr val="1F2933"/>
                </a:solidFill>
                <a:latin typeface="Times New Roman"/>
                <a:cs typeface="Times New Roman"/>
              </a:rPr>
              <a:t>Fog nodes are fragile and usually </a:t>
            </a:r>
            <a:r>
              <a:rPr sz="1800" b="1" i="0">
                <a:solidFill>
                  <a:srgbClr val="1F2933"/>
                </a:solidFill>
                <a:latin typeface="Times New Roman"/>
                <a:cs typeface="Times New Roman"/>
              </a:rPr>
              <a:t>degrade before they fail</a:t>
            </a:r>
            <a:r>
              <a:rPr sz="1800" b="0" i="0">
                <a:solidFill>
                  <a:srgbClr val="1F2933"/>
                </a:solidFill>
                <a:latin typeface="Times New Roman"/>
                <a:cs typeface="Times New Roman"/>
              </a:rPr>
              <a:t>, yet fog fault tolerance is </a:t>
            </a:r>
            <a:r>
              <a:rPr sz="1800" b="1" i="0">
                <a:solidFill>
                  <a:srgbClr val="1F2933"/>
                </a:solidFill>
                <a:latin typeface="Times New Roman"/>
                <a:cs typeface="Times New Roman"/>
              </a:rPr>
              <a:t>reactive</a:t>
            </a:r>
            <a:r>
              <a:rPr sz="1800" b="0" i="0">
                <a:solidFill>
                  <a:srgbClr val="1F2933"/>
                </a:solidFill>
                <a:latin typeface="Times New Roman"/>
                <a:cs typeface="Times New Roman"/>
              </a:rPr>
              <a:t> (recovery starts after the failure) or </a:t>
            </a:r>
            <a:r>
              <a:rPr sz="1800" b="1" i="0">
                <a:solidFill>
                  <a:srgbClr val="1F2933"/>
                </a:solidFill>
                <a:latin typeface="Times New Roman"/>
                <a:cs typeface="Times New Roman"/>
              </a:rPr>
              <a:t>threshold-based</a:t>
            </a:r>
            <a:r>
              <a:rPr sz="1800" b="0" i="0">
                <a:solidFill>
                  <a:srgbClr val="1F2933"/>
                </a:solidFill>
                <a:latin typeface="Times New Roman"/>
                <a:cs typeface="Times New Roman"/>
              </a:rPr>
              <a:t> (a fixed cut-off on one metric). No existing mechanism estimates </a:t>
            </a:r>
            <a:r>
              <a:rPr sz="1800" b="1" i="0">
                <a:solidFill>
                  <a:srgbClr val="1F2933"/>
                </a:solidFill>
                <a:latin typeface="Times New Roman"/>
                <a:cs typeface="Times New Roman"/>
              </a:rPr>
              <a:t>the probability that a node fails within a given horizon</a:t>
            </a:r>
            <a:r>
              <a:rPr sz="1800" b="0" i="0">
                <a:solidFill>
                  <a:srgbClr val="1F2933"/>
                </a:solidFill>
                <a:latin typeface="Times New Roman"/>
                <a:cs typeface="Times New Roman"/>
              </a:rPr>
              <a:t>, so placement, migration and redundancy cannot be matched to the actual risk — and a silent telemetry channel, likely on a failing node, simply blinds them.</a:t>
            </a:r>
          </a:p>
        </p:txBody>
      </p:sp>
      <p:pic>
        <p:nvPicPr>
          <p:cNvPr id="278533" name="Picture 278532" descr="fig07_reactive_vs_proactive.png"/>
          <p:cNvPicPr>
            <a:picLocks noChangeAspect="1"/>
          </p:cNvPicPr>
          <p:nvPr/>
        </p:nvPicPr>
        <p:blipFill>
          <a:blip r:embed="rId3"/>
          <a:stretch>
            <a:fillRect/>
          </a:stretch>
        </p:blipFill>
        <p:spPr>
          <a:xfrm>
            <a:off x="502920" y="2852928"/>
            <a:ext cx="9505950" cy="2743200"/>
          </a:xfrm>
          <a:prstGeom prst="rect">
            <a:avLst/>
          </a:prstGeom>
        </p:spPr>
      </p:pic>
      <p:sp>
        <p:nvSpPr>
          <p:cNvPr id="278534" name="TextBox 278533"/>
          <p:cNvSpPr txBox="1"/>
          <p:nvPr/>
        </p:nvSpPr>
        <p:spPr>
          <a:xfrm>
            <a:off x="502920" y="5650992"/>
            <a:ext cx="11183111" cy="310896"/>
          </a:xfrm>
          <a:prstGeom prst="rect">
            <a:avLst/>
          </a:prstGeom>
          <a:noFill/>
        </p:spPr>
        <p:txBody>
          <a:bodyPr wrap="square" anchor="t" lIns="45720" rIns="45720"/>
          <a:lstStyle/>
          <a:p>
            <a:pPr algn="ctr">
              <a:lnSpc>
                <a:spcPct val="105000"/>
              </a:lnSpc>
              <a:spcAft>
                <a:spcPts val="0"/>
              </a:spcAft>
              <a:buNone/>
            </a:pPr>
            <a:r>
              <a:rPr sz="1200" b="0" i="1">
                <a:solidFill>
                  <a:srgbClr val="52606D"/>
                </a:solidFill>
                <a:latin typeface="Times New Roman"/>
                <a:cs typeface="Times New Roman"/>
              </a:rPr>
              <a:t>A proactive mechanism must act inside the degradation window, before the node fails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Motivation and Research Gap</a:t>
            </a:r>
            <a:endParaRPr lang="en-US" sz="2800">
              <a:solidFill>
                <a:schemeClr val="bg1"/>
              </a:solidFill>
            </a:endParaRPr>
          </a:p>
        </p:txBody>
      </p:sp>
      <p:graphicFrame>
        <p:nvGraphicFramePr>
          <p:cNvPr id="278531" name="Table 278530"/>
          <p:cNvGraphicFramePr>
            <a:graphicFrameLocks noGrp="1"/>
          </p:cNvGraphicFramePr>
          <p:nvPr/>
        </p:nvGraphicFramePr>
        <p:xfrm>
          <a:off x="502920" y="1280160"/>
          <a:ext cx="6949439" cy="3401568"/>
        </p:xfrm>
        <a:graphic>
          <a:graphicData uri="http://schemas.openxmlformats.org/drawingml/2006/table">
            <a:tbl>
              <a:tblPr firstRow="0" bandRow="0">
                <a:tableStyleId>{5C22544A-7EE6-4342-B048-85BDC9FD1C3A}</a:tableStyleId>
              </a:tblPr>
              <a:tblGrid>
                <a:gridCol w="1920240"/>
                <a:gridCol w="2651760"/>
                <a:gridCol w="2377439"/>
              </a:tblGrid>
              <a:tr h="566928">
                <a:tc>
                  <a:txBody>
                    <a:bodyPr wrap="square"/>
                    <a:lstStyle/>
                    <a:p>
                      <a:pPr algn="l"/>
                      <a:r>
                        <a:rPr sz="1300" b="1" i="0">
                          <a:solidFill>
                            <a:srgbClr val="FFFFFF"/>
                          </a:solidFill>
                          <a:latin typeface="Times New Roman"/>
                          <a:cs typeface="Times New Roman"/>
                        </a:rPr>
                        <a:t>Work</a:t>
                      </a:r>
                    </a:p>
                  </a:txBody>
                  <a:tcPr marL="64008" marR="64008" marT="27432" marB="27432" anchor="ctr">
                    <a:solidFill>
                      <a:srgbClr val="0079BC"/>
                    </a:solidFill>
                  </a:tcPr>
                </a:tc>
                <a:tc>
                  <a:txBody>
                    <a:bodyPr wrap="square"/>
                    <a:lstStyle/>
                    <a:p>
                      <a:pPr algn="l"/>
                      <a:r>
                        <a:rPr sz="1300" b="1" i="0">
                          <a:solidFill>
                            <a:srgbClr val="FFFFFF"/>
                          </a:solidFill>
                          <a:latin typeface="Times New Roman"/>
                          <a:cs typeface="Times New Roman"/>
                        </a:rPr>
                        <a:t>Mechanism</a:t>
                      </a:r>
                    </a:p>
                  </a:txBody>
                  <a:tcPr marL="64008" marR="64008" marT="27432" marB="27432" anchor="ctr">
                    <a:solidFill>
                      <a:srgbClr val="0079BC"/>
                    </a:solidFill>
                  </a:tcPr>
                </a:tc>
                <a:tc>
                  <a:txBody>
                    <a:bodyPr wrap="square"/>
                    <a:lstStyle/>
                    <a:p>
                      <a:pPr algn="l"/>
                      <a:r>
                        <a:rPr sz="1300" b="1" i="0">
                          <a:solidFill>
                            <a:srgbClr val="FFFFFF"/>
                          </a:solidFill>
                          <a:latin typeface="Times New Roman"/>
                          <a:cs typeface="Times New Roman"/>
                        </a:rPr>
                        <a:t>What it lacks</a:t>
                      </a:r>
                    </a:p>
                  </a:txBody>
                  <a:tcPr marL="64008" marR="64008" marT="27432" marB="27432" anchor="ctr">
                    <a:solidFill>
                      <a:srgbClr val="0079BC"/>
                    </a:solidFill>
                  </a:tcPr>
                </a:tc>
              </a:tr>
              <a:tr h="566928">
                <a:tc>
                  <a:txBody>
                    <a:bodyPr wrap="square"/>
                    <a:lstStyle/>
                    <a:p>
                      <a:pPr algn="l"/>
                      <a:r>
                        <a:rPr sz="1300" b="0" i="0">
                          <a:solidFill>
                            <a:srgbClr val="1F2933"/>
                          </a:solidFill>
                          <a:latin typeface="Times New Roman"/>
                          <a:cs typeface="Times New Roman"/>
                        </a:rPr>
                        <a:t>Rajab &amp; Younis 2021</a:t>
                      </a:r>
                    </a:p>
                  </a:txBody>
                  <a:tcPr marL="64008" marR="64008" marT="27432" marB="27432" anchor="ctr">
                    <a:solidFill>
                      <a:srgbClr val="FFFFFF"/>
                    </a:solidFill>
                  </a:tcPr>
                </a:tc>
                <a:tc>
                  <a:txBody>
                    <a:bodyPr wrap="square"/>
                    <a:lstStyle/>
                    <a:p>
                      <a:pPr algn="l"/>
                      <a:r>
                        <a:rPr sz="1300" b="0" i="0">
                          <a:solidFill>
                            <a:srgbClr val="1F2933"/>
                          </a:solidFill>
                          <a:latin typeface="Times New Roman"/>
                          <a:cs typeface="Times New Roman"/>
                        </a:rPr>
                        <a:t>CPU-threshold checkpointing, primary-backup</a:t>
                      </a:r>
                    </a:p>
                  </a:txBody>
                  <a:tcPr marL="64008" marR="64008" marT="27432" marB="27432" anchor="ctr">
                    <a:solidFill>
                      <a:srgbClr val="FFFFFF"/>
                    </a:solidFill>
                  </a:tcPr>
                </a:tc>
                <a:tc>
                  <a:txBody>
                    <a:bodyPr wrap="square"/>
                    <a:lstStyle/>
                    <a:p>
                      <a:pPr algn="l"/>
                      <a:r>
                        <a:rPr sz="1300" b="0" i="0">
                          <a:solidFill>
                            <a:srgbClr val="1F2933"/>
                          </a:solidFill>
                          <a:latin typeface="Times New Roman"/>
                          <a:cs typeface="Times New Roman"/>
                        </a:rPr>
                        <a:t>fixed threshold; backup for every task</a:t>
                      </a:r>
                    </a:p>
                  </a:txBody>
                  <a:tcPr marL="64008" marR="64008" marT="27432" marB="27432" anchor="ctr">
                    <a:solidFill>
                      <a:srgbClr val="FFFFFF"/>
                    </a:solidFill>
                  </a:tcPr>
                </a:tc>
              </a:tr>
              <a:tr h="566928">
                <a:tc>
                  <a:txBody>
                    <a:bodyPr wrap="square"/>
                    <a:lstStyle/>
                    <a:p>
                      <a:pPr algn="l"/>
                      <a:r>
                        <a:rPr sz="1300" b="0" i="0">
                          <a:solidFill>
                            <a:srgbClr val="1F2933"/>
                          </a:solidFill>
                          <a:latin typeface="Times New Roman"/>
                          <a:cs typeface="Times New Roman"/>
                        </a:rPr>
                        <a:t>Syed et al. 2022</a:t>
                      </a:r>
                    </a:p>
                  </a:txBody>
                  <a:tcPr marL="64008" marR="64008" marT="27432" marB="27432" anchor="ctr">
                    <a:solidFill>
                      <a:srgbClr val="F4F6F8"/>
                    </a:solidFill>
                  </a:tcPr>
                </a:tc>
                <a:tc>
                  <a:txBody>
                    <a:bodyPr wrap="square"/>
                    <a:lstStyle/>
                    <a:p>
                      <a:pPr algn="l"/>
                      <a:r>
                        <a:rPr sz="1300" b="0" i="0">
                          <a:solidFill>
                            <a:srgbClr val="1F2933"/>
                          </a:solidFill>
                          <a:latin typeface="Times New Roman"/>
                          <a:cs typeface="Times New Roman"/>
                        </a:rPr>
                        <a:t>SDN priority routing, ACK retransmission</a:t>
                      </a:r>
                    </a:p>
                  </a:txBody>
                  <a:tcPr marL="64008" marR="64008" marT="27432" marB="27432" anchor="ctr">
                    <a:solidFill>
                      <a:srgbClr val="F4F6F8"/>
                    </a:solidFill>
                  </a:tcPr>
                </a:tc>
                <a:tc>
                  <a:txBody>
                    <a:bodyPr wrap="square"/>
                    <a:lstStyle/>
                    <a:p>
                      <a:pPr algn="l"/>
                      <a:r>
                        <a:rPr sz="1300" b="0" i="0">
                          <a:solidFill>
                            <a:srgbClr val="1F2933"/>
                          </a:solidFill>
                          <a:latin typeface="Times New Roman"/>
                          <a:cs typeface="Times New Roman"/>
                        </a:rPr>
                        <a:t>purely reactive; no replication</a:t>
                      </a:r>
                    </a:p>
                  </a:txBody>
                  <a:tcPr marL="64008" marR="64008" marT="27432" marB="27432" anchor="ctr">
                    <a:solidFill>
                      <a:srgbClr val="F4F6F8"/>
                    </a:solidFill>
                  </a:tcPr>
                </a:tc>
              </a:tr>
              <a:tr h="566928">
                <a:tc>
                  <a:txBody>
                    <a:bodyPr wrap="square"/>
                    <a:lstStyle/>
                    <a:p>
                      <a:pPr algn="l"/>
                      <a:r>
                        <a:rPr sz="1300" b="0" i="0">
                          <a:solidFill>
                            <a:srgbClr val="1F2933"/>
                          </a:solidFill>
                          <a:latin typeface="Times New Roman"/>
                          <a:cs typeface="Times New Roman"/>
                        </a:rPr>
                        <a:t>Naim et al. 2016</a:t>
                      </a:r>
                    </a:p>
                  </a:txBody>
                  <a:tcPr marL="64008" marR="64008" marT="27432" marB="27432" anchor="ctr">
                    <a:solidFill>
                      <a:srgbClr val="FFFFFF"/>
                    </a:solidFill>
                  </a:tcPr>
                </a:tc>
                <a:tc>
                  <a:txBody>
                    <a:bodyPr wrap="square"/>
                    <a:lstStyle/>
                    <a:p>
                      <a:pPr algn="l"/>
                      <a:r>
                        <a:rPr sz="1300" b="0" i="0">
                          <a:solidFill>
                            <a:srgbClr val="1F2933"/>
                          </a:solidFill>
                          <a:latin typeface="Times New Roman"/>
                          <a:cs typeface="Times New Roman"/>
                        </a:rPr>
                        <a:t>heartbeat polling, backup failover</a:t>
                      </a:r>
                    </a:p>
                  </a:txBody>
                  <a:tcPr marL="64008" marR="64008" marT="27432" marB="27432" anchor="ctr">
                    <a:solidFill>
                      <a:srgbClr val="FFFFFF"/>
                    </a:solidFill>
                  </a:tcPr>
                </a:tc>
                <a:tc>
                  <a:txBody>
                    <a:bodyPr wrap="square"/>
                    <a:lstStyle/>
                    <a:p>
                      <a:pPr algn="l"/>
                      <a:r>
                        <a:rPr sz="1300" b="0" i="0">
                          <a:solidFill>
                            <a:srgbClr val="1F2933"/>
                          </a:solidFill>
                          <a:latin typeface="Times New Roman"/>
                          <a:cs typeface="Times New Roman"/>
                        </a:rPr>
                        <a:t>detection-driven; single backup</a:t>
                      </a:r>
                    </a:p>
                  </a:txBody>
                  <a:tcPr marL="64008" marR="64008" marT="27432" marB="27432" anchor="ctr">
                    <a:solidFill>
                      <a:srgbClr val="FFFFFF"/>
                    </a:solidFill>
                  </a:tcPr>
                </a:tc>
              </a:tr>
              <a:tr h="566928">
                <a:tc>
                  <a:txBody>
                    <a:bodyPr wrap="square"/>
                    <a:lstStyle/>
                    <a:p>
                      <a:pPr algn="l"/>
                      <a:r>
                        <a:rPr sz="1300" b="0" i="0">
                          <a:solidFill>
                            <a:srgbClr val="1F2933"/>
                          </a:solidFill>
                          <a:latin typeface="Times New Roman"/>
                          <a:cs typeface="Times New Roman"/>
                        </a:rPr>
                        <a:t>Reyana et al. 2023</a:t>
                      </a:r>
                    </a:p>
                  </a:txBody>
                  <a:tcPr marL="64008" marR="64008" marT="27432" marB="27432" anchor="ctr">
                    <a:solidFill>
                      <a:srgbClr val="F4F6F8"/>
                    </a:solidFill>
                  </a:tcPr>
                </a:tc>
                <a:tc>
                  <a:txBody>
                    <a:bodyPr wrap="square"/>
                    <a:lstStyle/>
                    <a:p>
                      <a:pPr algn="l"/>
                      <a:r>
                        <a:rPr sz="1300" b="0" i="0">
                          <a:solidFill>
                            <a:srgbClr val="1F2933"/>
                          </a:solidFill>
                          <a:latin typeface="Times New Roman"/>
                          <a:cs typeface="Times New Roman"/>
                        </a:rPr>
                        <a:t>PSO-ABC placement optimisation</a:t>
                      </a:r>
                    </a:p>
                  </a:txBody>
                  <a:tcPr marL="64008" marR="64008" marT="27432" marB="27432" anchor="ctr">
                    <a:solidFill>
                      <a:srgbClr val="F4F6F8"/>
                    </a:solidFill>
                  </a:tcPr>
                </a:tc>
                <a:tc>
                  <a:txBody>
                    <a:bodyPr wrap="square"/>
                    <a:lstStyle/>
                    <a:p>
                      <a:pPr algn="l"/>
                      <a:r>
                        <a:rPr sz="1300" b="0" i="0">
                          <a:solidFill>
                            <a:srgbClr val="1F2933"/>
                          </a:solidFill>
                          <a:latin typeface="Times New Roman"/>
                          <a:cs typeface="Times New Roman"/>
                        </a:rPr>
                        <a:t>reliability only a static fitness term</a:t>
                      </a:r>
                    </a:p>
                  </a:txBody>
                  <a:tcPr marL="64008" marR="64008" marT="27432" marB="27432" anchor="ctr">
                    <a:solidFill>
                      <a:srgbClr val="F4F6F8"/>
                    </a:solidFill>
                  </a:tcPr>
                </a:tc>
              </a:tr>
              <a:tr h="566928">
                <a:tc>
                  <a:txBody>
                    <a:bodyPr wrap="square"/>
                    <a:lstStyle/>
                    <a:p>
                      <a:pPr algn="l"/>
                      <a:r>
                        <a:rPr sz="1300" b="0" i="0">
                          <a:solidFill>
                            <a:srgbClr val="1F2933"/>
                          </a:solidFill>
                          <a:latin typeface="Times New Roman"/>
                          <a:cs typeface="Times New Roman"/>
                        </a:rPr>
                        <a:t>Gupta &amp; Singh 2025 (FTAPA)</a:t>
                      </a:r>
                    </a:p>
                  </a:txBody>
                  <a:tcPr marL="64008" marR="64008" marT="27432" marB="27432" anchor="ctr">
                    <a:solidFill>
                      <a:srgbClr val="FFFFFF"/>
                    </a:solidFill>
                  </a:tcPr>
                </a:tc>
                <a:tc>
                  <a:txBody>
                    <a:bodyPr wrap="square"/>
                    <a:lstStyle/>
                    <a:p>
                      <a:pPr algn="l"/>
                      <a:r>
                        <a:rPr sz="1300" b="0" i="0">
                          <a:solidFill>
                            <a:srgbClr val="1F2933"/>
                          </a:solidFill>
                          <a:latin typeface="Times New Roman"/>
                          <a:cs typeface="Times New Roman"/>
                        </a:rPr>
                        <a:t>health-index threshold migration</a:t>
                      </a:r>
                    </a:p>
                  </a:txBody>
                  <a:tcPr marL="64008" marR="64008" marT="27432" marB="27432" anchor="ctr">
                    <a:solidFill>
                      <a:srgbClr val="FFFFFF"/>
                    </a:solidFill>
                  </a:tcPr>
                </a:tc>
                <a:tc>
                  <a:txBody>
                    <a:bodyPr wrap="square"/>
                    <a:lstStyle/>
                    <a:p>
                      <a:pPr algn="l"/>
                      <a:r>
                        <a:rPr sz="1300" b="0" i="0">
                          <a:solidFill>
                            <a:srgbClr val="1F2933"/>
                          </a:solidFill>
                          <a:latin typeface="Times New Roman"/>
                          <a:cs typeface="Times New Roman"/>
                        </a:rPr>
                        <a:t>threshold hard to set; standby for all</a:t>
                      </a:r>
                    </a:p>
                  </a:txBody>
                  <a:tcPr marL="64008" marR="64008" marT="27432" marB="27432" anchor="ctr">
                    <a:solidFill>
                      <a:srgbClr val="FFFFFF"/>
                    </a:solidFill>
                  </a:tcPr>
                </a:tc>
              </a:tr>
            </a:tbl>
          </a:graphicData>
        </a:graphic>
      </p:graphicFrame>
      <p:sp>
        <p:nvSpPr>
          <p:cNvPr id="278532" name="Rounded Rectangle 278531"/>
          <p:cNvSpPr/>
          <p:nvPr/>
        </p:nvSpPr>
        <p:spPr>
          <a:xfrm>
            <a:off x="7726679" y="1280160"/>
            <a:ext cx="3959352" cy="3401568"/>
          </a:xfrm>
          <a:prstGeom prst="roundRect">
            <a:avLst>
              <a:gd name="adj" fmla="val 6000"/>
            </a:avLst>
          </a:prstGeom>
          <a:solidFill>
            <a:srgbClr val="FDF4EC"/>
          </a:solidFill>
          <a:ln w="15875">
            <a:solidFill>
              <a:srgbClr val="C255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3" name="TextBox 278532"/>
          <p:cNvSpPr txBox="1"/>
          <p:nvPr/>
        </p:nvSpPr>
        <p:spPr>
          <a:xfrm>
            <a:off x="7909560" y="1389888"/>
            <a:ext cx="3593591" cy="3200400"/>
          </a:xfrm>
          <a:prstGeom prst="rect">
            <a:avLst/>
          </a:prstGeom>
          <a:noFill/>
        </p:spPr>
        <p:txBody>
          <a:bodyPr wrap="square" anchor="t" lIns="45720" rIns="45720"/>
          <a:lstStyle/>
          <a:p>
            <a:pPr algn="l">
              <a:lnSpc>
                <a:spcPct val="105000"/>
              </a:lnSpc>
              <a:spcAft>
                <a:spcPts val="400"/>
              </a:spcAft>
              <a:buNone/>
            </a:pPr>
            <a:r>
              <a:rPr sz="1800" b="1" i="0">
                <a:solidFill>
                  <a:srgbClr val="C2551C"/>
                </a:solidFill>
                <a:latin typeface="Times New Roman"/>
                <a:cs typeface="Times New Roman"/>
              </a:rPr>
              <a:t>The gap</a:t>
            </a:r>
          </a:p>
          <a:p>
            <a:pPr algn="l" marL="237744" indent="-237744">
              <a:lnSpc>
                <a:spcPct val="105000"/>
              </a:lnSpc>
              <a:spcAft>
                <a:spcPts val="600"/>
              </a:spcAft>
              <a:buClr>
                <a:srgbClr val="C2551C"/>
              </a:buClr>
              <a:buFont typeface="Arial"/>
              <a:buChar char="•"/>
            </a:pPr>
            <a:r>
              <a:rPr sz="1500" b="0" i="0">
                <a:solidFill>
                  <a:srgbClr val="1F2933"/>
                </a:solidFill>
                <a:latin typeface="Times New Roman"/>
                <a:cs typeface="Times New Roman"/>
              </a:rPr>
              <a:t>Node health is never treated as a </a:t>
            </a:r>
            <a:r>
              <a:rPr sz="1500" b="1" i="0">
                <a:solidFill>
                  <a:srgbClr val="1F2933"/>
                </a:solidFill>
                <a:latin typeface="Times New Roman"/>
                <a:cs typeface="Times New Roman"/>
              </a:rPr>
              <a:t>latent, uncertain</a:t>
            </a:r>
            <a:r>
              <a:rPr sz="1500" b="0" i="0">
                <a:solidFill>
                  <a:srgbClr val="1F2933"/>
                </a:solidFill>
                <a:latin typeface="Times New Roman"/>
                <a:cs typeface="Times New Roman"/>
              </a:rPr>
              <a:t> quantity</a:t>
            </a:r>
          </a:p>
          <a:p>
            <a:pPr algn="l" marL="237744" indent="-237744">
              <a:lnSpc>
                <a:spcPct val="105000"/>
              </a:lnSpc>
              <a:spcAft>
                <a:spcPts val="600"/>
              </a:spcAft>
              <a:buClr>
                <a:srgbClr val="C2551C"/>
              </a:buClr>
              <a:buFont typeface="Arial"/>
              <a:buChar char="•"/>
            </a:pPr>
            <a:r>
              <a:rPr sz="1500" b="0" i="0">
                <a:solidFill>
                  <a:srgbClr val="1F2933"/>
                </a:solidFill>
                <a:latin typeface="Times New Roman"/>
                <a:cs typeface="Times New Roman"/>
              </a:rPr>
              <a:t>No mechanism reasons when </a:t>
            </a:r>
            <a:r>
              <a:rPr sz="1500" b="1" i="0">
                <a:solidFill>
                  <a:srgbClr val="1F2933"/>
                </a:solidFill>
                <a:latin typeface="Times New Roman"/>
                <a:cs typeface="Times New Roman"/>
              </a:rPr>
              <a:t>telemetry is incomplete</a:t>
            </a:r>
          </a:p>
          <a:p>
            <a:pPr algn="l" marL="237744" indent="-237744">
              <a:lnSpc>
                <a:spcPct val="105000"/>
              </a:lnSpc>
              <a:spcAft>
                <a:spcPts val="600"/>
              </a:spcAft>
              <a:buClr>
                <a:srgbClr val="C2551C"/>
              </a:buClr>
              <a:buFont typeface="Arial"/>
              <a:buChar char="•"/>
            </a:pPr>
            <a:r>
              <a:rPr sz="1500" b="0" i="0">
                <a:solidFill>
                  <a:srgbClr val="1F2933"/>
                </a:solidFill>
                <a:latin typeface="Times New Roman"/>
                <a:cs typeface="Times New Roman"/>
              </a:rPr>
              <a:t>No </a:t>
            </a:r>
            <a:r>
              <a:rPr sz="1500" b="1" i="0">
                <a:solidFill>
                  <a:srgbClr val="1F2933"/>
                </a:solidFill>
                <a:latin typeface="Times New Roman"/>
                <a:cs typeface="Times New Roman"/>
              </a:rPr>
              <a:t>calibrated probability</a:t>
            </a:r>
            <a:r>
              <a:rPr sz="1500" b="0" i="0">
                <a:solidFill>
                  <a:srgbClr val="1F2933"/>
                </a:solidFill>
                <a:latin typeface="Times New Roman"/>
                <a:cs typeface="Times New Roman"/>
              </a:rPr>
              <a:t> to weigh against the cost of acting</a:t>
            </a:r>
          </a:p>
          <a:p>
            <a:pPr algn="l" marL="237744" indent="-237744">
              <a:lnSpc>
                <a:spcPct val="105000"/>
              </a:lnSpc>
              <a:spcAft>
                <a:spcPts val="600"/>
              </a:spcAft>
              <a:buClr>
                <a:srgbClr val="C2551C"/>
              </a:buClr>
              <a:buFont typeface="Arial"/>
              <a:buChar char="•"/>
            </a:pPr>
            <a:r>
              <a:rPr sz="1500" b="0" i="0">
                <a:solidFill>
                  <a:srgbClr val="1F2933"/>
                </a:solidFill>
                <a:latin typeface="Times New Roman"/>
                <a:cs typeface="Times New Roman"/>
              </a:rPr>
              <a:t>Redundancy is </a:t>
            </a:r>
            <a:r>
              <a:rPr sz="1500" b="1" i="0">
                <a:solidFill>
                  <a:srgbClr val="1F2933"/>
                </a:solidFill>
                <a:latin typeface="Times New Roman"/>
                <a:cs typeface="Times New Roman"/>
              </a:rPr>
              <a:t>uniform</a:t>
            </a:r>
            <a:r>
              <a:rPr sz="1500" b="0" i="0">
                <a:solidFill>
                  <a:srgbClr val="1F2933"/>
                </a:solidFill>
                <a:latin typeface="Times New Roman"/>
                <a:cs typeface="Times New Roman"/>
              </a:rPr>
              <a:t>, not proportional to risk</a:t>
            </a:r>
          </a:p>
        </p:txBody>
      </p:sp>
      <p:sp>
        <p:nvSpPr>
          <p:cNvPr id="278534" name="Rounded Rectangle 278533"/>
          <p:cNvSpPr/>
          <p:nvPr/>
        </p:nvSpPr>
        <p:spPr>
          <a:xfrm>
            <a:off x="502920" y="4892040"/>
            <a:ext cx="11183111" cy="987552"/>
          </a:xfrm>
          <a:prstGeom prst="roundRect">
            <a:avLst>
              <a:gd name="adj" fmla="val 6000"/>
            </a:avLst>
          </a:prstGeom>
          <a:solidFill>
            <a:srgbClr val="EEF8F3"/>
          </a:solidFill>
          <a:ln w="15875">
            <a:solidFill>
              <a:srgbClr val="0F8A6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5" name="TextBox 278534"/>
          <p:cNvSpPr txBox="1"/>
          <p:nvPr/>
        </p:nvSpPr>
        <p:spPr>
          <a:xfrm>
            <a:off x="731520" y="4937760"/>
            <a:ext cx="10725911" cy="914400"/>
          </a:xfrm>
          <a:prstGeom prst="rect">
            <a:avLst/>
          </a:prstGeom>
          <a:noFill/>
        </p:spPr>
        <p:txBody>
          <a:bodyPr wrap="square" anchor="ctr" lIns="45720" rIns="45720"/>
          <a:lstStyle/>
          <a:p>
            <a:pPr algn="l">
              <a:lnSpc>
                <a:spcPct val="105000"/>
              </a:lnSpc>
              <a:spcAft>
                <a:spcPts val="0"/>
              </a:spcAft>
              <a:buNone/>
            </a:pPr>
            <a:r>
              <a:rPr sz="1600" b="1" i="0">
                <a:solidFill>
                  <a:srgbClr val="1F2933"/>
                </a:solidFill>
                <a:latin typeface="Times New Roman"/>
                <a:cs typeface="Times New Roman"/>
              </a:rPr>
              <a:t>Why a Bayesian Belief Network:</a:t>
            </a:r>
            <a:r>
              <a:rPr sz="1600" b="0" i="0">
                <a:solidFill>
                  <a:srgbClr val="1F2933"/>
                </a:solidFill>
                <a:latin typeface="Times New Roman"/>
                <a:cs typeface="Times New Roman"/>
              </a:rPr>
              <a:t> it needs no large failure corpus (tables start from expert priors), sums out missing channels instead of imputing them, outputs a probability that can be multiplied by a cost, and names the condition behind each alarm.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Proposed Work</a:t>
            </a:r>
            <a:endParaRPr lang="en-US" sz="2800">
              <a:solidFill>
                <a:schemeClr val="bg1"/>
              </a:solidFill>
            </a:endParaRPr>
          </a:p>
        </p:txBody>
      </p:sp>
      <p:sp>
        <p:nvSpPr>
          <p:cNvPr id="278531" name="Rounded Rectangle 278530"/>
          <p:cNvSpPr/>
          <p:nvPr/>
        </p:nvSpPr>
        <p:spPr>
          <a:xfrm>
            <a:off x="502920" y="1280160"/>
            <a:ext cx="3575303" cy="2971800"/>
          </a:xfrm>
          <a:prstGeom prst="roundRect">
            <a:avLst>
              <a:gd name="adj" fmla="val 6000"/>
            </a:avLst>
          </a:prstGeom>
          <a:solidFill>
            <a:srgbClr val="E8F2FA"/>
          </a:solidFill>
          <a:ln w="15875">
            <a:solidFill>
              <a:srgbClr val="0079B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2" name="Oval 278531"/>
          <p:cNvSpPr/>
          <p:nvPr/>
        </p:nvSpPr>
        <p:spPr>
          <a:xfrm>
            <a:off x="685800" y="1435608"/>
            <a:ext cx="566928" cy="566928"/>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Times New Roman"/>
                <a:cs typeface="Times New Roman"/>
              </a:rPr>
              <a:t>N1</a:t>
            </a:r>
          </a:p>
        </p:txBody>
      </p:sp>
      <p:sp>
        <p:nvSpPr>
          <p:cNvPr id="278533" name="TextBox 278532"/>
          <p:cNvSpPr txBox="1"/>
          <p:nvPr/>
        </p:nvSpPr>
        <p:spPr>
          <a:xfrm>
            <a:off x="1371600" y="1389888"/>
            <a:ext cx="2569463" cy="685800"/>
          </a:xfrm>
          <a:prstGeom prst="rect">
            <a:avLst/>
          </a:prstGeom>
          <a:noFill/>
        </p:spPr>
        <p:txBody>
          <a:bodyPr wrap="square" anchor="ctr" lIns="45720" rIns="45720"/>
          <a:lstStyle/>
          <a:p>
            <a:pPr algn="l">
              <a:lnSpc>
                <a:spcPct val="100000"/>
              </a:lnSpc>
              <a:spcAft>
                <a:spcPts val="0"/>
              </a:spcAft>
              <a:buNone/>
            </a:pPr>
            <a:r>
              <a:rPr sz="1700" b="1" i="0">
                <a:solidFill>
                  <a:srgbClr val="0079BC"/>
                </a:solidFill>
                <a:latin typeface="Times New Roman"/>
                <a:cs typeface="Times New Roman"/>
              </a:rPr>
              <a:t>BBN failure prediction</a:t>
            </a:r>
          </a:p>
        </p:txBody>
      </p:sp>
      <p:sp>
        <p:nvSpPr>
          <p:cNvPr id="278534" name="TextBox 278533"/>
          <p:cNvSpPr txBox="1"/>
          <p:nvPr/>
        </p:nvSpPr>
        <p:spPr>
          <a:xfrm>
            <a:off x="685800" y="2167128"/>
            <a:ext cx="3255263" cy="2011680"/>
          </a:xfrm>
          <a:prstGeom prst="rect">
            <a:avLst/>
          </a:prstGeom>
          <a:noFill/>
        </p:spPr>
        <p:txBody>
          <a:bodyPr wrap="square" anchor="t" lIns="45720" rIns="45720"/>
          <a:lstStyle/>
          <a:p>
            <a:pPr algn="l" marL="237744" indent="-237744">
              <a:lnSpc>
                <a:spcPct val="105000"/>
              </a:lnSpc>
              <a:spcAft>
                <a:spcPts val="500"/>
              </a:spcAft>
              <a:buClr>
                <a:srgbClr val="0079BC"/>
              </a:buClr>
              <a:buFont typeface="Arial"/>
              <a:buChar char="•"/>
            </a:pPr>
            <a:r>
              <a:rPr sz="1500" b="0" i="0">
                <a:solidFill>
                  <a:srgbClr val="1F2933"/>
                </a:solidFill>
                <a:latin typeface="Times New Roman"/>
                <a:cs typeface="Times New Roman"/>
              </a:rPr>
              <a:t>P(node fails within 2 epochs | telemetry)</a:t>
            </a:r>
          </a:p>
          <a:p>
            <a:pPr algn="l" marL="237744" indent="-237744">
              <a:lnSpc>
                <a:spcPct val="105000"/>
              </a:lnSpc>
              <a:spcAft>
                <a:spcPts val="500"/>
              </a:spcAft>
              <a:buClr>
                <a:srgbClr val="0079BC"/>
              </a:buClr>
              <a:buFont typeface="Arial"/>
              <a:buChar char="•"/>
            </a:pPr>
            <a:r>
              <a:rPr sz="1500" b="0" i="0">
                <a:solidFill>
                  <a:srgbClr val="1F2933"/>
                </a:solidFill>
                <a:latin typeface="Times New Roman"/>
                <a:cs typeface="Times New Roman"/>
              </a:rPr>
              <a:t>missing channels summed out, never imputed</a:t>
            </a:r>
          </a:p>
          <a:p>
            <a:pPr algn="l" marL="237744" indent="-237744">
              <a:lnSpc>
                <a:spcPct val="105000"/>
              </a:lnSpc>
              <a:spcAft>
                <a:spcPts val="500"/>
              </a:spcAft>
              <a:buClr>
                <a:srgbClr val="0079BC"/>
              </a:buClr>
              <a:buFont typeface="Arial"/>
              <a:buChar char="•"/>
            </a:pPr>
            <a:r>
              <a:rPr sz="1500" b="0" i="0">
                <a:solidFill>
                  <a:srgbClr val="1F2933"/>
                </a:solidFill>
                <a:latin typeface="Times New Roman"/>
                <a:cs typeface="Times New Roman"/>
              </a:rPr>
              <a:t>names the condition behind the risk</a:t>
            </a:r>
          </a:p>
          <a:p>
            <a:pPr algn="l" marL="237744" indent="-237744">
              <a:lnSpc>
                <a:spcPct val="105000"/>
              </a:lnSpc>
              <a:spcAft>
                <a:spcPts val="500"/>
              </a:spcAft>
              <a:buClr>
                <a:srgbClr val="0079BC"/>
              </a:buClr>
              <a:buFont typeface="Arial"/>
              <a:buChar char="•"/>
            </a:pPr>
            <a:r>
              <a:rPr sz="1500" b="0" i="0">
                <a:solidFill>
                  <a:srgbClr val="1F2933"/>
                </a:solidFill>
                <a:latin typeface="Times New Roman"/>
                <a:cs typeface="Times New Roman"/>
              </a:rPr>
              <a:t>learned by MAP-EM, refined online</a:t>
            </a:r>
          </a:p>
        </p:txBody>
      </p:sp>
      <p:sp>
        <p:nvSpPr>
          <p:cNvPr id="278535" name="Rounded Rectangle 278534"/>
          <p:cNvSpPr/>
          <p:nvPr/>
        </p:nvSpPr>
        <p:spPr>
          <a:xfrm>
            <a:off x="4306824" y="1280160"/>
            <a:ext cx="3575303" cy="2971800"/>
          </a:xfrm>
          <a:prstGeom prst="roundRect">
            <a:avLst>
              <a:gd name="adj" fmla="val 6000"/>
            </a:avLst>
          </a:prstGeom>
          <a:solidFill>
            <a:srgbClr val="EEF8F3"/>
          </a:solidFill>
          <a:ln w="15875">
            <a:solidFill>
              <a:srgbClr val="0F8A6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6" name="Oval 278535"/>
          <p:cNvSpPr/>
          <p:nvPr/>
        </p:nvSpPr>
        <p:spPr>
          <a:xfrm>
            <a:off x="4489704" y="1435608"/>
            <a:ext cx="566928" cy="566928"/>
          </a:xfrm>
          <a:prstGeom prst="ellipse">
            <a:avLst/>
          </a:prstGeom>
          <a:solidFill>
            <a:srgbClr val="0F8A6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Times New Roman"/>
                <a:cs typeface="Times New Roman"/>
              </a:rPr>
              <a:t>N2</a:t>
            </a:r>
          </a:p>
        </p:txBody>
      </p:sp>
      <p:sp>
        <p:nvSpPr>
          <p:cNvPr id="278537" name="TextBox 278536"/>
          <p:cNvSpPr txBox="1"/>
          <p:nvPr/>
        </p:nvSpPr>
        <p:spPr>
          <a:xfrm>
            <a:off x="5175504" y="1389888"/>
            <a:ext cx="2569463" cy="685800"/>
          </a:xfrm>
          <a:prstGeom prst="rect">
            <a:avLst/>
          </a:prstGeom>
          <a:noFill/>
        </p:spPr>
        <p:txBody>
          <a:bodyPr wrap="square" anchor="ctr" lIns="45720" rIns="45720"/>
          <a:lstStyle/>
          <a:p>
            <a:pPr algn="l">
              <a:lnSpc>
                <a:spcPct val="100000"/>
              </a:lnSpc>
              <a:spcAft>
                <a:spcPts val="0"/>
              </a:spcAft>
              <a:buNone/>
            </a:pPr>
            <a:r>
              <a:rPr sz="1700" b="1" i="0">
                <a:solidFill>
                  <a:srgbClr val="0F8A6A"/>
                </a:solidFill>
                <a:latin typeface="Times New Roman"/>
                <a:cs typeface="Times New Roman"/>
              </a:rPr>
              <a:t>Expected-loss migration and risk-aware placement</a:t>
            </a:r>
          </a:p>
        </p:txBody>
      </p:sp>
      <p:sp>
        <p:nvSpPr>
          <p:cNvPr id="278538" name="TextBox 278537"/>
          <p:cNvSpPr txBox="1"/>
          <p:nvPr/>
        </p:nvSpPr>
        <p:spPr>
          <a:xfrm>
            <a:off x="4489704" y="2167128"/>
            <a:ext cx="3255263" cy="2011680"/>
          </a:xfrm>
          <a:prstGeom prst="rect">
            <a:avLst/>
          </a:prstGeom>
          <a:noFill/>
        </p:spPr>
        <p:txBody>
          <a:bodyPr wrap="square" anchor="t" lIns="45720" rIns="45720"/>
          <a:lstStyle/>
          <a:p>
            <a:pPr algn="l" marL="237744" indent="-237744">
              <a:lnSpc>
                <a:spcPct val="105000"/>
              </a:lnSpc>
              <a:spcAft>
                <a:spcPts val="500"/>
              </a:spcAft>
              <a:buClr>
                <a:srgbClr val="0F8A6A"/>
              </a:buClr>
              <a:buFont typeface="Arial"/>
              <a:buChar char="•"/>
            </a:pPr>
            <a:r>
              <a:rPr sz="1500" b="0" i="0">
                <a:solidFill>
                  <a:srgbClr val="1F2933"/>
                </a:solidFill>
                <a:latin typeface="Times New Roman"/>
                <a:cs typeface="Times New Roman"/>
              </a:rPr>
              <a:t>migrate when P(fail) · C_fail &gt; C_mig</a:t>
            </a:r>
          </a:p>
          <a:p>
            <a:pPr algn="l" marL="237744" indent="-237744">
              <a:lnSpc>
                <a:spcPct val="105000"/>
              </a:lnSpc>
              <a:spcAft>
                <a:spcPts val="500"/>
              </a:spcAft>
              <a:buClr>
                <a:srgbClr val="0F8A6A"/>
              </a:buClr>
              <a:buFont typeface="Arial"/>
              <a:buChar char="•"/>
            </a:pPr>
            <a:r>
              <a:rPr sz="1500" b="0" i="0">
                <a:solidFill>
                  <a:srgbClr val="1F2933"/>
                </a:solidFill>
                <a:latin typeface="Times New Roman"/>
                <a:cs typeface="Times New Roman"/>
              </a:rPr>
              <a:t>every session gets its own threshold</a:t>
            </a:r>
          </a:p>
          <a:p>
            <a:pPr algn="l" marL="237744" indent="-237744">
              <a:lnSpc>
                <a:spcPct val="105000"/>
              </a:lnSpc>
              <a:spcAft>
                <a:spcPts val="500"/>
              </a:spcAft>
              <a:buClr>
                <a:srgbClr val="0F8A6A"/>
              </a:buClr>
              <a:buFont typeface="Arial"/>
              <a:buChar char="•"/>
            </a:pPr>
            <a:r>
              <a:rPr sz="1500" b="0" i="0">
                <a:solidFill>
                  <a:srgbClr val="1F2933"/>
                </a:solidFill>
                <a:latin typeface="Times New Roman"/>
                <a:cs typeface="Times New Roman"/>
              </a:rPr>
              <a:t>placement utility over latency, energy and risk</a:t>
            </a:r>
          </a:p>
          <a:p>
            <a:pPr algn="l" marL="237744" indent="-237744">
              <a:lnSpc>
                <a:spcPct val="105000"/>
              </a:lnSpc>
              <a:spcAft>
                <a:spcPts val="500"/>
              </a:spcAft>
              <a:buClr>
                <a:srgbClr val="0F8A6A"/>
              </a:buClr>
              <a:buFont typeface="Arial"/>
              <a:buChar char="•"/>
            </a:pPr>
            <a:r>
              <a:rPr sz="1500" b="0" i="0">
                <a:solidFill>
                  <a:srgbClr val="1F2933"/>
                </a:solidFill>
                <a:latin typeface="Times New Roman"/>
                <a:cs typeface="Times New Roman"/>
              </a:rPr>
              <a:t>weights follow patient criticality</a:t>
            </a:r>
          </a:p>
        </p:txBody>
      </p:sp>
      <p:sp>
        <p:nvSpPr>
          <p:cNvPr id="278539" name="Rounded Rectangle 278538"/>
          <p:cNvSpPr/>
          <p:nvPr/>
        </p:nvSpPr>
        <p:spPr>
          <a:xfrm>
            <a:off x="8110728" y="1280160"/>
            <a:ext cx="3575303" cy="2971800"/>
          </a:xfrm>
          <a:prstGeom prst="roundRect">
            <a:avLst>
              <a:gd name="adj" fmla="val 6000"/>
            </a:avLst>
          </a:prstGeom>
          <a:solidFill>
            <a:srgbClr val="FDF4EC"/>
          </a:solidFill>
          <a:ln w="15875">
            <a:solidFill>
              <a:srgbClr val="C255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40" name="Oval 278539"/>
          <p:cNvSpPr/>
          <p:nvPr/>
        </p:nvSpPr>
        <p:spPr>
          <a:xfrm>
            <a:off x="8293608" y="1435608"/>
            <a:ext cx="566928" cy="566928"/>
          </a:xfrm>
          <a:prstGeom prst="ellipse">
            <a:avLst/>
          </a:prstGeom>
          <a:solidFill>
            <a:srgbClr val="C255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Times New Roman"/>
                <a:cs typeface="Times New Roman"/>
              </a:rPr>
              <a:t>N3</a:t>
            </a:r>
          </a:p>
        </p:txBody>
      </p:sp>
      <p:sp>
        <p:nvSpPr>
          <p:cNvPr id="278541" name="TextBox 278540"/>
          <p:cNvSpPr txBox="1"/>
          <p:nvPr/>
        </p:nvSpPr>
        <p:spPr>
          <a:xfrm>
            <a:off x="8979408" y="1389888"/>
            <a:ext cx="2569463" cy="685800"/>
          </a:xfrm>
          <a:prstGeom prst="rect">
            <a:avLst/>
          </a:prstGeom>
          <a:noFill/>
        </p:spPr>
        <p:txBody>
          <a:bodyPr wrap="square" anchor="ctr" lIns="45720" rIns="45720"/>
          <a:lstStyle/>
          <a:p>
            <a:pPr algn="l">
              <a:lnSpc>
                <a:spcPct val="100000"/>
              </a:lnSpc>
              <a:spcAft>
                <a:spcPts val="0"/>
              </a:spcAft>
              <a:buNone/>
            </a:pPr>
            <a:r>
              <a:rPr sz="1700" b="1" i="0">
                <a:solidFill>
                  <a:srgbClr val="C2551C"/>
                </a:solidFill>
                <a:latin typeface="Times New Roman"/>
                <a:cs typeface="Times New Roman"/>
              </a:rPr>
              <a:t>Criticality-aware selective replication</a:t>
            </a:r>
          </a:p>
        </p:txBody>
      </p:sp>
      <p:sp>
        <p:nvSpPr>
          <p:cNvPr id="278542" name="TextBox 278541"/>
          <p:cNvSpPr txBox="1"/>
          <p:nvPr/>
        </p:nvSpPr>
        <p:spPr>
          <a:xfrm>
            <a:off x="8293608" y="2167128"/>
            <a:ext cx="3255263" cy="2011680"/>
          </a:xfrm>
          <a:prstGeom prst="rect">
            <a:avLst/>
          </a:prstGeom>
          <a:noFill/>
        </p:spPr>
        <p:txBody>
          <a:bodyPr wrap="square" anchor="t" lIns="45720" rIns="45720"/>
          <a:lstStyle/>
          <a:p>
            <a:pPr algn="l" marL="237744" indent="-237744">
              <a:lnSpc>
                <a:spcPct val="105000"/>
              </a:lnSpc>
              <a:spcAft>
                <a:spcPts val="500"/>
              </a:spcAft>
              <a:buClr>
                <a:srgbClr val="C2551C"/>
              </a:buClr>
              <a:buFont typeface="Arial"/>
              <a:buChar char="•"/>
            </a:pPr>
            <a:r>
              <a:rPr sz="1500" b="0" i="0">
                <a:solidFill>
                  <a:srgbClr val="1F2933"/>
                </a:solidFill>
                <a:latin typeface="Times New Roman"/>
                <a:cs typeface="Times New Roman"/>
              </a:rPr>
              <a:t>tier = least overhead + expected loss</a:t>
            </a:r>
          </a:p>
          <a:p>
            <a:pPr algn="l" marL="237744" indent="-237744">
              <a:lnSpc>
                <a:spcPct val="105000"/>
              </a:lnSpc>
              <a:spcAft>
                <a:spcPts val="500"/>
              </a:spcAft>
              <a:buClr>
                <a:srgbClr val="C2551C"/>
              </a:buClr>
              <a:buFont typeface="Arial"/>
              <a:buChar char="•"/>
            </a:pPr>
            <a:r>
              <a:rPr sz="1500" b="0" i="0">
                <a:solidFill>
                  <a:srgbClr val="1F2933"/>
                </a:solidFill>
                <a:latin typeface="Times New Roman"/>
                <a:cs typeface="Times New Roman"/>
              </a:rPr>
              <a:t>none · checkpoint · warm standby</a:t>
            </a:r>
          </a:p>
          <a:p>
            <a:pPr algn="l" marL="237744" indent="-237744">
              <a:lnSpc>
                <a:spcPct val="105000"/>
              </a:lnSpc>
              <a:spcAft>
                <a:spcPts val="500"/>
              </a:spcAft>
              <a:buClr>
                <a:srgbClr val="C2551C"/>
              </a:buClr>
              <a:buFont typeface="Arial"/>
              <a:buChar char="•"/>
            </a:pPr>
            <a:r>
              <a:rPr sz="1500" b="0" i="0">
                <a:solidFill>
                  <a:srgbClr val="1F2933"/>
                </a:solidFill>
                <a:latin typeface="Times New Roman"/>
                <a:cs typeface="Times New Roman"/>
              </a:rPr>
              <a:t>warm standbys capped at 20% of sessions</a:t>
            </a:r>
          </a:p>
          <a:p>
            <a:pPr algn="l" marL="237744" indent="-237744">
              <a:lnSpc>
                <a:spcPct val="105000"/>
              </a:lnSpc>
              <a:spcAft>
                <a:spcPts val="500"/>
              </a:spcAft>
              <a:buClr>
                <a:srgbClr val="C2551C"/>
              </a:buClr>
              <a:buFont typeface="Arial"/>
              <a:buChar char="•"/>
            </a:pPr>
            <a:r>
              <a:rPr sz="1500" b="0" i="0">
                <a:solidFill>
                  <a:srgbClr val="1F2933"/>
                </a:solidFill>
                <a:latin typeface="Times New Roman"/>
                <a:cs typeface="Times New Roman"/>
              </a:rPr>
              <a:t>recomputed every epoch</a:t>
            </a:r>
          </a:p>
        </p:txBody>
      </p:sp>
      <p:sp>
        <p:nvSpPr>
          <p:cNvPr id="278543" name="TextBox 278542"/>
          <p:cNvSpPr txBox="1"/>
          <p:nvPr/>
        </p:nvSpPr>
        <p:spPr>
          <a:xfrm>
            <a:off x="502920" y="4407408"/>
            <a:ext cx="11183111" cy="365760"/>
          </a:xfrm>
          <a:prstGeom prst="rect">
            <a:avLst/>
          </a:prstGeom>
          <a:noFill/>
        </p:spPr>
        <p:txBody>
          <a:bodyPr wrap="square" anchor="t" lIns="45720" rIns="45720"/>
          <a:lstStyle/>
          <a:p>
            <a:pPr algn="l">
              <a:lnSpc>
                <a:spcPct val="105000"/>
              </a:lnSpc>
              <a:spcAft>
                <a:spcPts val="400"/>
              </a:spcAft>
              <a:buNone/>
            </a:pPr>
            <a:r>
              <a:rPr sz="1700" b="1" i="0">
                <a:solidFill>
                  <a:srgbClr val="154360"/>
                </a:solidFill>
                <a:latin typeface="Times New Roman"/>
                <a:cs typeface="Times New Roman"/>
              </a:rPr>
              <a:t>Since Review 2</a:t>
            </a:r>
          </a:p>
        </p:txBody>
      </p:sp>
      <p:sp>
        <p:nvSpPr>
          <p:cNvPr id="278544" name="TextBox 278543"/>
          <p:cNvSpPr txBox="1"/>
          <p:nvPr/>
        </p:nvSpPr>
        <p:spPr>
          <a:xfrm>
            <a:off x="502920" y="4773168"/>
            <a:ext cx="2658618" cy="1097280"/>
          </a:xfrm>
          <a:prstGeom prst="rect">
            <a:avLst/>
          </a:prstGeom>
          <a:noFill/>
        </p:spPr>
        <p:txBody>
          <a:bodyPr wrap="square" anchor="t" lIns="45720" rIns="45720"/>
          <a:lstStyle/>
          <a:p>
            <a:pPr algn="l">
              <a:lnSpc>
                <a:spcPct val="105000"/>
              </a:lnSpc>
              <a:spcAft>
                <a:spcPts val="200"/>
              </a:spcAft>
              <a:buNone/>
            </a:pPr>
            <a:r>
              <a:rPr sz="1500" b="1" i="0">
                <a:solidFill>
                  <a:srgbClr val="154360"/>
                </a:solidFill>
                <a:latin typeface="Times New Roman"/>
                <a:cs typeface="Times New Roman"/>
              </a:rPr>
              <a:t>Valid data</a:t>
            </a:r>
          </a:p>
          <a:p>
            <a:pPr algn="l">
              <a:lnSpc>
                <a:spcPct val="100000"/>
              </a:lnSpc>
              <a:spcAft>
                <a:spcPts val="0"/>
              </a:spcAft>
              <a:buNone/>
            </a:pPr>
            <a:r>
              <a:rPr sz="1350" b="0" i="0">
                <a:solidFill>
                  <a:srgbClr val="52606D"/>
                </a:solidFill>
                <a:latin typeface="Times New Roman"/>
                <a:cs typeface="Times New Roman"/>
              </a:rPr>
              <a:t>degradation fault model; leak fixed (92.1% → 2.0%)</a:t>
            </a:r>
          </a:p>
        </p:txBody>
      </p:sp>
      <p:sp>
        <p:nvSpPr>
          <p:cNvPr id="278545" name="TextBox 278544"/>
          <p:cNvSpPr txBox="1"/>
          <p:nvPr/>
        </p:nvSpPr>
        <p:spPr>
          <a:xfrm>
            <a:off x="3298698" y="4773168"/>
            <a:ext cx="2658618" cy="1097280"/>
          </a:xfrm>
          <a:prstGeom prst="rect">
            <a:avLst/>
          </a:prstGeom>
          <a:noFill/>
        </p:spPr>
        <p:txBody>
          <a:bodyPr wrap="square" anchor="t" lIns="45720" rIns="45720"/>
          <a:lstStyle/>
          <a:p>
            <a:pPr algn="l">
              <a:lnSpc>
                <a:spcPct val="105000"/>
              </a:lnSpc>
              <a:spcAft>
                <a:spcPts val="200"/>
              </a:spcAft>
              <a:buNone/>
            </a:pPr>
            <a:r>
              <a:rPr sz="1500" b="1" i="0">
                <a:solidFill>
                  <a:srgbClr val="154360"/>
                </a:solidFill>
                <a:latin typeface="Times New Roman"/>
                <a:cs typeface="Times New Roman"/>
              </a:rPr>
              <a:t>Stronger BBN</a:t>
            </a:r>
          </a:p>
          <a:p>
            <a:pPr algn="l">
              <a:lnSpc>
                <a:spcPct val="100000"/>
              </a:lnSpc>
              <a:spcAft>
                <a:spcPts val="0"/>
              </a:spcAft>
              <a:buNone/>
            </a:pPr>
            <a:r>
              <a:rPr sz="1350" b="0" i="0">
                <a:solidFill>
                  <a:srgbClr val="52606D"/>
                </a:solidFill>
                <a:latin typeface="Times New Roman"/>
                <a:cs typeface="Times New Roman"/>
              </a:rPr>
              <a:t>trend channels, device class, supervised bins, ranked nodes</a:t>
            </a:r>
          </a:p>
        </p:txBody>
      </p:sp>
      <p:sp>
        <p:nvSpPr>
          <p:cNvPr id="278546" name="TextBox 278545"/>
          <p:cNvSpPr txBox="1"/>
          <p:nvPr/>
        </p:nvSpPr>
        <p:spPr>
          <a:xfrm>
            <a:off x="6094475" y="4773168"/>
            <a:ext cx="2658618" cy="1097280"/>
          </a:xfrm>
          <a:prstGeom prst="rect">
            <a:avLst/>
          </a:prstGeom>
          <a:noFill/>
        </p:spPr>
        <p:txBody>
          <a:bodyPr wrap="square" anchor="t" lIns="45720" rIns="45720"/>
          <a:lstStyle/>
          <a:p>
            <a:pPr algn="l">
              <a:lnSpc>
                <a:spcPct val="105000"/>
              </a:lnSpc>
              <a:spcAft>
                <a:spcPts val="200"/>
              </a:spcAft>
              <a:buNone/>
            </a:pPr>
            <a:r>
              <a:rPr sz="1500" b="1" i="0">
                <a:solidFill>
                  <a:srgbClr val="154360"/>
                </a:solidFill>
                <a:latin typeface="Times New Roman"/>
                <a:cs typeface="Times New Roman"/>
              </a:rPr>
              <a:t>Built in iFogSim2</a:t>
            </a:r>
          </a:p>
          <a:p>
            <a:pPr algn="l">
              <a:lnSpc>
                <a:spcPct val="100000"/>
              </a:lnSpc>
              <a:spcAft>
                <a:spcPts val="0"/>
              </a:spcAft>
              <a:buNone/>
            </a:pPr>
            <a:r>
              <a:rPr sz="1350" b="0" i="0">
                <a:solidFill>
                  <a:srgbClr val="52606D"/>
                </a:solidFill>
                <a:latin typeface="Times New Roman"/>
                <a:cs typeface="Times New Roman"/>
              </a:rPr>
              <a:t>controller with N1–N3 and six comparison policies</a:t>
            </a:r>
          </a:p>
        </p:txBody>
      </p:sp>
      <p:sp>
        <p:nvSpPr>
          <p:cNvPr id="278547" name="TextBox 278546"/>
          <p:cNvSpPr txBox="1"/>
          <p:nvPr/>
        </p:nvSpPr>
        <p:spPr>
          <a:xfrm>
            <a:off x="8890254" y="4773168"/>
            <a:ext cx="2658618" cy="1097280"/>
          </a:xfrm>
          <a:prstGeom prst="rect">
            <a:avLst/>
          </a:prstGeom>
          <a:noFill/>
        </p:spPr>
        <p:txBody>
          <a:bodyPr wrap="square" anchor="t" lIns="45720" rIns="45720"/>
          <a:lstStyle/>
          <a:p>
            <a:pPr algn="l">
              <a:lnSpc>
                <a:spcPct val="105000"/>
              </a:lnSpc>
              <a:spcAft>
                <a:spcPts val="200"/>
              </a:spcAft>
              <a:buNone/>
            </a:pPr>
            <a:r>
              <a:rPr sz="1500" b="1" i="0">
                <a:solidFill>
                  <a:srgbClr val="154360"/>
                </a:solidFill>
                <a:latin typeface="Times New Roman"/>
                <a:cs typeface="Times New Roman"/>
              </a:rPr>
              <a:t>Evaluated</a:t>
            </a:r>
          </a:p>
          <a:p>
            <a:pPr algn="l">
              <a:lnSpc>
                <a:spcPct val="100000"/>
              </a:lnSpc>
              <a:spcAft>
                <a:spcPts val="0"/>
              </a:spcAft>
              <a:buNone/>
            </a:pPr>
            <a:r>
              <a:rPr sz="1350" b="0" i="0">
                <a:solidFill>
                  <a:srgbClr val="52606D"/>
                </a:solidFill>
                <a:latin typeface="Times New Roman"/>
                <a:cs typeface="Times New Roman"/>
              </a:rPr>
              <a:t>unseen regimes and seeds; paired statistical tests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Methodology — System Block Diagram</a:t>
            </a:r>
            <a:endParaRPr lang="en-US" sz="2800">
              <a:solidFill>
                <a:schemeClr val="bg1"/>
              </a:solidFill>
            </a:endParaRPr>
          </a:p>
        </p:txBody>
      </p:sp>
      <p:pic>
        <p:nvPicPr>
          <p:cNvPr id="278531" name="Picture 278530" descr="fig01_block_diagram.png"/>
          <p:cNvPicPr>
            <a:picLocks noChangeAspect="1"/>
          </p:cNvPicPr>
          <p:nvPr/>
        </p:nvPicPr>
        <p:blipFill>
          <a:blip r:embed="rId3"/>
          <a:stretch>
            <a:fillRect/>
          </a:stretch>
        </p:blipFill>
        <p:spPr>
          <a:xfrm>
            <a:off x="2394711" y="1188720"/>
            <a:ext cx="7399529" cy="48006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Methodology — The Bayesian Belief Network</a:t>
            </a:r>
            <a:endParaRPr lang="en-US" sz="2800">
              <a:solidFill>
                <a:schemeClr val="bg1"/>
              </a:solidFill>
            </a:endParaRPr>
          </a:p>
        </p:txBody>
      </p:sp>
      <p:pic>
        <p:nvPicPr>
          <p:cNvPr id="278531" name="Picture 278530" descr="fig02_bbn_structure.png"/>
          <p:cNvPicPr>
            <a:picLocks noChangeAspect="1"/>
          </p:cNvPicPr>
          <p:nvPr/>
        </p:nvPicPr>
        <p:blipFill>
          <a:blip r:embed="rId3"/>
          <a:stretch>
            <a:fillRect/>
          </a:stretch>
        </p:blipFill>
        <p:spPr>
          <a:xfrm>
            <a:off x="502920" y="1298448"/>
            <a:ext cx="6309360" cy="3578442"/>
          </a:xfrm>
          <a:prstGeom prst="rect">
            <a:avLst/>
          </a:prstGeom>
        </p:spPr>
      </p:pic>
      <p:sp>
        <p:nvSpPr>
          <p:cNvPr id="278532" name="TextBox 278531"/>
          <p:cNvSpPr txBox="1"/>
          <p:nvPr/>
        </p:nvSpPr>
        <p:spPr>
          <a:xfrm>
            <a:off x="7086600" y="1252728"/>
            <a:ext cx="4599431" cy="4663440"/>
          </a:xfrm>
          <a:prstGeom prst="rect">
            <a:avLst/>
          </a:prstGeom>
          <a:noFill/>
        </p:spPr>
        <p:txBody>
          <a:bodyPr wrap="square" anchor="t" lIns="45720" rIns="45720"/>
          <a:lstStyle/>
          <a:p>
            <a:pPr algn="l">
              <a:lnSpc>
                <a:spcPct val="105000"/>
              </a:lnSpc>
              <a:spcAft>
                <a:spcPts val="400"/>
              </a:spcAft>
              <a:buNone/>
            </a:pPr>
            <a:r>
              <a:rPr sz="1800" b="1" i="0">
                <a:solidFill>
                  <a:srgbClr val="154360"/>
                </a:solidFill>
                <a:latin typeface="Times New Roman"/>
                <a:cs typeface="Times New Roman"/>
              </a:rPr>
              <a:t>Structure</a:t>
            </a:r>
          </a:p>
          <a:p>
            <a:pPr algn="l" marL="237744" indent="-237744">
              <a:lnSpc>
                <a:spcPct val="105000"/>
              </a:lnSpc>
              <a:spcAft>
                <a:spcPts val="400"/>
              </a:spcAft>
              <a:buClr>
                <a:srgbClr val="0079BC"/>
              </a:buClr>
              <a:buFont typeface="Arial"/>
              <a:buChar char="•"/>
            </a:pPr>
            <a:r>
              <a:rPr sz="1500" b="0" i="0">
                <a:solidFill>
                  <a:srgbClr val="1F2933"/>
                </a:solidFill>
                <a:latin typeface="Times New Roman"/>
                <a:cs typeface="Times New Roman"/>
              </a:rPr>
              <a:t>13 evidence channels (8 from Review 2 + 5 trends) → 4 latent conditions → node_failure</a:t>
            </a:r>
          </a:p>
          <a:p>
            <a:pPr algn="l" marL="237744" indent="-237744">
              <a:lnSpc>
                <a:spcPct val="105000"/>
              </a:lnSpc>
              <a:spcAft>
                <a:spcPts val="400"/>
              </a:spcAft>
              <a:buClr>
                <a:srgbClr val="0079BC"/>
              </a:buClr>
              <a:buFont typeface="Arial"/>
              <a:buChar char="•"/>
            </a:pPr>
            <a:r>
              <a:rPr sz="1500" b="0" i="0">
                <a:solidFill>
                  <a:srgbClr val="1F2933"/>
                </a:solidFill>
                <a:latin typeface="Times New Roman"/>
                <a:cs typeface="Times New Roman"/>
              </a:rPr>
              <a:t>Device class conditions every channel and condition</a:t>
            </a:r>
          </a:p>
          <a:p>
            <a:pPr algn="l">
              <a:lnSpc>
                <a:spcPct val="105000"/>
              </a:lnSpc>
              <a:spcAft>
                <a:spcPts val="400"/>
              </a:spcAft>
              <a:buNone/>
            </a:pPr>
            <a:r>
              <a:rPr sz="1800" b="1" i="0">
                <a:solidFill>
                  <a:srgbClr val="154360"/>
                </a:solidFill>
                <a:latin typeface="Times New Roman"/>
                <a:cs typeface="Times New Roman"/>
              </a:rPr>
              <a:t>Learning</a:t>
            </a:r>
          </a:p>
          <a:p>
            <a:pPr algn="l" marL="237744" indent="-237744">
              <a:lnSpc>
                <a:spcPct val="105000"/>
              </a:lnSpc>
              <a:spcAft>
                <a:spcPts val="400"/>
              </a:spcAft>
              <a:buClr>
                <a:srgbClr val="0079BC"/>
              </a:buClr>
              <a:buFont typeface="Arial"/>
              <a:buChar char="•"/>
            </a:pPr>
            <a:r>
              <a:rPr sz="1500" b="1" i="0">
                <a:solidFill>
                  <a:srgbClr val="1F2933"/>
                </a:solidFill>
                <a:latin typeface="Times New Roman"/>
                <a:cs typeface="Times New Roman"/>
              </a:rPr>
              <a:t>Supervised bins:</a:t>
            </a:r>
            <a:r>
              <a:rPr sz="1500" b="0" i="0">
                <a:solidFill>
                  <a:srgbClr val="1F2933"/>
                </a:solidFill>
                <a:latin typeface="Times New Roman"/>
                <a:cs typeface="Times New Roman"/>
              </a:rPr>
              <a:t> ≤ 8 per channel and class, placed by exact DP on mutual information</a:t>
            </a:r>
          </a:p>
          <a:p>
            <a:pPr algn="l" marL="237744" indent="-237744">
              <a:lnSpc>
                <a:spcPct val="105000"/>
              </a:lnSpc>
              <a:spcAft>
                <a:spcPts val="400"/>
              </a:spcAft>
              <a:buClr>
                <a:srgbClr val="0079BC"/>
              </a:buClr>
              <a:buFont typeface="Arial"/>
              <a:buChar char="•"/>
            </a:pPr>
            <a:r>
              <a:rPr sz="1500" b="1" i="0">
                <a:solidFill>
                  <a:srgbClr val="1F2933"/>
                </a:solidFill>
                <a:latin typeface="Times New Roman"/>
                <a:cs typeface="Times New Roman"/>
              </a:rPr>
              <a:t>Ranked-node tables:</a:t>
            </a:r>
            <a:r>
              <a:rPr sz="1500" b="0" i="0">
                <a:solidFill>
                  <a:srgbClr val="1F2933"/>
                </a:solidFill>
                <a:latin typeface="Times New Roman"/>
                <a:cs typeface="Times New Roman"/>
              </a:rPr>
              <a:t> 40 numbers per class instead of 32,768 rows</a:t>
            </a:r>
          </a:p>
          <a:p>
            <a:pPr algn="l" marL="237744" indent="-237744">
              <a:lnSpc>
                <a:spcPct val="105000"/>
              </a:lnSpc>
              <a:spcAft>
                <a:spcPts val="400"/>
              </a:spcAft>
              <a:buClr>
                <a:srgbClr val="0079BC"/>
              </a:buClr>
              <a:buFont typeface="Arial"/>
              <a:buChar char="•"/>
            </a:pPr>
            <a:r>
              <a:rPr sz="1500" b="1" i="0">
                <a:solidFill>
                  <a:srgbClr val="1F2933"/>
                </a:solidFill>
                <a:latin typeface="Times New Roman"/>
                <a:cs typeface="Times New Roman"/>
              </a:rPr>
              <a:t>MAP-EM:</a:t>
            </a:r>
            <a:r>
              <a:rPr sz="1500" b="0" i="0">
                <a:solidFill>
                  <a:srgbClr val="1F2933"/>
                </a:solidFill>
                <a:latin typeface="Times New Roman"/>
                <a:cs typeface="Times New Roman"/>
              </a:rPr>
              <a:t> latent conditions never observed; 43,374 patterns, ≈ 10 s</a:t>
            </a:r>
          </a:p>
          <a:p>
            <a:pPr algn="l">
              <a:lnSpc>
                <a:spcPct val="105000"/>
              </a:lnSpc>
              <a:spcAft>
                <a:spcPts val="400"/>
              </a:spcAft>
              <a:buNone/>
            </a:pPr>
            <a:r>
              <a:rPr sz="1800" b="1" i="0">
                <a:solidFill>
                  <a:srgbClr val="154360"/>
                </a:solidFill>
                <a:latin typeface="Times New Roman"/>
                <a:cs typeface="Times New Roman"/>
              </a:rPr>
              <a:t>Inference</a:t>
            </a:r>
          </a:p>
          <a:p>
            <a:pPr algn="l" marL="237744" indent="-237744">
              <a:lnSpc>
                <a:spcPct val="105000"/>
              </a:lnSpc>
              <a:spcAft>
                <a:spcPts val="400"/>
              </a:spcAft>
              <a:buClr>
                <a:srgbClr val="0079BC"/>
              </a:buClr>
              <a:buFont typeface="Arial"/>
              <a:buChar char="•"/>
            </a:pPr>
            <a:r>
              <a:rPr sz="1500" b="0" i="0">
                <a:solidFill>
                  <a:srgbClr val="1F2933"/>
                </a:solidFill>
                <a:latin typeface="Times New Roman"/>
                <a:cs typeface="Times New Roman"/>
              </a:rPr>
              <a:t>Exact; a dark channel is </a:t>
            </a:r>
            <a:r>
              <a:rPr sz="1500" b="1" i="0">
                <a:solidFill>
                  <a:srgbClr val="1F2933"/>
                </a:solidFill>
                <a:latin typeface="Times New Roman"/>
                <a:cs typeface="Times New Roman"/>
              </a:rPr>
              <a:t>summed out</a:t>
            </a:r>
            <a:r>
              <a:rPr sz="1500" b="0" i="0">
                <a:solidFill>
                  <a:srgbClr val="1F2933"/>
                </a:solidFill>
                <a:latin typeface="Times New Roman"/>
                <a:cs typeface="Times New Roman"/>
              </a:rPr>
              <a:t>, never imputed</a:t>
            </a:r>
          </a:p>
          <a:p>
            <a:pPr algn="l" marL="237744" indent="-237744">
              <a:lnSpc>
                <a:spcPct val="105000"/>
              </a:lnSpc>
              <a:spcAft>
                <a:spcPts val="400"/>
              </a:spcAft>
              <a:buClr>
                <a:srgbClr val="0079BC"/>
              </a:buClr>
              <a:buFont typeface="Arial"/>
              <a:buChar char="•"/>
            </a:pPr>
            <a:r>
              <a:rPr sz="1500" b="0" i="0">
                <a:solidFill>
                  <a:srgbClr val="1F2933"/>
                </a:solidFill>
                <a:latin typeface="Times New Roman"/>
                <a:cs typeface="Times New Roman"/>
              </a:rPr>
              <a:t>Cause = condition whose P(high) rose most above its prior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Methodology — Decision Rules</a:t>
            </a:r>
            <a:endParaRPr lang="en-US" sz="2800">
              <a:solidFill>
                <a:schemeClr val="bg1"/>
              </a:solidFill>
            </a:endParaRPr>
          </a:p>
        </p:txBody>
      </p:sp>
      <p:sp>
        <p:nvSpPr>
          <p:cNvPr id="278531" name="Rounded Rectangle 278530"/>
          <p:cNvSpPr/>
          <p:nvPr/>
        </p:nvSpPr>
        <p:spPr>
          <a:xfrm>
            <a:off x="502920" y="1252728"/>
            <a:ext cx="11183111" cy="1463040"/>
          </a:xfrm>
          <a:prstGeom prst="roundRect">
            <a:avLst>
              <a:gd name="adj" fmla="val 6000"/>
            </a:avLst>
          </a:prstGeom>
          <a:solidFill>
            <a:srgbClr val="E8F2FA"/>
          </a:solidFill>
          <a:ln w="15875">
            <a:solidFill>
              <a:srgbClr val="0079B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2" name="TextBox 278531"/>
          <p:cNvSpPr txBox="1"/>
          <p:nvPr/>
        </p:nvSpPr>
        <p:spPr>
          <a:xfrm>
            <a:off x="685800" y="1344168"/>
            <a:ext cx="2834640" cy="457200"/>
          </a:xfrm>
          <a:prstGeom prst="rect">
            <a:avLst/>
          </a:prstGeom>
          <a:noFill/>
        </p:spPr>
        <p:txBody>
          <a:bodyPr wrap="square" anchor="t" lIns="45720" rIns="45720"/>
          <a:lstStyle/>
          <a:p>
            <a:pPr algn="l">
              <a:lnSpc>
                <a:spcPct val="105000"/>
              </a:lnSpc>
              <a:spcAft>
                <a:spcPts val="0"/>
              </a:spcAft>
              <a:buNone/>
            </a:pPr>
            <a:r>
              <a:rPr sz="1800" b="1" i="0">
                <a:solidFill>
                  <a:srgbClr val="0079BC"/>
                </a:solidFill>
                <a:latin typeface="Times New Roman"/>
                <a:cs typeface="Times New Roman"/>
              </a:rPr>
              <a:t>Placement  (Eq. 4)</a:t>
            </a:r>
          </a:p>
        </p:txBody>
      </p:sp>
      <p:sp>
        <p:nvSpPr>
          <p:cNvPr id="278533" name="TextBox 278532"/>
          <p:cNvSpPr txBox="1"/>
          <p:nvPr/>
        </p:nvSpPr>
        <p:spPr>
          <a:xfrm>
            <a:off x="685800" y="1783080"/>
            <a:ext cx="5257800" cy="822960"/>
          </a:xfrm>
          <a:prstGeom prst="rect">
            <a:avLst/>
          </a:prstGeom>
          <a:noFill/>
        </p:spPr>
        <p:txBody>
          <a:bodyPr wrap="square" anchor="ctr" lIns="45720" rIns="45720"/>
          <a:lstStyle/>
          <a:p>
            <a:pPr algn="l">
              <a:lnSpc>
                <a:spcPct val="100000"/>
              </a:lnSpc>
              <a:spcAft>
                <a:spcPts val="200"/>
              </a:spcAft>
              <a:buNone/>
            </a:pPr>
            <a:r>
              <a:rPr sz="1700" b="0" i="1">
                <a:solidFill>
                  <a:srgbClr val="1F2933"/>
                </a:solidFill>
                <a:latin typeface="Times New Roman"/>
                <a:cs typeface="Times New Roman"/>
              </a:rPr>
              <a:t>U(m, n) = α(1 − L̂) + β(1 − Ê) + γ(1 − P(Fₙ = fail | e))</a:t>
            </a:r>
          </a:p>
        </p:txBody>
      </p:sp>
      <p:sp>
        <p:nvSpPr>
          <p:cNvPr id="278534" name="TextBox 278533"/>
          <p:cNvSpPr txBox="1"/>
          <p:nvPr/>
        </p:nvSpPr>
        <p:spPr>
          <a:xfrm>
            <a:off x="6035040" y="1362456"/>
            <a:ext cx="5513831" cy="1280160"/>
          </a:xfrm>
          <a:prstGeom prst="rect">
            <a:avLst/>
          </a:prstGeom>
          <a:noFill/>
        </p:spPr>
        <p:txBody>
          <a:bodyPr wrap="square" anchor="ctr" lIns="45720" rIns="45720"/>
          <a:lstStyle/>
          <a:p>
            <a:pPr algn="l" marL="237744" indent="-237744">
              <a:lnSpc>
                <a:spcPct val="105000"/>
              </a:lnSpc>
              <a:spcAft>
                <a:spcPts val="300"/>
              </a:spcAft>
              <a:buClr>
                <a:srgbClr val="0079BC"/>
              </a:buClr>
              <a:buFont typeface="Arial"/>
              <a:buChar char="•"/>
            </a:pPr>
            <a:r>
              <a:rPr sz="1400" b="0" i="0">
                <a:solidFill>
                  <a:srgbClr val="1F2933"/>
                </a:solidFill>
                <a:latin typeface="Times New Roman"/>
                <a:cs typeface="Times New Roman"/>
              </a:rPr>
              <a:t>L̂: predicted loop latency / 150 ms deadline (with M/M/1 queueing)</a:t>
            </a:r>
          </a:p>
          <a:p>
            <a:pPr algn="l" marL="237744" indent="-237744">
              <a:lnSpc>
                <a:spcPct val="105000"/>
              </a:lnSpc>
              <a:spcAft>
                <a:spcPts val="300"/>
              </a:spcAft>
              <a:buClr>
                <a:srgbClr val="0079BC"/>
              </a:buClr>
              <a:buFont typeface="Arial"/>
              <a:buChar char="•"/>
            </a:pPr>
            <a:r>
              <a:rPr sz="1400" b="0" i="0">
                <a:solidFill>
                  <a:srgbClr val="1F2933"/>
                </a:solidFill>
                <a:latin typeface="Times New Roman"/>
                <a:cs typeface="Times New Roman"/>
              </a:rPr>
              <a:t>Ê: access distance / 5 km (radio energy)</a:t>
            </a:r>
          </a:p>
          <a:p>
            <a:pPr algn="l" marL="237744" indent="-237744">
              <a:lnSpc>
                <a:spcPct val="105000"/>
              </a:lnSpc>
              <a:spcAft>
                <a:spcPts val="300"/>
              </a:spcAft>
              <a:buClr>
                <a:srgbClr val="0079BC"/>
              </a:buClr>
              <a:buFont typeface="Arial"/>
              <a:buChar char="•"/>
            </a:pPr>
            <a:r>
              <a:rPr sz="1400" b="0" i="0">
                <a:solidFill>
                  <a:srgbClr val="1F2933"/>
                </a:solidFill>
                <a:latin typeface="Times New Roman"/>
                <a:cs typeface="Times New Roman"/>
              </a:rPr>
              <a:t>(α, β, γ) = (0.30, 0.10, 0.60) critical … (0.60, 0.25, 0.15) best-effort</a:t>
            </a:r>
          </a:p>
        </p:txBody>
      </p:sp>
      <p:sp>
        <p:nvSpPr>
          <p:cNvPr id="278535" name="Rounded Rectangle 278534"/>
          <p:cNvSpPr/>
          <p:nvPr/>
        </p:nvSpPr>
        <p:spPr>
          <a:xfrm>
            <a:off x="502920" y="2852928"/>
            <a:ext cx="11183111" cy="1463040"/>
          </a:xfrm>
          <a:prstGeom prst="roundRect">
            <a:avLst>
              <a:gd name="adj" fmla="val 6000"/>
            </a:avLst>
          </a:prstGeom>
          <a:solidFill>
            <a:srgbClr val="EEF8F3"/>
          </a:solidFill>
          <a:ln w="15875">
            <a:solidFill>
              <a:srgbClr val="0F8A6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6" name="TextBox 278535"/>
          <p:cNvSpPr txBox="1"/>
          <p:nvPr/>
        </p:nvSpPr>
        <p:spPr>
          <a:xfrm>
            <a:off x="685800" y="2944368"/>
            <a:ext cx="2834640" cy="457200"/>
          </a:xfrm>
          <a:prstGeom prst="rect">
            <a:avLst/>
          </a:prstGeom>
          <a:noFill/>
        </p:spPr>
        <p:txBody>
          <a:bodyPr wrap="square" anchor="t" lIns="45720" rIns="45720"/>
          <a:lstStyle/>
          <a:p>
            <a:pPr algn="l">
              <a:lnSpc>
                <a:spcPct val="105000"/>
              </a:lnSpc>
              <a:spcAft>
                <a:spcPts val="0"/>
              </a:spcAft>
              <a:buNone/>
            </a:pPr>
            <a:r>
              <a:rPr sz="1800" b="1" i="0">
                <a:solidFill>
                  <a:srgbClr val="0F8A6A"/>
                </a:solidFill>
                <a:latin typeface="Times New Roman"/>
                <a:cs typeface="Times New Roman"/>
              </a:rPr>
              <a:t>Migration  (Eq. 5)</a:t>
            </a:r>
          </a:p>
        </p:txBody>
      </p:sp>
      <p:sp>
        <p:nvSpPr>
          <p:cNvPr id="278537" name="TextBox 278536"/>
          <p:cNvSpPr txBox="1"/>
          <p:nvPr/>
        </p:nvSpPr>
        <p:spPr>
          <a:xfrm>
            <a:off x="685800" y="3383280"/>
            <a:ext cx="5257800" cy="822960"/>
          </a:xfrm>
          <a:prstGeom prst="rect">
            <a:avLst/>
          </a:prstGeom>
          <a:noFill/>
        </p:spPr>
        <p:txBody>
          <a:bodyPr wrap="square" anchor="ctr" lIns="45720" rIns="45720"/>
          <a:lstStyle/>
          <a:p>
            <a:pPr algn="l">
              <a:lnSpc>
                <a:spcPct val="100000"/>
              </a:lnSpc>
              <a:spcAft>
                <a:spcPts val="200"/>
              </a:spcAft>
              <a:buNone/>
            </a:pPr>
            <a:r>
              <a:rPr sz="1700" b="0" i="1">
                <a:solidFill>
                  <a:srgbClr val="1F2933"/>
                </a:solidFill>
                <a:latin typeface="Times New Roman"/>
                <a:cs typeface="Times New Roman"/>
              </a:rPr>
              <a:t>P(Fₙ = fail | e) · C_fail(m)  &gt;  C_mig(m, n → n′)</a:t>
            </a:r>
          </a:p>
        </p:txBody>
      </p:sp>
      <p:sp>
        <p:nvSpPr>
          <p:cNvPr id="278538" name="TextBox 278537"/>
          <p:cNvSpPr txBox="1"/>
          <p:nvPr/>
        </p:nvSpPr>
        <p:spPr>
          <a:xfrm>
            <a:off x="6035040" y="2962656"/>
            <a:ext cx="5513831" cy="1280160"/>
          </a:xfrm>
          <a:prstGeom prst="rect">
            <a:avLst/>
          </a:prstGeom>
          <a:noFill/>
        </p:spPr>
        <p:txBody>
          <a:bodyPr wrap="square" anchor="ctr" lIns="45720" rIns="45720"/>
          <a:lstStyle/>
          <a:p>
            <a:pPr algn="l" marL="237744" indent="-237744">
              <a:lnSpc>
                <a:spcPct val="105000"/>
              </a:lnSpc>
              <a:spcAft>
                <a:spcPts val="300"/>
              </a:spcAft>
              <a:buClr>
                <a:srgbClr val="0F8A6A"/>
              </a:buClr>
              <a:buFont typeface="Arial"/>
              <a:buChar char="•"/>
            </a:pPr>
            <a:r>
              <a:rPr sz="1400" b="0" i="0">
                <a:solidFill>
                  <a:srgbClr val="1F2933"/>
                </a:solidFill>
                <a:latin typeface="Times New Roman"/>
                <a:cs typeface="Times New Roman"/>
              </a:rPr>
              <a:t>each session’s own threshold P* = C_mig / C_fail</a:t>
            </a:r>
          </a:p>
          <a:p>
            <a:pPr algn="l" marL="237744" indent="-237744">
              <a:lnSpc>
                <a:spcPct val="105000"/>
              </a:lnSpc>
              <a:spcAft>
                <a:spcPts val="300"/>
              </a:spcAft>
              <a:buClr>
                <a:srgbClr val="0F8A6A"/>
              </a:buClr>
              <a:buFont typeface="Arial"/>
              <a:buChar char="•"/>
            </a:pPr>
            <a:r>
              <a:rPr sz="1400" b="0" i="0">
                <a:solidFill>
                  <a:srgbClr val="1F2933"/>
                </a:solidFill>
                <a:latin typeface="Times New Roman"/>
                <a:cs typeface="Times New Roman"/>
              </a:rPr>
              <a:t>unprotected: P* = 0.020 critical, 0.022 standard, 0.049 best-effort</a:t>
            </a:r>
          </a:p>
          <a:p>
            <a:pPr algn="l" marL="237744" indent="-237744">
              <a:lnSpc>
                <a:spcPct val="105000"/>
              </a:lnSpc>
              <a:spcAft>
                <a:spcPts val="300"/>
              </a:spcAft>
              <a:buClr>
                <a:srgbClr val="0F8A6A"/>
              </a:buClr>
              <a:buFont typeface="Arial"/>
              <a:buChar char="•"/>
            </a:pPr>
            <a:r>
              <a:rPr sz="1400" b="0" i="0">
                <a:solidFill>
                  <a:srgbClr val="1F2933"/>
                </a:solidFill>
                <a:latin typeface="Times New Roman"/>
                <a:cs typeface="Times New Roman"/>
              </a:rPr>
              <a:t>no global threshold to tune</a:t>
            </a:r>
          </a:p>
        </p:txBody>
      </p:sp>
      <p:sp>
        <p:nvSpPr>
          <p:cNvPr id="278539" name="Rounded Rectangle 278538"/>
          <p:cNvSpPr/>
          <p:nvPr/>
        </p:nvSpPr>
        <p:spPr>
          <a:xfrm>
            <a:off x="502920" y="4453128"/>
            <a:ext cx="11183111" cy="1463040"/>
          </a:xfrm>
          <a:prstGeom prst="roundRect">
            <a:avLst>
              <a:gd name="adj" fmla="val 6000"/>
            </a:avLst>
          </a:prstGeom>
          <a:solidFill>
            <a:srgbClr val="FDF4EC"/>
          </a:solidFill>
          <a:ln w="15875">
            <a:solidFill>
              <a:srgbClr val="C255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40" name="TextBox 278539"/>
          <p:cNvSpPr txBox="1"/>
          <p:nvPr/>
        </p:nvSpPr>
        <p:spPr>
          <a:xfrm>
            <a:off x="685800" y="4544568"/>
            <a:ext cx="2834640" cy="457200"/>
          </a:xfrm>
          <a:prstGeom prst="rect">
            <a:avLst/>
          </a:prstGeom>
          <a:noFill/>
        </p:spPr>
        <p:txBody>
          <a:bodyPr wrap="square" anchor="t" lIns="45720" rIns="45720"/>
          <a:lstStyle/>
          <a:p>
            <a:pPr algn="l">
              <a:lnSpc>
                <a:spcPct val="105000"/>
              </a:lnSpc>
              <a:spcAft>
                <a:spcPts val="0"/>
              </a:spcAft>
              <a:buNone/>
            </a:pPr>
            <a:r>
              <a:rPr sz="1800" b="1" i="0">
                <a:solidFill>
                  <a:srgbClr val="C2551C"/>
                </a:solidFill>
                <a:latin typeface="Times New Roman"/>
                <a:cs typeface="Times New Roman"/>
              </a:rPr>
              <a:t>Replication  (Eqs. 6–7)</a:t>
            </a:r>
          </a:p>
        </p:txBody>
      </p:sp>
      <p:sp>
        <p:nvSpPr>
          <p:cNvPr id="278541" name="TextBox 278540"/>
          <p:cNvSpPr txBox="1"/>
          <p:nvPr/>
        </p:nvSpPr>
        <p:spPr>
          <a:xfrm>
            <a:off x="685800" y="4983480"/>
            <a:ext cx="5257800" cy="822960"/>
          </a:xfrm>
          <a:prstGeom prst="rect">
            <a:avLst/>
          </a:prstGeom>
          <a:noFill/>
        </p:spPr>
        <p:txBody>
          <a:bodyPr wrap="square" anchor="ctr" lIns="45720" rIns="45720"/>
          <a:lstStyle/>
          <a:p>
            <a:pPr algn="l">
              <a:lnSpc>
                <a:spcPct val="100000"/>
              </a:lnSpc>
              <a:spcAft>
                <a:spcPts val="200"/>
              </a:spcAft>
              <a:buNone/>
            </a:pPr>
            <a:r>
              <a:rPr sz="1700" b="0" i="1">
                <a:solidFill>
                  <a:srgbClr val="1F2933"/>
                </a:solidFill>
                <a:latin typeface="Times New Roman"/>
                <a:cs typeface="Times New Roman"/>
              </a:rPr>
              <a:t>τ*(m) = argmin [ O(τ) + R(m) · D(τ) ]</a:t>
            </a:r>
          </a:p>
          <a:p>
            <a:pPr algn="l">
              <a:lnSpc>
                <a:spcPct val="100000"/>
              </a:lnSpc>
              <a:spcAft>
                <a:spcPts val="200"/>
              </a:spcAft>
              <a:buNone/>
            </a:pPr>
            <a:r>
              <a:rPr sz="1700" b="0" i="1">
                <a:solidFill>
                  <a:srgbClr val="1F2933"/>
                </a:solidFill>
                <a:latin typeface="Times New Roman"/>
                <a:cs typeface="Times New Roman"/>
              </a:rPr>
              <a:t>R(m) = P(Fₙ = fail | e) · κ(m)</a:t>
            </a:r>
          </a:p>
        </p:txBody>
      </p:sp>
      <p:sp>
        <p:nvSpPr>
          <p:cNvPr id="278542" name="TextBox 278541"/>
          <p:cNvSpPr txBox="1"/>
          <p:nvPr/>
        </p:nvSpPr>
        <p:spPr>
          <a:xfrm>
            <a:off x="6035040" y="4562856"/>
            <a:ext cx="5513831" cy="1280160"/>
          </a:xfrm>
          <a:prstGeom prst="rect">
            <a:avLst/>
          </a:prstGeom>
          <a:noFill/>
        </p:spPr>
        <p:txBody>
          <a:bodyPr wrap="square" anchor="ctr" lIns="45720" rIns="45720"/>
          <a:lstStyle/>
          <a:p>
            <a:pPr algn="l" marL="237744" indent="-237744">
              <a:lnSpc>
                <a:spcPct val="105000"/>
              </a:lnSpc>
              <a:spcAft>
                <a:spcPts val="300"/>
              </a:spcAft>
              <a:buClr>
                <a:srgbClr val="C2551C"/>
              </a:buClr>
              <a:buFont typeface="Arial"/>
              <a:buChar char="•"/>
            </a:pPr>
            <a:r>
              <a:rPr sz="1400" b="0" i="0">
                <a:solidFill>
                  <a:srgbClr val="1F2933"/>
                </a:solidFill>
                <a:latin typeface="Times New Roman"/>
                <a:cs typeface="Times New Roman"/>
              </a:rPr>
              <a:t>outage: none 330 ms · checkpoint ≈ 60–80 ms · warm 35 ms</a:t>
            </a:r>
          </a:p>
          <a:p>
            <a:pPr algn="l" marL="237744" indent="-237744">
              <a:lnSpc>
                <a:spcPct val="105000"/>
              </a:lnSpc>
              <a:spcAft>
                <a:spcPts val="300"/>
              </a:spcAft>
              <a:buClr>
                <a:srgbClr val="C2551C"/>
              </a:buClr>
              <a:buFont typeface="Arial"/>
              <a:buChar char="•"/>
            </a:pPr>
            <a:r>
              <a:rPr sz="1400" b="0" i="0">
                <a:solidFill>
                  <a:srgbClr val="1F2933"/>
                </a:solidFill>
                <a:latin typeface="Times New Roman"/>
                <a:cs typeface="Times New Roman"/>
              </a:rPr>
              <a:t>critical patient: P = 0.001 → none; 0.05 → checkpoint; 0.30 → warm</a:t>
            </a:r>
          </a:p>
          <a:p>
            <a:pPr algn="l" marL="237744" indent="-237744">
              <a:lnSpc>
                <a:spcPct val="105000"/>
              </a:lnSpc>
              <a:spcAft>
                <a:spcPts val="300"/>
              </a:spcAft>
              <a:buClr>
                <a:srgbClr val="C2551C"/>
              </a:buClr>
              <a:buFont typeface="Arial"/>
              <a:buChar char="•"/>
            </a:pPr>
            <a:r>
              <a:rPr sz="1400" b="0" i="0">
                <a:solidFill>
                  <a:srgbClr val="1F2933"/>
                </a:solidFill>
                <a:latin typeface="Times New Roman"/>
                <a:cs typeface="Times New Roman"/>
              </a:rPr>
              <a:t>warm standby for at most 20% of sessions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Methodology — Execution Flow per Epoch</a:t>
            </a:r>
            <a:endParaRPr lang="en-US" sz="2800">
              <a:solidFill>
                <a:schemeClr val="bg1"/>
              </a:solidFill>
            </a:endParaRPr>
          </a:p>
        </p:txBody>
      </p:sp>
      <p:pic>
        <p:nvPicPr>
          <p:cNvPr id="278531" name="Picture 278530" descr="fig03_control_loop.png"/>
          <p:cNvPicPr>
            <a:picLocks noChangeAspect="1"/>
          </p:cNvPicPr>
          <p:nvPr/>
        </p:nvPicPr>
        <p:blipFill>
          <a:blip r:embed="rId3"/>
          <a:stretch>
            <a:fillRect/>
          </a:stretch>
        </p:blipFill>
        <p:spPr>
          <a:xfrm>
            <a:off x="746245" y="1207008"/>
            <a:ext cx="10696461" cy="47548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Dataset Description — Sources and Telemetry</a:t>
            </a:r>
            <a:endParaRPr lang="en-US" sz="2800">
              <a:solidFill>
                <a:schemeClr val="bg1"/>
              </a:solidFill>
            </a:endParaRPr>
          </a:p>
        </p:txBody>
      </p:sp>
      <p:sp>
        <p:nvSpPr>
          <p:cNvPr id="278531" name="TextBox 278530"/>
          <p:cNvSpPr txBox="1"/>
          <p:nvPr/>
        </p:nvSpPr>
        <p:spPr>
          <a:xfrm>
            <a:off x="502920" y="1225296"/>
            <a:ext cx="5120640" cy="4663440"/>
          </a:xfrm>
          <a:prstGeom prst="rect">
            <a:avLst/>
          </a:prstGeom>
          <a:noFill/>
        </p:spPr>
        <p:txBody>
          <a:bodyPr wrap="square" anchor="t" lIns="45720" rIns="45720"/>
          <a:lstStyle/>
          <a:p>
            <a:pPr algn="l">
              <a:lnSpc>
                <a:spcPct val="105000"/>
              </a:lnSpc>
              <a:spcAft>
                <a:spcPts val="400"/>
              </a:spcAft>
              <a:buNone/>
            </a:pPr>
            <a:r>
              <a:rPr sz="1800" b="1" i="0">
                <a:solidFill>
                  <a:srgbClr val="154360"/>
                </a:solidFill>
                <a:latin typeface="Times New Roman"/>
                <a:cs typeface="Times New Roman"/>
              </a:rPr>
              <a:t>Real inputs (shipped with iFogSim2)</a:t>
            </a:r>
          </a:p>
          <a:p>
            <a:pPr algn="l" marL="237744" indent="-237744">
              <a:lnSpc>
                <a:spcPct val="105000"/>
              </a:lnSpc>
              <a:spcAft>
                <a:spcPts val="400"/>
              </a:spcAft>
              <a:buClr>
                <a:srgbClr val="0079BC"/>
              </a:buClr>
              <a:buFont typeface="Arial"/>
              <a:buChar char="•"/>
            </a:pPr>
            <a:r>
              <a:rPr sz="1500" b="1" i="0">
                <a:solidFill>
                  <a:srgbClr val="1F2933"/>
                </a:solidFill>
                <a:latin typeface="Times New Roman"/>
                <a:cs typeface="Times New Roman"/>
              </a:rPr>
              <a:t>Melbourne CBD edge resources:</a:t>
            </a:r>
            <a:r>
              <a:rPr sz="1500" b="0" i="0">
                <a:solidFill>
                  <a:srgbClr val="1F2933"/>
                </a:solidFill>
                <a:latin typeface="Times New Roman"/>
                <a:cs typeface="Times New Roman"/>
              </a:rPr>
              <a:t> 1 cloud + 118 fog gateways at real coordinates</a:t>
            </a:r>
          </a:p>
          <a:p>
            <a:pPr algn="l" marL="237744" indent="-237744">
              <a:lnSpc>
                <a:spcPct val="105000"/>
              </a:lnSpc>
              <a:spcAft>
                <a:spcPts val="400"/>
              </a:spcAft>
              <a:buClr>
                <a:srgbClr val="0079BC"/>
              </a:buClr>
              <a:buFont typeface="Arial"/>
              <a:buChar char="•"/>
            </a:pPr>
            <a:r>
              <a:rPr sz="1500" b="1" i="0">
                <a:solidFill>
                  <a:srgbClr val="1F2933"/>
                </a:solidFill>
                <a:latin typeface="Times New Roman"/>
                <a:cs typeface="Times New Roman"/>
              </a:rPr>
              <a:t>Mobility traces:</a:t>
            </a:r>
            <a:r>
              <a:rPr sz="1500" b="0" i="0">
                <a:solidFill>
                  <a:srgbClr val="1F2933"/>
                </a:solidFill>
                <a:latin typeface="Times New Roman"/>
                <a:cs typeface="Times New Roman"/>
              </a:rPr>
              <a:t> 20–80 patients walk and hand over between gateways</a:t>
            </a:r>
          </a:p>
          <a:p>
            <a:pPr algn="l" marL="237744" indent="-237744">
              <a:lnSpc>
                <a:spcPct val="105000"/>
              </a:lnSpc>
              <a:spcAft>
                <a:spcPts val="400"/>
              </a:spcAft>
              <a:buClr>
                <a:srgbClr val="0079BC"/>
              </a:buClr>
              <a:buFont typeface="Arial"/>
              <a:buChar char="•"/>
            </a:pPr>
            <a:r>
              <a:rPr sz="1500" b="1" i="0">
                <a:solidFill>
                  <a:srgbClr val="1F2933"/>
                </a:solidFill>
                <a:latin typeface="Times New Roman"/>
                <a:cs typeface="Times New Roman"/>
              </a:rPr>
              <a:t>Cardiac monitoring:</a:t>
            </a:r>
            <a:r>
              <a:rPr sz="1500" b="0" i="0">
                <a:solidFill>
                  <a:srgbClr val="1F2933"/>
                </a:solidFill>
                <a:latin typeface="Times New Roman"/>
                <a:cs typeface="Times New Roman"/>
              </a:rPr>
              <a:t> vitals → ECG analyser on the fog node → alarm; deadline 150 ms</a:t>
            </a:r>
          </a:p>
          <a:p>
            <a:pPr algn="l" marL="237744" indent="-237744">
              <a:lnSpc>
                <a:spcPct val="105000"/>
              </a:lnSpc>
              <a:spcAft>
                <a:spcPts val="400"/>
              </a:spcAft>
              <a:buClr>
                <a:srgbClr val="0079BC"/>
              </a:buClr>
              <a:buFont typeface="Arial"/>
              <a:buChar char="•"/>
            </a:pPr>
            <a:r>
              <a:rPr sz="1500" b="0" i="0">
                <a:solidFill>
                  <a:srgbClr val="1F2933"/>
                </a:solidFill>
                <a:latin typeface="Times New Roman"/>
                <a:cs typeface="Times New Roman"/>
              </a:rPr>
              <a:t>Patients: 25% critical, 45% standard, 30% best-effort</a:t>
            </a:r>
          </a:p>
          <a:p>
            <a:pPr algn="l">
              <a:lnSpc>
                <a:spcPct val="105000"/>
              </a:lnSpc>
              <a:spcAft>
                <a:spcPts val="400"/>
              </a:spcAft>
              <a:buNone/>
            </a:pPr>
            <a:r>
              <a:rPr sz="1800" b="1" i="0">
                <a:solidFill>
                  <a:srgbClr val="154360"/>
                </a:solidFill>
                <a:latin typeface="Times New Roman"/>
                <a:cs typeface="Times New Roman"/>
              </a:rPr>
              <a:t>One record</a:t>
            </a:r>
          </a:p>
          <a:p>
            <a:pPr algn="l" marL="237744" indent="-237744">
              <a:lnSpc>
                <a:spcPct val="105000"/>
              </a:lnSpc>
              <a:spcAft>
                <a:spcPts val="400"/>
              </a:spcAft>
              <a:buClr>
                <a:srgbClr val="0079BC"/>
              </a:buClr>
              <a:buFont typeface="Arial"/>
              <a:buChar char="•"/>
            </a:pPr>
            <a:r>
              <a:rPr sz="1500" b="0" i="0">
                <a:solidFill>
                  <a:srgbClr val="1F2933"/>
                </a:solidFill>
                <a:latin typeface="Times New Roman"/>
                <a:cs typeface="Times New Roman"/>
              </a:rPr>
              <a:t>One device at one epoch (100 time units); 13 channels + device class</a:t>
            </a:r>
          </a:p>
          <a:p>
            <a:pPr algn="l" marL="237744" indent="-237744">
              <a:lnSpc>
                <a:spcPct val="105000"/>
              </a:lnSpc>
              <a:spcAft>
                <a:spcPts val="400"/>
              </a:spcAft>
              <a:buClr>
                <a:srgbClr val="0079BC"/>
              </a:buClr>
              <a:buFont typeface="Arial"/>
              <a:buChar char="•"/>
            </a:pPr>
            <a:r>
              <a:rPr sz="1500" b="1" i="0">
                <a:solidFill>
                  <a:srgbClr val="1F2933"/>
                </a:solidFill>
                <a:latin typeface="Times New Roman"/>
                <a:cs typeface="Times New Roman"/>
              </a:rPr>
              <a:t>Label:</a:t>
            </a:r>
            <a:r>
              <a:rPr sz="1500" b="0" i="0">
                <a:solidFill>
                  <a:srgbClr val="1F2933"/>
                </a:solidFill>
                <a:latin typeface="Times New Roman"/>
                <a:cs typeface="Times New Roman"/>
              </a:rPr>
              <a:t> does the node fail within the next 200 time units?</a:t>
            </a:r>
          </a:p>
          <a:p>
            <a:pPr algn="l" marL="237744" indent="-237744">
              <a:lnSpc>
                <a:spcPct val="105000"/>
              </a:lnSpc>
              <a:spcAft>
                <a:spcPts val="400"/>
              </a:spcAft>
              <a:buClr>
                <a:srgbClr val="0079BC"/>
              </a:buClr>
              <a:buFont typeface="Arial"/>
              <a:buChar char="•"/>
            </a:pPr>
            <a:r>
              <a:rPr sz="1500" b="0" i="0">
                <a:solidFill>
                  <a:srgbClr val="1F2933"/>
                </a:solidFill>
                <a:latin typeface="Times New Roman"/>
                <a:cs typeface="Times New Roman"/>
              </a:rPr>
              <a:t>Hidden health and failure cause stored, </a:t>
            </a:r>
            <a:r>
              <a:rPr sz="1500" b="1" i="0">
                <a:solidFill>
                  <a:srgbClr val="1F2933"/>
                </a:solidFill>
                <a:latin typeface="Times New Roman"/>
                <a:cs typeface="Times New Roman"/>
              </a:rPr>
              <a:t>never used as features</a:t>
            </a:r>
          </a:p>
        </p:txBody>
      </p:sp>
      <p:graphicFrame>
        <p:nvGraphicFramePr>
          <p:cNvPr id="278532" name="Table 278531"/>
          <p:cNvGraphicFramePr>
            <a:graphicFrameLocks noGrp="1"/>
          </p:cNvGraphicFramePr>
          <p:nvPr/>
        </p:nvGraphicFramePr>
        <p:xfrm>
          <a:off x="5897880" y="1298448"/>
          <a:ext cx="5788149" cy="3712464"/>
        </p:xfrm>
        <a:graphic>
          <a:graphicData uri="http://schemas.openxmlformats.org/drawingml/2006/table">
            <a:tbl>
              <a:tblPr firstRow="0" bandRow="0">
                <a:tableStyleId>{5C22544A-7EE6-4342-B048-85BDC9FD1C3A}</a:tableStyleId>
              </a:tblPr>
              <a:tblGrid>
                <a:gridCol w="2552255"/>
                <a:gridCol w="1321703"/>
                <a:gridCol w="1914191"/>
              </a:tblGrid>
              <a:tr h="530352">
                <a:tc>
                  <a:txBody>
                    <a:bodyPr wrap="square"/>
                    <a:lstStyle/>
                    <a:p>
                      <a:pPr algn="l"/>
                      <a:r>
                        <a:rPr sz="1300" b="1" i="0">
                          <a:solidFill>
                            <a:srgbClr val="FFFFFF"/>
                          </a:solidFill>
                          <a:latin typeface="Times New Roman"/>
                          <a:cs typeface="Times New Roman"/>
                        </a:rPr>
                        <a:t>Channel</a:t>
                      </a:r>
                    </a:p>
                  </a:txBody>
                  <a:tcPr marL="64008" marR="64008" marT="27432" marB="27432" anchor="ctr">
                    <a:solidFill>
                      <a:srgbClr val="0079BC"/>
                    </a:solidFill>
                  </a:tcPr>
                </a:tc>
                <a:tc>
                  <a:txBody>
                    <a:bodyPr wrap="square"/>
                    <a:lstStyle/>
                    <a:p>
                      <a:pPr algn="l"/>
                      <a:r>
                        <a:rPr sz="1300" b="1" i="0">
                          <a:solidFill>
                            <a:srgbClr val="FFFFFF"/>
                          </a:solidFill>
                          <a:latin typeface="Times New Roman"/>
                          <a:cs typeface="Times New Roman"/>
                        </a:rPr>
                        <a:t>Feeds</a:t>
                      </a:r>
                    </a:p>
                  </a:txBody>
                  <a:tcPr marL="64008" marR="64008" marT="27432" marB="27432" anchor="ctr">
                    <a:solidFill>
                      <a:srgbClr val="0079BC"/>
                    </a:solidFill>
                  </a:tcPr>
                </a:tc>
                <a:tc>
                  <a:txBody>
                    <a:bodyPr wrap="square"/>
                    <a:lstStyle/>
                    <a:p>
                      <a:pPr algn="l"/>
                      <a:r>
                        <a:rPr sz="1300" b="1" i="0">
                          <a:solidFill>
                            <a:srgbClr val="FFFFFF"/>
                          </a:solidFill>
                          <a:latin typeface="Times New Roman"/>
                          <a:cs typeface="Times New Roman"/>
                        </a:rPr>
                        <a:t>From iFogSim2</a:t>
                      </a:r>
                    </a:p>
                  </a:txBody>
                  <a:tcPr marL="64008" marR="64008" marT="27432" marB="27432" anchor="ctr">
                    <a:solidFill>
                      <a:srgbClr val="0079BC"/>
                    </a:solidFill>
                  </a:tcPr>
                </a:tc>
              </a:tr>
              <a:tr h="530352">
                <a:tc>
                  <a:txBody>
                    <a:bodyPr wrap="square"/>
                    <a:lstStyle/>
                    <a:p>
                      <a:pPr algn="l"/>
                      <a:r>
                        <a:rPr sz="1300" b="0" i="0">
                          <a:solidFill>
                            <a:srgbClr val="1F2933"/>
                          </a:solidFill>
                          <a:latin typeface="Times New Roman"/>
                          <a:cs typeface="Times New Roman"/>
                        </a:rPr>
                        <a:t>cpu_util, ram_util, queue_depth</a:t>
                      </a:r>
                    </a:p>
                  </a:txBody>
                  <a:tcPr marL="64008" marR="64008" marT="27432" marB="27432" anchor="ctr">
                    <a:solidFill>
                      <a:srgbClr val="FFFFFF"/>
                    </a:solidFill>
                  </a:tcPr>
                </a:tc>
                <a:tc>
                  <a:txBody>
                    <a:bodyPr wrap="square"/>
                    <a:lstStyle/>
                    <a:p>
                      <a:pPr algn="l"/>
                      <a:r>
                        <a:rPr sz="1300" b="0" i="0">
                          <a:solidFill>
                            <a:srgbClr val="1F2933"/>
                          </a:solidFill>
                          <a:latin typeface="Times New Roman"/>
                          <a:cs typeface="Times New Roman"/>
                        </a:rPr>
                        <a:t>computational</a:t>
                      </a:r>
                    </a:p>
                  </a:txBody>
                  <a:tcPr marL="64008" marR="64008" marT="27432" marB="27432" anchor="ctr">
                    <a:solidFill>
                      <a:srgbClr val="FFFFFF"/>
                    </a:solidFill>
                  </a:tcPr>
                </a:tc>
                <a:tc>
                  <a:txBody>
                    <a:bodyPr wrap="square"/>
                    <a:lstStyle/>
                    <a:p>
                      <a:pPr algn="l"/>
                      <a:r>
                        <a:rPr sz="1300" b="0" i="0">
                          <a:solidFill>
                            <a:srgbClr val="1F2933"/>
                          </a:solidFill>
                          <a:latin typeface="Times New Roman"/>
                          <a:cs typeface="Times New Roman"/>
                        </a:rPr>
                        <a:t>host work, RAM, queues</a:t>
                      </a:r>
                    </a:p>
                  </a:txBody>
                  <a:tcPr marL="64008" marR="64008" marT="27432" marB="27432" anchor="ctr">
                    <a:solidFill>
                      <a:srgbClr val="FFFFFF"/>
                    </a:solidFill>
                  </a:tcPr>
                </a:tc>
              </a:tr>
              <a:tr h="530352">
                <a:tc>
                  <a:txBody>
                    <a:bodyPr wrap="square"/>
                    <a:lstStyle/>
                    <a:p>
                      <a:pPr algn="l"/>
                      <a:r>
                        <a:rPr sz="1300" b="0" i="0">
                          <a:solidFill>
                            <a:srgbClr val="1F2933"/>
                          </a:solidFill>
                          <a:latin typeface="Times New Roman"/>
                          <a:cs typeface="Times New Roman"/>
                        </a:rPr>
                        <a:t>cpu_trend, queue_trend</a:t>
                      </a:r>
                    </a:p>
                  </a:txBody>
                  <a:tcPr marL="64008" marR="64008" marT="27432" marB="27432" anchor="ctr">
                    <a:solidFill>
                      <a:srgbClr val="F4F6F8"/>
                    </a:solidFill>
                  </a:tcPr>
                </a:tc>
                <a:tc>
                  <a:txBody>
                    <a:bodyPr wrap="square"/>
                    <a:lstStyle/>
                    <a:p>
                      <a:pPr algn="l"/>
                      <a:r>
                        <a:rPr sz="1300" b="0" i="0">
                          <a:solidFill>
                            <a:srgbClr val="1F2933"/>
                          </a:solidFill>
                          <a:latin typeface="Times New Roman"/>
                          <a:cs typeface="Times New Roman"/>
                        </a:rPr>
                        <a:t>computational</a:t>
                      </a:r>
                    </a:p>
                  </a:txBody>
                  <a:tcPr marL="64008" marR="64008" marT="27432" marB="27432" anchor="ctr">
                    <a:solidFill>
                      <a:srgbClr val="F4F6F8"/>
                    </a:solidFill>
                  </a:tcPr>
                </a:tc>
                <a:tc>
                  <a:txBody>
                    <a:bodyPr wrap="square"/>
                    <a:lstStyle/>
                    <a:p>
                      <a:pPr algn="l"/>
                      <a:r>
                        <a:rPr sz="1300" b="0" i="0">
                          <a:solidFill>
                            <a:srgbClr val="1F2933"/>
                          </a:solidFill>
                          <a:latin typeface="Times New Roman"/>
                          <a:cs typeface="Times New Roman"/>
                        </a:rPr>
                        <a:t>agent’s last 3 readings</a:t>
                      </a:r>
                    </a:p>
                  </a:txBody>
                  <a:tcPr marL="64008" marR="64008" marT="27432" marB="27432" anchor="ctr">
                    <a:solidFill>
                      <a:srgbClr val="F4F6F8"/>
                    </a:solidFill>
                  </a:tcPr>
                </a:tc>
              </a:tr>
              <a:tr h="530352">
                <a:tc>
                  <a:txBody>
                    <a:bodyPr wrap="square"/>
                    <a:lstStyle/>
                    <a:p>
                      <a:pPr algn="l"/>
                      <a:r>
                        <a:rPr sz="1300" b="0" i="0">
                          <a:solidFill>
                            <a:srgbClr val="1F2933"/>
                          </a:solidFill>
                          <a:latin typeface="Times New Roman"/>
                          <a:cs typeface="Times New Roman"/>
                        </a:rPr>
                        <a:t>uplink_latency, jitter_pktloss</a:t>
                      </a:r>
                    </a:p>
                  </a:txBody>
                  <a:tcPr marL="64008" marR="64008" marT="27432" marB="27432" anchor="ctr">
                    <a:solidFill>
                      <a:srgbClr val="FFFFFF"/>
                    </a:solidFill>
                  </a:tcPr>
                </a:tc>
                <a:tc>
                  <a:txBody>
                    <a:bodyPr wrap="square"/>
                    <a:lstStyle/>
                    <a:p>
                      <a:pPr algn="l"/>
                      <a:r>
                        <a:rPr sz="1300" b="0" i="0">
                          <a:solidFill>
                            <a:srgbClr val="1F2933"/>
                          </a:solidFill>
                          <a:latin typeface="Times New Roman"/>
                          <a:cs typeface="Times New Roman"/>
                        </a:rPr>
                        <a:t>network</a:t>
                      </a:r>
                    </a:p>
                  </a:txBody>
                  <a:tcPr marL="64008" marR="64008" marT="27432" marB="27432" anchor="ctr">
                    <a:solidFill>
                      <a:srgbClr val="FFFFFF"/>
                    </a:solidFill>
                  </a:tcPr>
                </a:tc>
                <a:tc>
                  <a:txBody>
                    <a:bodyPr wrap="square"/>
                    <a:lstStyle/>
                    <a:p>
                      <a:pPr algn="l"/>
                      <a:r>
                        <a:rPr sz="1300" b="0" i="0">
                          <a:solidFill>
                            <a:srgbClr val="1F2933"/>
                          </a:solidFill>
                          <a:latin typeface="Times New Roman"/>
                          <a:cs typeface="Times New Roman"/>
                        </a:rPr>
                        <a:t>link delay + load; arrivals</a:t>
                      </a:r>
                    </a:p>
                  </a:txBody>
                  <a:tcPr marL="64008" marR="64008" marT="27432" marB="27432" anchor="ctr">
                    <a:solidFill>
                      <a:srgbClr val="FFFFFF"/>
                    </a:solidFill>
                  </a:tcPr>
                </a:tc>
              </a:tr>
              <a:tr h="530352">
                <a:tc>
                  <a:txBody>
                    <a:bodyPr wrap="square"/>
                    <a:lstStyle/>
                    <a:p>
                      <a:pPr algn="l"/>
                      <a:r>
                        <a:rPr sz="1300" b="0" i="0">
                          <a:solidFill>
                            <a:srgbClr val="1F2933"/>
                          </a:solidFill>
                          <a:latin typeface="Times New Roman"/>
                          <a:cs typeface="Times New Roman"/>
                        </a:rPr>
                        <a:t>handover_rate, latency_trend</a:t>
                      </a:r>
                    </a:p>
                  </a:txBody>
                  <a:tcPr marL="64008" marR="64008" marT="27432" marB="27432" anchor="ctr">
                    <a:solidFill>
                      <a:srgbClr val="F4F6F8"/>
                    </a:solidFill>
                  </a:tcPr>
                </a:tc>
                <a:tc>
                  <a:txBody>
                    <a:bodyPr wrap="square"/>
                    <a:lstStyle/>
                    <a:p>
                      <a:pPr algn="l"/>
                      <a:r>
                        <a:rPr sz="1300" b="0" i="0">
                          <a:solidFill>
                            <a:srgbClr val="1F2933"/>
                          </a:solidFill>
                          <a:latin typeface="Times New Roman"/>
                          <a:cs typeface="Times New Roman"/>
                        </a:rPr>
                        <a:t>network</a:t>
                      </a:r>
                    </a:p>
                  </a:txBody>
                  <a:tcPr marL="64008" marR="64008" marT="27432" marB="27432" anchor="ctr">
                    <a:solidFill>
                      <a:srgbClr val="F4F6F8"/>
                    </a:solidFill>
                  </a:tcPr>
                </a:tc>
                <a:tc>
                  <a:txBody>
                    <a:bodyPr wrap="square"/>
                    <a:lstStyle/>
                    <a:p>
                      <a:pPr algn="l"/>
                      <a:r>
                        <a:rPr sz="1300" b="0" i="0">
                          <a:solidFill>
                            <a:srgbClr val="1F2933"/>
                          </a:solidFill>
                          <a:latin typeface="Times New Roman"/>
                          <a:cs typeface="Times New Roman"/>
                        </a:rPr>
                        <a:t>mobility; trend</a:t>
                      </a:r>
                    </a:p>
                  </a:txBody>
                  <a:tcPr marL="64008" marR="64008" marT="27432" marB="27432" anchor="ctr">
                    <a:solidFill>
                      <a:srgbClr val="F4F6F8"/>
                    </a:solidFill>
                  </a:tcPr>
                </a:tc>
              </a:tr>
              <a:tr h="530352">
                <a:tc>
                  <a:txBody>
                    <a:bodyPr wrap="square"/>
                    <a:lstStyle/>
                    <a:p>
                      <a:pPr algn="l"/>
                      <a:r>
                        <a:rPr sz="1300" b="0" i="0">
                          <a:solidFill>
                            <a:srgbClr val="1F2933"/>
                          </a:solidFill>
                          <a:latin typeface="Times New Roman"/>
                          <a:cs typeface="Times New Roman"/>
                        </a:rPr>
                        <a:t>residual_energy, energy_drain</a:t>
                      </a:r>
                    </a:p>
                  </a:txBody>
                  <a:tcPr marL="64008" marR="64008" marT="27432" marB="27432" anchor="ctr">
                    <a:solidFill>
                      <a:srgbClr val="FFFFFF"/>
                    </a:solidFill>
                  </a:tcPr>
                </a:tc>
                <a:tc>
                  <a:txBody>
                    <a:bodyPr wrap="square"/>
                    <a:lstStyle/>
                    <a:p>
                      <a:pPr algn="l"/>
                      <a:r>
                        <a:rPr sz="1300" b="0" i="0">
                          <a:solidFill>
                            <a:srgbClr val="1F2933"/>
                          </a:solidFill>
                          <a:latin typeface="Times New Roman"/>
                          <a:cs typeface="Times New Roman"/>
                        </a:rPr>
                        <a:t>energy</a:t>
                      </a:r>
                    </a:p>
                  </a:txBody>
                  <a:tcPr marL="64008" marR="64008" marT="27432" marB="27432" anchor="ctr">
                    <a:solidFill>
                      <a:srgbClr val="FFFFFF"/>
                    </a:solidFill>
                  </a:tcPr>
                </a:tc>
                <a:tc>
                  <a:txBody>
                    <a:bodyPr wrap="square"/>
                    <a:lstStyle/>
                    <a:p>
                      <a:pPr algn="l"/>
                      <a:r>
                        <a:rPr sz="1300" b="0" i="0">
                          <a:solidFill>
                            <a:srgbClr val="1F2933"/>
                          </a:solidFill>
                          <a:latin typeface="Times New Roman"/>
                          <a:cs typeface="Times New Roman"/>
                        </a:rPr>
                        <a:t>power model</a:t>
                      </a:r>
                    </a:p>
                  </a:txBody>
                  <a:tcPr marL="64008" marR="64008" marT="27432" marB="27432" anchor="ctr">
                    <a:solidFill>
                      <a:srgbClr val="FFFFFF"/>
                    </a:solidFill>
                  </a:tcPr>
                </a:tc>
              </a:tr>
              <a:tr h="530352">
                <a:tc>
                  <a:txBody>
                    <a:bodyPr wrap="square"/>
                    <a:lstStyle/>
                    <a:p>
                      <a:pPr algn="l"/>
                      <a:r>
                        <a:rPr sz="1300" b="0" i="0">
                          <a:solidFill>
                            <a:srgbClr val="1F2933"/>
                          </a:solidFill>
                          <a:latin typeface="Times New Roman"/>
                          <a:cs typeface="Times New Roman"/>
                        </a:rPr>
                        <a:t>temperature, temp_trend</a:t>
                      </a:r>
                    </a:p>
                  </a:txBody>
                  <a:tcPr marL="64008" marR="64008" marT="27432" marB="27432" anchor="ctr">
                    <a:solidFill>
                      <a:srgbClr val="F4F6F8"/>
                    </a:solidFill>
                  </a:tcPr>
                </a:tc>
                <a:tc>
                  <a:txBody>
                    <a:bodyPr wrap="square"/>
                    <a:lstStyle/>
                    <a:p>
                      <a:pPr algn="l"/>
                      <a:r>
                        <a:rPr sz="1300" b="0" i="0">
                          <a:solidFill>
                            <a:srgbClr val="1F2933"/>
                          </a:solidFill>
                          <a:latin typeface="Times New Roman"/>
                          <a:cs typeface="Times New Roman"/>
                        </a:rPr>
                        <a:t>thermal</a:t>
                      </a:r>
                    </a:p>
                  </a:txBody>
                  <a:tcPr marL="64008" marR="64008" marT="27432" marB="27432" anchor="ctr">
                    <a:solidFill>
                      <a:srgbClr val="F4F6F8"/>
                    </a:solidFill>
                  </a:tcPr>
                </a:tc>
                <a:tc>
                  <a:txBody>
                    <a:bodyPr wrap="square"/>
                    <a:lstStyle/>
                    <a:p>
                      <a:pPr algn="l"/>
                      <a:r>
                        <a:rPr sz="1300" b="0" i="0">
                          <a:solidFill>
                            <a:srgbClr val="1F2933"/>
                          </a:solidFill>
                          <a:latin typeface="Times New Roman"/>
                          <a:cs typeface="Times New Roman"/>
                        </a:rPr>
                        <a:t>fog/cloud only</a:t>
                      </a:r>
                    </a:p>
                  </a:txBody>
                  <a:tcPr marL="64008" marR="64008" marT="27432" marB="27432" anchor="ctr">
                    <a:solidFill>
                      <a:srgbClr val="F4F6F8"/>
                    </a:solidFill>
                  </a:tcPr>
                </a:tc>
              </a:tr>
            </a:tbl>
          </a:graphicData>
        </a:graphic>
      </p:graphicFrame>
      <p:sp>
        <p:nvSpPr>
          <p:cNvPr id="278533" name="TextBox 278532"/>
          <p:cNvSpPr txBox="1"/>
          <p:nvPr/>
        </p:nvSpPr>
        <p:spPr>
          <a:xfrm>
            <a:off x="5897880" y="5120640"/>
            <a:ext cx="5788151" cy="731520"/>
          </a:xfrm>
          <a:prstGeom prst="rect">
            <a:avLst/>
          </a:prstGeom>
          <a:noFill/>
        </p:spPr>
        <p:txBody>
          <a:bodyPr wrap="square" anchor="t" lIns="45720" rIns="45720"/>
          <a:lstStyle/>
          <a:p>
            <a:pPr algn="l">
              <a:lnSpc>
                <a:spcPct val="105000"/>
              </a:lnSpc>
              <a:spcAft>
                <a:spcPts val="0"/>
              </a:spcAft>
              <a:buNone/>
            </a:pPr>
            <a:r>
              <a:rPr sz="1300" b="0" i="1">
                <a:solidFill>
                  <a:srgbClr val="52606D"/>
                </a:solidFill>
                <a:latin typeface="Times New Roman"/>
                <a:cs typeface="Times New Roman"/>
              </a:rPr>
              <a:t>Missing values stay missing: temperature on edge devices, jitter with fewer than three tuples, trends without history.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Dataset Description — Fault Model and Split</a:t>
            </a:r>
            <a:endParaRPr lang="en-US" sz="2800">
              <a:solidFill>
                <a:schemeClr val="bg1"/>
              </a:solidFill>
            </a:endParaRPr>
          </a:p>
        </p:txBody>
      </p:sp>
      <p:pic>
        <p:nvPicPr>
          <p:cNvPr id="278531" name="Picture 278530" descr="fig05_split.png"/>
          <p:cNvPicPr>
            <a:picLocks noChangeAspect="1"/>
          </p:cNvPicPr>
          <p:nvPr/>
        </p:nvPicPr>
        <p:blipFill>
          <a:blip r:embed="rId3"/>
          <a:stretch>
            <a:fillRect/>
          </a:stretch>
        </p:blipFill>
        <p:spPr>
          <a:xfrm>
            <a:off x="502920" y="1252728"/>
            <a:ext cx="5394960" cy="2952679"/>
          </a:xfrm>
          <a:prstGeom prst="rect">
            <a:avLst/>
          </a:prstGeom>
        </p:spPr>
      </p:pic>
      <p:sp>
        <p:nvSpPr>
          <p:cNvPr id="278532" name="TextBox 278531"/>
          <p:cNvSpPr txBox="1"/>
          <p:nvPr/>
        </p:nvSpPr>
        <p:spPr>
          <a:xfrm>
            <a:off x="6172200" y="1225296"/>
            <a:ext cx="5513831" cy="2377440"/>
          </a:xfrm>
          <a:prstGeom prst="rect">
            <a:avLst/>
          </a:prstGeom>
          <a:noFill/>
        </p:spPr>
        <p:txBody>
          <a:bodyPr wrap="square" anchor="t" lIns="45720" rIns="45720"/>
          <a:lstStyle/>
          <a:p>
            <a:pPr algn="l">
              <a:lnSpc>
                <a:spcPct val="105000"/>
              </a:lnSpc>
              <a:spcAft>
                <a:spcPts val="400"/>
              </a:spcAft>
              <a:buNone/>
            </a:pPr>
            <a:r>
              <a:rPr sz="1800" b="1" i="0">
                <a:solidFill>
                  <a:srgbClr val="154360"/>
                </a:solidFill>
                <a:latin typeface="Times New Roman"/>
                <a:cs typeface="Times New Roman"/>
              </a:rPr>
              <a:t>Fault model</a:t>
            </a:r>
          </a:p>
          <a:p>
            <a:pPr algn="l" marL="237744" indent="-237744">
              <a:lnSpc>
                <a:spcPct val="105000"/>
              </a:lnSpc>
              <a:spcAft>
                <a:spcPts val="400"/>
              </a:spcAft>
              <a:buClr>
                <a:srgbClr val="0079BC"/>
              </a:buClr>
              <a:buFont typeface="Arial"/>
              <a:buChar char="•"/>
            </a:pPr>
            <a:r>
              <a:rPr sz="1500" b="0" i="0">
                <a:solidFill>
                  <a:srgbClr val="1F2933"/>
                </a:solidFill>
                <a:latin typeface="Times New Roman"/>
                <a:cs typeface="Times New Roman"/>
              </a:rPr>
              <a:t>Hidden health wears faster under load, backlog, heat, energy depletion and poor links</a:t>
            </a:r>
          </a:p>
          <a:p>
            <a:pPr algn="l" marL="237744" indent="-237744">
              <a:lnSpc>
                <a:spcPct val="105000"/>
              </a:lnSpc>
              <a:spcAft>
                <a:spcPts val="400"/>
              </a:spcAft>
              <a:buClr>
                <a:srgbClr val="0079BC"/>
              </a:buClr>
              <a:buFont typeface="Arial"/>
              <a:buChar char="•"/>
            </a:pPr>
            <a:r>
              <a:rPr sz="1500" b="1" i="0">
                <a:solidFill>
                  <a:srgbClr val="1F2933"/>
                </a:solidFill>
                <a:latin typeface="Times New Roman"/>
                <a:cs typeface="Times New Roman"/>
              </a:rPr>
              <a:t>Fail-slow symptoms</a:t>
            </a:r>
            <a:r>
              <a:rPr sz="1500" b="0" i="0">
                <a:solidFill>
                  <a:srgbClr val="1F2933"/>
                </a:solidFill>
                <a:latin typeface="Times New Roman"/>
                <a:cs typeface="Times New Roman"/>
              </a:rPr>
              <a:t> inside iFogSim: more CPU per tuple, slower links, more power and heat</a:t>
            </a:r>
          </a:p>
          <a:p>
            <a:pPr algn="l" marL="237744" indent="-237744">
              <a:lnSpc>
                <a:spcPct val="105000"/>
              </a:lnSpc>
              <a:spcAft>
                <a:spcPts val="400"/>
              </a:spcAft>
              <a:buClr>
                <a:srgbClr val="0079BC"/>
              </a:buClr>
              <a:buFont typeface="Arial"/>
              <a:buChar char="•"/>
            </a:pPr>
            <a:r>
              <a:rPr sz="1500" b="0" i="0">
                <a:solidFill>
                  <a:srgbClr val="1F2933"/>
                </a:solidFill>
                <a:latin typeface="Times New Roman"/>
                <a:cs typeface="Times New Roman"/>
              </a:rPr>
              <a:t>Wear-out, battery and </a:t>
            </a:r>
            <a:r>
              <a:rPr sz="1500" b="1" i="0">
                <a:solidFill>
                  <a:srgbClr val="1F2933"/>
                </a:solidFill>
                <a:latin typeface="Times New Roman"/>
                <a:cs typeface="Times New Roman"/>
              </a:rPr>
              <a:t>sudden</a:t>
            </a:r>
            <a:r>
              <a:rPr sz="1500" b="0" i="0">
                <a:solidFill>
                  <a:srgbClr val="1F2933"/>
                </a:solidFill>
                <a:latin typeface="Times New Roman"/>
                <a:cs typeface="Times New Roman"/>
              </a:rPr>
              <a:t> failures (≈ 1 in 5, no precursor)</a:t>
            </a:r>
          </a:p>
        </p:txBody>
      </p:sp>
      <p:graphicFrame>
        <p:nvGraphicFramePr>
          <p:cNvPr id="278533" name="Table 278532"/>
          <p:cNvGraphicFramePr>
            <a:graphicFrameLocks noGrp="1"/>
          </p:cNvGraphicFramePr>
          <p:nvPr/>
        </p:nvGraphicFramePr>
        <p:xfrm>
          <a:off x="6172200" y="3840480"/>
          <a:ext cx="5513828" cy="1152144"/>
        </p:xfrm>
        <a:graphic>
          <a:graphicData uri="http://schemas.openxmlformats.org/drawingml/2006/table">
            <a:tbl>
              <a:tblPr firstRow="0" bandRow="0">
                <a:tableStyleId>{5C22544A-7EE6-4342-B048-85BDC9FD1C3A}</a:tableStyleId>
              </a:tblPr>
              <a:tblGrid>
                <a:gridCol w="1235858"/>
                <a:gridCol w="760528"/>
                <a:gridCol w="1235858"/>
                <a:gridCol w="1045726"/>
                <a:gridCol w="1235858"/>
              </a:tblGrid>
              <a:tr h="384048">
                <a:tc>
                  <a:txBody>
                    <a:bodyPr wrap="square"/>
                    <a:lstStyle/>
                    <a:p>
                      <a:pPr algn="l"/>
                      <a:r>
                        <a:rPr sz="1400" b="1" i="0">
                          <a:solidFill>
                            <a:srgbClr val="FFFFFF"/>
                          </a:solidFill>
                          <a:latin typeface="Times New Roman"/>
                          <a:cs typeface="Times New Roman"/>
                        </a:rPr>
                        <a:t>Pool</a:t>
                      </a:r>
                    </a:p>
                  </a:txBody>
                  <a:tcPr marL="64008" marR="64008" marT="27432" marB="27432" anchor="ctr">
                    <a:solidFill>
                      <a:srgbClr val="0079BC"/>
                    </a:solidFill>
                  </a:tcPr>
                </a:tc>
                <a:tc>
                  <a:txBody>
                    <a:bodyPr wrap="square"/>
                    <a:lstStyle/>
                    <a:p>
                      <a:pPr algn="ctr"/>
                      <a:r>
                        <a:rPr sz="1400" b="1" i="0">
                          <a:solidFill>
                            <a:srgbClr val="FFFFFF"/>
                          </a:solidFill>
                          <a:latin typeface="Times New Roman"/>
                          <a:cs typeface="Times New Roman"/>
                        </a:rPr>
                        <a:t>Runs</a:t>
                      </a:r>
                    </a:p>
                  </a:txBody>
                  <a:tcPr marL="64008" marR="64008" marT="27432" marB="27432" anchor="ctr">
                    <a:solidFill>
                      <a:srgbClr val="0079BC"/>
                    </a:solidFill>
                  </a:tcPr>
                </a:tc>
                <a:tc>
                  <a:txBody>
                    <a:bodyPr wrap="square"/>
                    <a:lstStyle/>
                    <a:p>
                      <a:pPr algn="ctr"/>
                      <a:r>
                        <a:rPr sz="1400" b="1" i="0">
                          <a:solidFill>
                            <a:srgbClr val="FFFFFF"/>
                          </a:solidFill>
                          <a:latin typeface="Times New Roman"/>
                          <a:cs typeface="Times New Roman"/>
                        </a:rPr>
                        <a:t>Snapshots</a:t>
                      </a:r>
                    </a:p>
                  </a:txBody>
                  <a:tcPr marL="64008" marR="64008" marT="27432" marB="27432" anchor="ctr">
                    <a:solidFill>
                      <a:srgbClr val="0079BC"/>
                    </a:solidFill>
                  </a:tcPr>
                </a:tc>
                <a:tc>
                  <a:txBody>
                    <a:bodyPr wrap="square"/>
                    <a:lstStyle/>
                    <a:p>
                      <a:pPr algn="ctr"/>
                      <a:r>
                        <a:rPr sz="1400" b="1" i="0">
                          <a:solidFill>
                            <a:srgbClr val="FFFFFF"/>
                          </a:solidFill>
                          <a:latin typeface="Times New Roman"/>
                          <a:cs typeface="Times New Roman"/>
                        </a:rPr>
                        <a:t>Failing</a:t>
                      </a:r>
                    </a:p>
                  </a:txBody>
                  <a:tcPr marL="64008" marR="64008" marT="27432" marB="27432" anchor="ctr">
                    <a:solidFill>
                      <a:srgbClr val="0079BC"/>
                    </a:solidFill>
                  </a:tcPr>
                </a:tc>
                <a:tc>
                  <a:txBody>
                    <a:bodyPr wrap="square"/>
                    <a:lstStyle/>
                    <a:p>
                      <a:pPr algn="ctr"/>
                      <a:r>
                        <a:rPr sz="1400" b="1" i="0">
                          <a:solidFill>
                            <a:srgbClr val="FFFFFF"/>
                          </a:solidFill>
                          <a:latin typeface="Times New Roman"/>
                          <a:cs typeface="Times New Roman"/>
                        </a:rPr>
                        <a:t>Prevalence</a:t>
                      </a:r>
                    </a:p>
                  </a:txBody>
                  <a:tcPr marL="64008" marR="64008" marT="27432" marB="27432" anchor="ctr">
                    <a:solidFill>
                      <a:srgbClr val="0079BC"/>
                    </a:solidFill>
                  </a:tcPr>
                </a:tc>
              </a:tr>
              <a:tr h="384048">
                <a:tc>
                  <a:txBody>
                    <a:bodyPr wrap="square"/>
                    <a:lstStyle/>
                    <a:p>
                      <a:pPr algn="l"/>
                      <a:r>
                        <a:rPr sz="1400" b="0" i="0">
                          <a:solidFill>
                            <a:srgbClr val="1F2933"/>
                          </a:solidFill>
                          <a:latin typeface="Times New Roman"/>
                          <a:cs typeface="Times New Roman"/>
                        </a:rPr>
                        <a:t>Training</a:t>
                      </a:r>
                    </a:p>
                  </a:txBody>
                  <a:tcPr marL="64008" marR="64008" marT="27432" marB="27432" anchor="ctr">
                    <a:solidFill>
                      <a:srgbClr val="FFFFFF"/>
                    </a:solidFill>
                  </a:tcPr>
                </a:tc>
                <a:tc>
                  <a:txBody>
                    <a:bodyPr wrap="square"/>
                    <a:lstStyle/>
                    <a:p>
                      <a:pPr algn="ctr"/>
                      <a:r>
                        <a:rPr sz="1400" b="0" i="0">
                          <a:solidFill>
                            <a:srgbClr val="1F2933"/>
                          </a:solidFill>
                          <a:latin typeface="Times New Roman"/>
                          <a:cs typeface="Times New Roman"/>
                        </a:rPr>
                        <a:t>21</a:t>
                      </a:r>
                    </a:p>
                  </a:txBody>
                  <a:tcPr marL="64008" marR="64008" marT="27432" marB="27432" anchor="ctr">
                    <a:solidFill>
                      <a:srgbClr val="FFFFFF"/>
                    </a:solidFill>
                  </a:tcPr>
                </a:tc>
                <a:tc>
                  <a:txBody>
                    <a:bodyPr wrap="square"/>
                    <a:lstStyle/>
                    <a:p>
                      <a:pPr algn="ctr"/>
                      <a:r>
                        <a:rPr sz="1400" b="0" i="0">
                          <a:solidFill>
                            <a:srgbClr val="1F2933"/>
                          </a:solidFill>
                          <a:latin typeface="Times New Roman"/>
                          <a:cs typeface="Times New Roman"/>
                        </a:rPr>
                        <a:t>314,323</a:t>
                      </a:r>
                    </a:p>
                  </a:txBody>
                  <a:tcPr marL="64008" marR="64008" marT="27432" marB="27432" anchor="ctr">
                    <a:solidFill>
                      <a:srgbClr val="FFFFFF"/>
                    </a:solidFill>
                  </a:tcPr>
                </a:tc>
                <a:tc>
                  <a:txBody>
                    <a:bodyPr wrap="square"/>
                    <a:lstStyle/>
                    <a:p>
                      <a:pPr algn="ctr"/>
                      <a:r>
                        <a:rPr sz="1400" b="0" i="0">
                          <a:solidFill>
                            <a:srgbClr val="1F2933"/>
                          </a:solidFill>
                          <a:latin typeface="Times New Roman"/>
                          <a:cs typeface="Times New Roman"/>
                        </a:rPr>
                        <a:t>1,508</a:t>
                      </a:r>
                    </a:p>
                  </a:txBody>
                  <a:tcPr marL="64008" marR="64008" marT="27432" marB="27432" anchor="ctr">
                    <a:solidFill>
                      <a:srgbClr val="FFFFFF"/>
                    </a:solidFill>
                  </a:tcPr>
                </a:tc>
                <a:tc>
                  <a:txBody>
                    <a:bodyPr wrap="square"/>
                    <a:lstStyle/>
                    <a:p>
                      <a:pPr algn="ctr"/>
                      <a:r>
                        <a:rPr sz="1400" b="0" i="0">
                          <a:solidFill>
                            <a:srgbClr val="1F2933"/>
                          </a:solidFill>
                          <a:latin typeface="Times New Roman"/>
                          <a:cs typeface="Times New Roman"/>
                        </a:rPr>
                        <a:t>0.48%</a:t>
                      </a:r>
                    </a:p>
                  </a:txBody>
                  <a:tcPr marL="64008" marR="64008" marT="27432" marB="27432" anchor="ctr">
                    <a:solidFill>
                      <a:srgbClr val="FFFFFF"/>
                    </a:solidFill>
                  </a:tcPr>
                </a:tc>
              </a:tr>
              <a:tr h="384048">
                <a:tc>
                  <a:txBody>
                    <a:bodyPr wrap="square"/>
                    <a:lstStyle/>
                    <a:p>
                      <a:pPr algn="l"/>
                      <a:r>
                        <a:rPr sz="1400" b="0" i="0">
                          <a:solidFill>
                            <a:srgbClr val="1F2933"/>
                          </a:solidFill>
                          <a:latin typeface="Times New Roman"/>
                          <a:cs typeface="Times New Roman"/>
                        </a:rPr>
                        <a:t>Held out</a:t>
                      </a:r>
                    </a:p>
                  </a:txBody>
                  <a:tcPr marL="64008" marR="64008" marT="27432" marB="27432" anchor="ctr">
                    <a:solidFill>
                      <a:srgbClr val="F4F6F8"/>
                    </a:solidFill>
                  </a:tcPr>
                </a:tc>
                <a:tc>
                  <a:txBody>
                    <a:bodyPr wrap="square"/>
                    <a:lstStyle/>
                    <a:p>
                      <a:pPr algn="ctr"/>
                      <a:r>
                        <a:rPr sz="1400" b="0" i="0">
                          <a:solidFill>
                            <a:srgbClr val="1F2933"/>
                          </a:solidFill>
                          <a:latin typeface="Times New Roman"/>
                          <a:cs typeface="Times New Roman"/>
                        </a:rPr>
                        <a:t>10</a:t>
                      </a:r>
                    </a:p>
                  </a:txBody>
                  <a:tcPr marL="64008" marR="64008" marT="27432" marB="27432" anchor="ctr">
                    <a:solidFill>
                      <a:srgbClr val="F4F6F8"/>
                    </a:solidFill>
                  </a:tcPr>
                </a:tc>
                <a:tc>
                  <a:txBody>
                    <a:bodyPr wrap="square"/>
                    <a:lstStyle/>
                    <a:p>
                      <a:pPr algn="ctr"/>
                      <a:r>
                        <a:rPr sz="1400" b="0" i="0">
                          <a:solidFill>
                            <a:srgbClr val="1F2933"/>
                          </a:solidFill>
                          <a:latin typeface="Times New Roman"/>
                          <a:cs typeface="Times New Roman"/>
                        </a:rPr>
                        <a:t>160,823</a:t>
                      </a:r>
                    </a:p>
                  </a:txBody>
                  <a:tcPr marL="64008" marR="64008" marT="27432" marB="27432" anchor="ctr">
                    <a:solidFill>
                      <a:srgbClr val="F4F6F8"/>
                    </a:solidFill>
                  </a:tcPr>
                </a:tc>
                <a:tc>
                  <a:txBody>
                    <a:bodyPr wrap="square"/>
                    <a:lstStyle/>
                    <a:p>
                      <a:pPr algn="ctr"/>
                      <a:r>
                        <a:rPr sz="1400" b="0" i="0">
                          <a:solidFill>
                            <a:srgbClr val="1F2933"/>
                          </a:solidFill>
                          <a:latin typeface="Times New Roman"/>
                          <a:cs typeface="Times New Roman"/>
                        </a:rPr>
                        <a:t>422</a:t>
                      </a:r>
                    </a:p>
                  </a:txBody>
                  <a:tcPr marL="64008" marR="64008" marT="27432" marB="27432" anchor="ctr">
                    <a:solidFill>
                      <a:srgbClr val="F4F6F8"/>
                    </a:solidFill>
                  </a:tcPr>
                </a:tc>
                <a:tc>
                  <a:txBody>
                    <a:bodyPr wrap="square"/>
                    <a:lstStyle/>
                    <a:p>
                      <a:pPr algn="ctr"/>
                      <a:r>
                        <a:rPr sz="1400" b="0" i="0">
                          <a:solidFill>
                            <a:srgbClr val="1F2933"/>
                          </a:solidFill>
                          <a:latin typeface="Times New Roman"/>
                          <a:cs typeface="Times New Roman"/>
                        </a:rPr>
                        <a:t>0.26%</a:t>
                      </a:r>
                    </a:p>
                  </a:txBody>
                  <a:tcPr marL="64008" marR="64008" marT="27432" marB="27432" anchor="ctr">
                    <a:solidFill>
                      <a:srgbClr val="F4F6F8"/>
                    </a:solidFill>
                  </a:tcPr>
                </a:tc>
              </a:tr>
            </a:tbl>
          </a:graphicData>
        </a:graphic>
      </p:graphicFrame>
      <p:sp>
        <p:nvSpPr>
          <p:cNvPr id="278534" name="Rounded Rectangle 278533"/>
          <p:cNvSpPr/>
          <p:nvPr/>
        </p:nvSpPr>
        <p:spPr>
          <a:xfrm>
            <a:off x="6172200" y="5166360"/>
            <a:ext cx="5513831" cy="713232"/>
          </a:xfrm>
          <a:prstGeom prst="roundRect">
            <a:avLst>
              <a:gd name="adj" fmla="val 6000"/>
            </a:avLst>
          </a:prstGeom>
          <a:solidFill>
            <a:srgbClr val="EEF8F3"/>
          </a:solidFill>
          <a:ln w="15875">
            <a:solidFill>
              <a:srgbClr val="0F8A6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5" name="TextBox 278534"/>
          <p:cNvSpPr txBox="1"/>
          <p:nvPr/>
        </p:nvSpPr>
        <p:spPr>
          <a:xfrm>
            <a:off x="6309360" y="5193792"/>
            <a:ext cx="5239512" cy="658368"/>
          </a:xfrm>
          <a:prstGeom prst="rect">
            <a:avLst/>
          </a:prstGeom>
          <a:noFill/>
        </p:spPr>
        <p:txBody>
          <a:bodyPr wrap="square" anchor="ctr" lIns="45720" rIns="45720"/>
          <a:lstStyle/>
          <a:p>
            <a:pPr algn="l">
              <a:lnSpc>
                <a:spcPct val="105000"/>
              </a:lnSpc>
              <a:spcAft>
                <a:spcPts val="0"/>
              </a:spcAft>
              <a:buNone/>
            </a:pPr>
            <a:r>
              <a:rPr sz="1400" b="1" i="0">
                <a:solidFill>
                  <a:srgbClr val="1F2933"/>
                </a:solidFill>
                <a:latin typeface="Times New Roman"/>
                <a:cs typeface="Times New Roman"/>
              </a:rPr>
              <a:t>Leak audit:</a:t>
            </a:r>
            <a:r>
              <a:rPr sz="1400" b="0" i="0">
                <a:solidFill>
                  <a:srgbClr val="1F2933"/>
                </a:solidFill>
                <a:latin typeface="Times New Roman"/>
                <a:cs typeface="Times New Roman"/>
              </a:rPr>
              <a:t> shared failures at the same epoch 92.1% (Review 2 injector) → </a:t>
            </a:r>
            <a:r>
              <a:rPr sz="1400" b="1" i="0">
                <a:solidFill>
                  <a:srgbClr val="1F2933"/>
                </a:solidFill>
                <a:latin typeface="Times New Roman"/>
                <a:cs typeface="Times New Roman"/>
              </a:rPr>
              <a:t>2.0%</a:t>
            </a:r>
            <a:r>
              <a:rPr sz="1400" b="0" i="0">
                <a:solidFill>
                  <a:srgbClr val="1F2933"/>
                </a:solidFill>
                <a:latin typeface="Times New Roman"/>
                <a:cs typeface="Times New Roman"/>
              </a:rPr>
              <a:t> now, i.e. chance level</a:t>
            </a:r>
          </a:p>
        </p:txBody>
      </p:sp>
      <p:sp>
        <p:nvSpPr>
          <p:cNvPr id="278536" name="TextBox 278535"/>
          <p:cNvSpPr txBox="1"/>
          <p:nvPr/>
        </p:nvSpPr>
        <p:spPr>
          <a:xfrm>
            <a:off x="502920" y="5120640"/>
            <a:ext cx="5394960" cy="310896"/>
          </a:xfrm>
          <a:prstGeom prst="rect">
            <a:avLst/>
          </a:prstGeom>
          <a:noFill/>
        </p:spPr>
        <p:txBody>
          <a:bodyPr wrap="square" anchor="t" lIns="45720" rIns="45720"/>
          <a:lstStyle/>
          <a:p>
            <a:pPr algn="ctr">
              <a:lnSpc>
                <a:spcPct val="105000"/>
              </a:lnSpc>
              <a:spcAft>
                <a:spcPts val="0"/>
              </a:spcAft>
              <a:buNone/>
            </a:pPr>
            <a:r>
              <a:rPr sz="1200" b="0" i="1">
                <a:solidFill>
                  <a:srgbClr val="52606D"/>
                </a:solidFill>
                <a:latin typeface="Times New Roman"/>
                <a:cs typeface="Times New Roman"/>
              </a:rPr>
              <a:t>12 operating regimes; held-out runs use unseen regimes and unseen seeds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Implementation — Technology Stack and Code</a:t>
            </a:r>
            <a:endParaRPr lang="en-US" sz="2800">
              <a:solidFill>
                <a:schemeClr val="bg1"/>
              </a:solidFill>
            </a:endParaRPr>
          </a:p>
        </p:txBody>
      </p:sp>
      <p:pic>
        <p:nvPicPr>
          <p:cNvPr id="278531" name="Picture 278530" descr="fig06_implementation.png"/>
          <p:cNvPicPr>
            <a:picLocks noChangeAspect="1"/>
          </p:cNvPicPr>
          <p:nvPr/>
        </p:nvPicPr>
        <p:blipFill>
          <a:blip r:embed="rId3"/>
          <a:stretch>
            <a:fillRect/>
          </a:stretch>
        </p:blipFill>
        <p:spPr>
          <a:xfrm>
            <a:off x="502920" y="1188720"/>
            <a:ext cx="11183111" cy="4547747"/>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Demonstration — bash run_demo.sh (1/3)</a:t>
            </a:r>
            <a:endParaRPr lang="en-US" sz="2800">
              <a:solidFill>
                <a:schemeClr val="bg1"/>
              </a:solidFill>
            </a:endParaRPr>
          </a:p>
        </p:txBody>
      </p:sp>
      <p:pic>
        <p:nvPicPr>
          <p:cNvPr id="278531" name="Picture 278530" descr="demo_training.png"/>
          <p:cNvPicPr>
            <a:picLocks noChangeAspect="1"/>
          </p:cNvPicPr>
          <p:nvPr/>
        </p:nvPicPr>
        <p:blipFill>
          <a:blip r:embed="rId3"/>
          <a:stretch>
            <a:fillRect/>
          </a:stretch>
        </p:blipFill>
        <p:spPr>
          <a:xfrm>
            <a:off x="502920" y="1252728"/>
            <a:ext cx="7044674" cy="3291840"/>
          </a:xfrm>
          <a:prstGeom prst="rect">
            <a:avLst/>
          </a:prstGeom>
        </p:spPr>
      </p:pic>
      <p:sp>
        <p:nvSpPr>
          <p:cNvPr id="278532" name="Rounded Rectangle 278531"/>
          <p:cNvSpPr/>
          <p:nvPr/>
        </p:nvSpPr>
        <p:spPr>
          <a:xfrm>
            <a:off x="502920" y="4572000"/>
            <a:ext cx="2496312" cy="1188720"/>
          </a:xfrm>
          <a:prstGeom prst="roundRect">
            <a:avLst>
              <a:gd name="adj" fmla="val 6000"/>
            </a:avLst>
          </a:prstGeom>
          <a:solidFill>
            <a:srgbClr val="FFFFFF"/>
          </a:solidFill>
          <a:ln w="12700">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3" name="TextBox 278532"/>
          <p:cNvSpPr txBox="1"/>
          <p:nvPr/>
        </p:nvSpPr>
        <p:spPr>
          <a:xfrm>
            <a:off x="576072" y="4626864"/>
            <a:ext cx="2350008" cy="502920"/>
          </a:xfrm>
          <a:prstGeom prst="rect">
            <a:avLst/>
          </a:prstGeom>
          <a:noFill/>
        </p:spPr>
        <p:txBody>
          <a:bodyPr wrap="square" anchor="t" lIns="45720" rIns="45720"/>
          <a:lstStyle/>
          <a:p>
            <a:pPr algn="ctr">
              <a:lnSpc>
                <a:spcPct val="105000"/>
              </a:lnSpc>
              <a:spcAft>
                <a:spcPts val="0"/>
              </a:spcAft>
              <a:buNone/>
            </a:pPr>
            <a:r>
              <a:rPr sz="2100" b="1" i="0">
                <a:solidFill>
                  <a:srgbClr val="0F8A6A"/>
                </a:solidFill>
                <a:latin typeface="Times New Roman"/>
                <a:cs typeface="Times New Roman"/>
              </a:rPr>
              <a:t>314,323 → 43,374</a:t>
            </a:r>
          </a:p>
        </p:txBody>
      </p:sp>
      <p:sp>
        <p:nvSpPr>
          <p:cNvPr id="278534" name="TextBox 278533"/>
          <p:cNvSpPr txBox="1"/>
          <p:nvPr/>
        </p:nvSpPr>
        <p:spPr>
          <a:xfrm>
            <a:off x="576072" y="5102352"/>
            <a:ext cx="2350008" cy="621792"/>
          </a:xfrm>
          <a:prstGeom prst="rect">
            <a:avLst/>
          </a:prstGeom>
          <a:noFill/>
        </p:spPr>
        <p:txBody>
          <a:bodyPr wrap="square" anchor="t" lIns="45720" rIns="45720"/>
          <a:lstStyle/>
          <a:p>
            <a:pPr algn="ctr">
              <a:lnSpc>
                <a:spcPct val="100000"/>
              </a:lnSpc>
              <a:spcAft>
                <a:spcPts val="0"/>
              </a:spcAft>
              <a:buNone/>
            </a:pPr>
            <a:r>
              <a:rPr sz="1250" b="0" i="0">
                <a:solidFill>
                  <a:srgbClr val="52606D"/>
                </a:solidFill>
                <a:latin typeface="Times New Roman"/>
                <a:cs typeface="Times New Roman"/>
              </a:rPr>
              <a:t>snapshots merged into distinct patterns</a:t>
            </a:r>
          </a:p>
        </p:txBody>
      </p:sp>
      <p:sp>
        <p:nvSpPr>
          <p:cNvPr id="278535" name="Rounded Rectangle 278534"/>
          <p:cNvSpPr/>
          <p:nvPr/>
        </p:nvSpPr>
        <p:spPr>
          <a:xfrm>
            <a:off x="3136391" y="4572000"/>
            <a:ext cx="2496312" cy="1188720"/>
          </a:xfrm>
          <a:prstGeom prst="roundRect">
            <a:avLst>
              <a:gd name="adj" fmla="val 6000"/>
            </a:avLst>
          </a:prstGeom>
          <a:solidFill>
            <a:srgbClr val="FFFFFF"/>
          </a:solidFill>
          <a:ln w="12700">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6" name="TextBox 278535"/>
          <p:cNvSpPr txBox="1"/>
          <p:nvPr/>
        </p:nvSpPr>
        <p:spPr>
          <a:xfrm>
            <a:off x="3209544" y="4626864"/>
            <a:ext cx="2350008" cy="502920"/>
          </a:xfrm>
          <a:prstGeom prst="rect">
            <a:avLst/>
          </a:prstGeom>
          <a:noFill/>
        </p:spPr>
        <p:txBody>
          <a:bodyPr wrap="square" anchor="t" lIns="45720" rIns="45720"/>
          <a:lstStyle/>
          <a:p>
            <a:pPr algn="ctr">
              <a:lnSpc>
                <a:spcPct val="105000"/>
              </a:lnSpc>
              <a:spcAft>
                <a:spcPts val="0"/>
              </a:spcAft>
              <a:buNone/>
            </a:pPr>
            <a:r>
              <a:rPr sz="2100" b="1" i="0">
                <a:solidFill>
                  <a:srgbClr val="0F8A6A"/>
                </a:solidFill>
                <a:latin typeface="Times New Roman"/>
                <a:cs typeface="Times New Roman"/>
              </a:rPr>
              <a:t>10.6 s</a:t>
            </a:r>
          </a:p>
        </p:txBody>
      </p:sp>
      <p:sp>
        <p:nvSpPr>
          <p:cNvPr id="278537" name="TextBox 278536"/>
          <p:cNvSpPr txBox="1"/>
          <p:nvPr/>
        </p:nvSpPr>
        <p:spPr>
          <a:xfrm>
            <a:off x="3209544" y="5102352"/>
            <a:ext cx="2350008" cy="621792"/>
          </a:xfrm>
          <a:prstGeom prst="rect">
            <a:avLst/>
          </a:prstGeom>
          <a:noFill/>
        </p:spPr>
        <p:txBody>
          <a:bodyPr wrap="square" anchor="t" lIns="45720" rIns="45720"/>
          <a:lstStyle/>
          <a:p>
            <a:pPr algn="ctr">
              <a:lnSpc>
                <a:spcPct val="100000"/>
              </a:lnSpc>
              <a:spcAft>
                <a:spcPts val="0"/>
              </a:spcAft>
              <a:buNone/>
            </a:pPr>
            <a:r>
              <a:rPr sz="1250" b="0" i="0">
                <a:solidFill>
                  <a:srgbClr val="52606D"/>
                </a:solidFill>
                <a:latin typeface="Times New Roman"/>
                <a:cs typeface="Times New Roman"/>
              </a:rPr>
              <a:t>60 MAP-EM iterations, live</a:t>
            </a:r>
          </a:p>
        </p:txBody>
      </p:sp>
      <p:sp>
        <p:nvSpPr>
          <p:cNvPr id="278538" name="Rounded Rectangle 278537"/>
          <p:cNvSpPr/>
          <p:nvPr/>
        </p:nvSpPr>
        <p:spPr>
          <a:xfrm>
            <a:off x="5769864" y="4572000"/>
            <a:ext cx="2496312" cy="1188720"/>
          </a:xfrm>
          <a:prstGeom prst="roundRect">
            <a:avLst>
              <a:gd name="adj" fmla="val 6000"/>
            </a:avLst>
          </a:prstGeom>
          <a:solidFill>
            <a:srgbClr val="FFFFFF"/>
          </a:solidFill>
          <a:ln w="12700">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9" name="TextBox 278538"/>
          <p:cNvSpPr txBox="1"/>
          <p:nvPr/>
        </p:nvSpPr>
        <p:spPr>
          <a:xfrm>
            <a:off x="5843016" y="4626864"/>
            <a:ext cx="2350008" cy="502920"/>
          </a:xfrm>
          <a:prstGeom prst="rect">
            <a:avLst/>
          </a:prstGeom>
          <a:noFill/>
        </p:spPr>
        <p:txBody>
          <a:bodyPr wrap="square" anchor="t" lIns="45720" rIns="45720"/>
          <a:lstStyle/>
          <a:p>
            <a:pPr algn="ctr">
              <a:lnSpc>
                <a:spcPct val="105000"/>
              </a:lnSpc>
              <a:spcAft>
                <a:spcPts val="0"/>
              </a:spcAft>
              <a:buNone/>
            </a:pPr>
            <a:r>
              <a:rPr sz="2100" b="1" i="0">
                <a:solidFill>
                  <a:srgbClr val="154360"/>
                </a:solidFill>
                <a:latin typeface="Times New Roman"/>
                <a:cs typeface="Times New Roman"/>
              </a:rPr>
              <a:t>identical</a:t>
            </a:r>
          </a:p>
        </p:txBody>
      </p:sp>
      <p:sp>
        <p:nvSpPr>
          <p:cNvPr id="278540" name="TextBox 278539"/>
          <p:cNvSpPr txBox="1"/>
          <p:nvPr/>
        </p:nvSpPr>
        <p:spPr>
          <a:xfrm>
            <a:off x="5843016" y="5102352"/>
            <a:ext cx="2350008" cy="621792"/>
          </a:xfrm>
          <a:prstGeom prst="rect">
            <a:avLst/>
          </a:prstGeom>
          <a:noFill/>
        </p:spPr>
        <p:txBody>
          <a:bodyPr wrap="square" anchor="t" lIns="45720" rIns="45720"/>
          <a:lstStyle/>
          <a:p>
            <a:pPr algn="ctr">
              <a:lnSpc>
                <a:spcPct val="100000"/>
              </a:lnSpc>
              <a:spcAft>
                <a:spcPts val="0"/>
              </a:spcAft>
              <a:buNone/>
            </a:pPr>
            <a:r>
              <a:rPr sz="1250" b="0" i="0">
                <a:solidFill>
                  <a:srgbClr val="52606D"/>
                </a:solidFill>
                <a:latin typeface="Times New Roman"/>
                <a:cs typeface="Times New Roman"/>
              </a:rPr>
              <a:t>retrained model = the one behind every result</a:t>
            </a:r>
          </a:p>
        </p:txBody>
      </p:sp>
      <p:sp>
        <p:nvSpPr>
          <p:cNvPr id="278541" name="TextBox 278540"/>
          <p:cNvSpPr txBox="1"/>
          <p:nvPr/>
        </p:nvSpPr>
        <p:spPr>
          <a:xfrm>
            <a:off x="8503920" y="1252728"/>
            <a:ext cx="3182111" cy="411480"/>
          </a:xfrm>
          <a:prstGeom prst="rect">
            <a:avLst/>
          </a:prstGeom>
          <a:noFill/>
        </p:spPr>
        <p:txBody>
          <a:bodyPr wrap="square" anchor="t" lIns="45720" rIns="45720"/>
          <a:lstStyle/>
          <a:p>
            <a:pPr algn="l">
              <a:lnSpc>
                <a:spcPct val="105000"/>
              </a:lnSpc>
              <a:spcAft>
                <a:spcPts val="400"/>
              </a:spcAft>
              <a:buNone/>
            </a:pPr>
            <a:r>
              <a:rPr sz="1800" b="1" i="0">
                <a:solidFill>
                  <a:srgbClr val="154360"/>
                </a:solidFill>
                <a:latin typeface="Times New Roman"/>
                <a:cs typeface="Times New Roman"/>
              </a:rPr>
              <a:t>Nine stages, ≈ 35 s</a:t>
            </a:r>
          </a:p>
        </p:txBody>
      </p:sp>
      <p:sp>
        <p:nvSpPr>
          <p:cNvPr id="278542" name="Oval 278541"/>
          <p:cNvSpPr/>
          <p:nvPr/>
        </p:nvSpPr>
        <p:spPr>
          <a:xfrm>
            <a:off x="8503920" y="1773936"/>
            <a:ext cx="365760" cy="365760"/>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Times New Roman"/>
                <a:cs typeface="Times New Roman"/>
              </a:rPr>
              <a:t>1</a:t>
            </a:r>
          </a:p>
        </p:txBody>
      </p:sp>
      <p:sp>
        <p:nvSpPr>
          <p:cNvPr id="278543" name="TextBox 278542"/>
          <p:cNvSpPr txBox="1"/>
          <p:nvPr/>
        </p:nvSpPr>
        <p:spPr>
          <a:xfrm>
            <a:off x="8979408" y="1755648"/>
            <a:ext cx="2706623" cy="402336"/>
          </a:xfrm>
          <a:prstGeom prst="rect">
            <a:avLst/>
          </a:prstGeom>
          <a:noFill/>
        </p:spPr>
        <p:txBody>
          <a:bodyPr wrap="square" anchor="ctr" lIns="45720" rIns="45720"/>
          <a:lstStyle/>
          <a:p>
            <a:pPr algn="l">
              <a:lnSpc>
                <a:spcPct val="105000"/>
              </a:lnSpc>
              <a:spcAft>
                <a:spcPts val="0"/>
              </a:spcAft>
              <a:buNone/>
            </a:pPr>
            <a:r>
              <a:rPr sz="1500" b="0" i="0">
                <a:solidFill>
                  <a:srgbClr val="1F2933"/>
                </a:solidFill>
                <a:latin typeface="Times New Roman"/>
                <a:cs typeface="Times New Roman"/>
              </a:rPr>
              <a:t>Build the iFogSim extension</a:t>
            </a:r>
          </a:p>
        </p:txBody>
      </p:sp>
      <p:sp>
        <p:nvSpPr>
          <p:cNvPr id="278544" name="Oval 278543"/>
          <p:cNvSpPr/>
          <p:nvPr/>
        </p:nvSpPr>
        <p:spPr>
          <a:xfrm>
            <a:off x="8503920" y="2258568"/>
            <a:ext cx="365760" cy="365760"/>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Times New Roman"/>
                <a:cs typeface="Times New Roman"/>
              </a:rPr>
              <a:t>2</a:t>
            </a:r>
          </a:p>
        </p:txBody>
      </p:sp>
      <p:sp>
        <p:nvSpPr>
          <p:cNvPr id="278545" name="TextBox 278544"/>
          <p:cNvSpPr txBox="1"/>
          <p:nvPr/>
        </p:nvSpPr>
        <p:spPr>
          <a:xfrm>
            <a:off x="8979408" y="2240279"/>
            <a:ext cx="2706623" cy="402336"/>
          </a:xfrm>
          <a:prstGeom prst="rect">
            <a:avLst/>
          </a:prstGeom>
          <a:noFill/>
        </p:spPr>
        <p:txBody>
          <a:bodyPr wrap="square" anchor="ctr" lIns="45720" rIns="45720"/>
          <a:lstStyle/>
          <a:p>
            <a:pPr algn="l">
              <a:lnSpc>
                <a:spcPct val="105000"/>
              </a:lnSpc>
              <a:spcAft>
                <a:spcPts val="0"/>
              </a:spcAft>
              <a:buNone/>
            </a:pPr>
            <a:r>
              <a:rPr sz="1500" b="0" i="0">
                <a:solidFill>
                  <a:srgbClr val="1F2933"/>
                </a:solidFill>
                <a:latin typeface="Times New Roman"/>
                <a:cs typeface="Times New Roman"/>
              </a:rPr>
              <a:t>The simulated system</a:t>
            </a:r>
          </a:p>
        </p:txBody>
      </p:sp>
      <p:sp>
        <p:nvSpPr>
          <p:cNvPr id="278546" name="Oval 278545"/>
          <p:cNvSpPr/>
          <p:nvPr/>
        </p:nvSpPr>
        <p:spPr>
          <a:xfrm>
            <a:off x="8503920" y="2743200"/>
            <a:ext cx="365760" cy="365760"/>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Times New Roman"/>
                <a:cs typeface="Times New Roman"/>
              </a:rPr>
              <a:t>3</a:t>
            </a:r>
          </a:p>
        </p:txBody>
      </p:sp>
      <p:sp>
        <p:nvSpPr>
          <p:cNvPr id="278547" name="TextBox 278546"/>
          <p:cNvSpPr txBox="1"/>
          <p:nvPr/>
        </p:nvSpPr>
        <p:spPr>
          <a:xfrm>
            <a:off x="8979408" y="2724912"/>
            <a:ext cx="2706623" cy="402336"/>
          </a:xfrm>
          <a:prstGeom prst="rect">
            <a:avLst/>
          </a:prstGeom>
          <a:noFill/>
        </p:spPr>
        <p:txBody>
          <a:bodyPr wrap="square" anchor="ctr" lIns="45720" rIns="45720"/>
          <a:lstStyle/>
          <a:p>
            <a:pPr algn="l">
              <a:lnSpc>
                <a:spcPct val="105000"/>
              </a:lnSpc>
              <a:spcAft>
                <a:spcPts val="0"/>
              </a:spcAft>
              <a:buNone/>
            </a:pPr>
            <a:r>
              <a:rPr sz="1500" b="0" i="0">
                <a:solidFill>
                  <a:srgbClr val="1F2933"/>
                </a:solidFill>
                <a:latin typeface="Times New Roman"/>
                <a:cs typeface="Times New Roman"/>
              </a:rPr>
              <a:t>Telemetry from the devices</a:t>
            </a:r>
          </a:p>
        </p:txBody>
      </p:sp>
      <p:sp>
        <p:nvSpPr>
          <p:cNvPr id="278548" name="Oval 278547"/>
          <p:cNvSpPr/>
          <p:nvPr/>
        </p:nvSpPr>
        <p:spPr>
          <a:xfrm>
            <a:off x="8503920" y="3227832"/>
            <a:ext cx="365760" cy="365760"/>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Times New Roman"/>
                <a:cs typeface="Times New Roman"/>
              </a:rPr>
              <a:t>4</a:t>
            </a:r>
          </a:p>
        </p:txBody>
      </p:sp>
      <p:sp>
        <p:nvSpPr>
          <p:cNvPr id="278549" name="TextBox 278548"/>
          <p:cNvSpPr txBox="1"/>
          <p:nvPr/>
        </p:nvSpPr>
        <p:spPr>
          <a:xfrm>
            <a:off x="8979408" y="3209544"/>
            <a:ext cx="2706623" cy="402336"/>
          </a:xfrm>
          <a:prstGeom prst="rect">
            <a:avLst/>
          </a:prstGeom>
          <a:noFill/>
        </p:spPr>
        <p:txBody>
          <a:bodyPr wrap="square" anchor="ctr" lIns="45720" rIns="45720"/>
          <a:lstStyle/>
          <a:p>
            <a:pPr algn="l">
              <a:lnSpc>
                <a:spcPct val="105000"/>
              </a:lnSpc>
              <a:spcAft>
                <a:spcPts val="0"/>
              </a:spcAft>
              <a:buNone/>
            </a:pPr>
            <a:r>
              <a:rPr sz="1500" b="0" i="0">
                <a:solidFill>
                  <a:srgbClr val="1F2933"/>
                </a:solidFill>
                <a:latin typeface="Times New Roman"/>
                <a:cs typeface="Times New Roman"/>
              </a:rPr>
              <a:t>Dataset and leak audit</a:t>
            </a:r>
          </a:p>
        </p:txBody>
      </p:sp>
      <p:sp>
        <p:nvSpPr>
          <p:cNvPr id="278550" name="Oval 278549"/>
          <p:cNvSpPr/>
          <p:nvPr/>
        </p:nvSpPr>
        <p:spPr>
          <a:xfrm>
            <a:off x="8503920" y="3712464"/>
            <a:ext cx="365760" cy="365760"/>
          </a:xfrm>
          <a:prstGeom prst="ellipse">
            <a:avLst/>
          </a:prstGeom>
          <a:solidFill>
            <a:srgbClr val="0F8A6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Times New Roman"/>
                <a:cs typeface="Times New Roman"/>
              </a:rPr>
              <a:t>5</a:t>
            </a:r>
          </a:p>
        </p:txBody>
      </p:sp>
      <p:sp>
        <p:nvSpPr>
          <p:cNvPr id="278551" name="TextBox 278550"/>
          <p:cNvSpPr txBox="1"/>
          <p:nvPr/>
        </p:nvSpPr>
        <p:spPr>
          <a:xfrm>
            <a:off x="8979408" y="3694176"/>
            <a:ext cx="2706623" cy="402336"/>
          </a:xfrm>
          <a:prstGeom prst="rect">
            <a:avLst/>
          </a:prstGeom>
          <a:noFill/>
        </p:spPr>
        <p:txBody>
          <a:bodyPr wrap="square" anchor="ctr" lIns="45720" rIns="45720"/>
          <a:lstStyle/>
          <a:p>
            <a:pPr algn="l">
              <a:lnSpc>
                <a:spcPct val="105000"/>
              </a:lnSpc>
              <a:spcAft>
                <a:spcPts val="0"/>
              </a:spcAft>
              <a:buNone/>
            </a:pPr>
            <a:r>
              <a:rPr sz="1500" b="1" i="0">
                <a:solidFill>
                  <a:srgbClr val="1F2933"/>
                </a:solidFill>
                <a:latin typeface="Times New Roman"/>
                <a:cs typeface="Times New Roman"/>
              </a:rPr>
              <a:t>Live BBN training</a:t>
            </a:r>
          </a:p>
        </p:txBody>
      </p:sp>
      <p:sp>
        <p:nvSpPr>
          <p:cNvPr id="278552" name="Oval 278551"/>
          <p:cNvSpPr/>
          <p:nvPr/>
        </p:nvSpPr>
        <p:spPr>
          <a:xfrm>
            <a:off x="8503920" y="4197096"/>
            <a:ext cx="365760" cy="365760"/>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Times New Roman"/>
                <a:cs typeface="Times New Roman"/>
              </a:rPr>
              <a:t>6</a:t>
            </a:r>
          </a:p>
        </p:txBody>
      </p:sp>
      <p:sp>
        <p:nvSpPr>
          <p:cNvPr id="278553" name="TextBox 278552"/>
          <p:cNvSpPr txBox="1"/>
          <p:nvPr/>
        </p:nvSpPr>
        <p:spPr>
          <a:xfrm>
            <a:off x="8979408" y="4178808"/>
            <a:ext cx="2706623" cy="402336"/>
          </a:xfrm>
          <a:prstGeom prst="rect">
            <a:avLst/>
          </a:prstGeom>
          <a:noFill/>
        </p:spPr>
        <p:txBody>
          <a:bodyPr wrap="square" anchor="ctr" lIns="45720" rIns="45720"/>
          <a:lstStyle/>
          <a:p>
            <a:pPr algn="l">
              <a:lnSpc>
                <a:spcPct val="105000"/>
              </a:lnSpc>
              <a:spcAft>
                <a:spcPts val="0"/>
              </a:spcAft>
              <a:buNone/>
            </a:pPr>
            <a:r>
              <a:rPr sz="1500" b="0" i="0">
                <a:solidFill>
                  <a:srgbClr val="1F2933"/>
                </a:solidFill>
                <a:latin typeface="Times New Roman"/>
                <a:cs typeface="Times New Roman"/>
              </a:rPr>
              <a:t>Prediction comparison</a:t>
            </a:r>
          </a:p>
        </p:txBody>
      </p:sp>
      <p:sp>
        <p:nvSpPr>
          <p:cNvPr id="278554" name="Oval 278553"/>
          <p:cNvSpPr/>
          <p:nvPr/>
        </p:nvSpPr>
        <p:spPr>
          <a:xfrm>
            <a:off x="8503920" y="4681728"/>
            <a:ext cx="365760" cy="365760"/>
          </a:xfrm>
          <a:prstGeom prst="ellipse">
            <a:avLst/>
          </a:prstGeom>
          <a:solidFill>
            <a:srgbClr val="0F8A6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Times New Roman"/>
                <a:cs typeface="Times New Roman"/>
              </a:rPr>
              <a:t>7</a:t>
            </a:r>
          </a:p>
        </p:txBody>
      </p:sp>
      <p:sp>
        <p:nvSpPr>
          <p:cNvPr id="278555" name="TextBox 278554"/>
          <p:cNvSpPr txBox="1"/>
          <p:nvPr/>
        </p:nvSpPr>
        <p:spPr>
          <a:xfrm>
            <a:off x="8979408" y="4663440"/>
            <a:ext cx="2706623" cy="402336"/>
          </a:xfrm>
          <a:prstGeom prst="rect">
            <a:avLst/>
          </a:prstGeom>
          <a:noFill/>
        </p:spPr>
        <p:txBody>
          <a:bodyPr wrap="square" anchor="ctr" lIns="45720" rIns="45720"/>
          <a:lstStyle/>
          <a:p>
            <a:pPr algn="l">
              <a:lnSpc>
                <a:spcPct val="105000"/>
              </a:lnSpc>
              <a:spcAft>
                <a:spcPts val="0"/>
              </a:spcAft>
              <a:buNone/>
            </a:pPr>
            <a:r>
              <a:rPr sz="1500" b="1" i="0">
                <a:solidFill>
                  <a:srgbClr val="1F2933"/>
                </a:solidFill>
                <a:latin typeface="Times New Roman"/>
                <a:cs typeface="Times New Roman"/>
              </a:rPr>
              <a:t>Live BBN inside iFogSim</a:t>
            </a:r>
          </a:p>
        </p:txBody>
      </p:sp>
      <p:sp>
        <p:nvSpPr>
          <p:cNvPr id="278556" name="Oval 278555"/>
          <p:cNvSpPr/>
          <p:nvPr/>
        </p:nvSpPr>
        <p:spPr>
          <a:xfrm>
            <a:off x="8503920" y="5166360"/>
            <a:ext cx="365760" cy="365760"/>
          </a:xfrm>
          <a:prstGeom prst="ellipse">
            <a:avLst/>
          </a:prstGeom>
          <a:solidFill>
            <a:srgbClr val="0F8A6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Times New Roman"/>
                <a:cs typeface="Times New Roman"/>
              </a:rPr>
              <a:t>8</a:t>
            </a:r>
          </a:p>
        </p:txBody>
      </p:sp>
      <p:sp>
        <p:nvSpPr>
          <p:cNvPr id="278557" name="TextBox 278556"/>
          <p:cNvSpPr txBox="1"/>
          <p:nvPr/>
        </p:nvSpPr>
        <p:spPr>
          <a:xfrm>
            <a:off x="8979408" y="5148072"/>
            <a:ext cx="2706623" cy="402336"/>
          </a:xfrm>
          <a:prstGeom prst="rect">
            <a:avLst/>
          </a:prstGeom>
          <a:noFill/>
        </p:spPr>
        <p:txBody>
          <a:bodyPr wrap="square" anchor="ctr" lIns="45720" rIns="45720"/>
          <a:lstStyle/>
          <a:p>
            <a:pPr algn="l">
              <a:lnSpc>
                <a:spcPct val="105000"/>
              </a:lnSpc>
              <a:spcAft>
                <a:spcPts val="0"/>
              </a:spcAft>
              <a:buNone/>
            </a:pPr>
            <a:r>
              <a:rPr sz="1500" b="1" i="0">
                <a:solidFill>
                  <a:srgbClr val="1F2933"/>
                </a:solidFill>
                <a:latin typeface="Times New Roman"/>
                <a:cs typeface="Times New Roman"/>
              </a:rPr>
              <a:t>All policies, same run</a:t>
            </a:r>
          </a:p>
        </p:txBody>
      </p:sp>
      <p:sp>
        <p:nvSpPr>
          <p:cNvPr id="278558" name="Oval 278557"/>
          <p:cNvSpPr/>
          <p:nvPr/>
        </p:nvSpPr>
        <p:spPr>
          <a:xfrm>
            <a:off x="8503920" y="5650992"/>
            <a:ext cx="365760" cy="365760"/>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Times New Roman"/>
                <a:cs typeface="Times New Roman"/>
              </a:rPr>
              <a:t>9</a:t>
            </a:r>
          </a:p>
        </p:txBody>
      </p:sp>
      <p:sp>
        <p:nvSpPr>
          <p:cNvPr id="278559" name="TextBox 278558"/>
          <p:cNvSpPr txBox="1"/>
          <p:nvPr/>
        </p:nvSpPr>
        <p:spPr>
          <a:xfrm>
            <a:off x="8979408" y="5632704"/>
            <a:ext cx="2706623" cy="402336"/>
          </a:xfrm>
          <a:prstGeom prst="rect">
            <a:avLst/>
          </a:prstGeom>
          <a:noFill/>
        </p:spPr>
        <p:txBody>
          <a:bodyPr wrap="square" anchor="ctr" lIns="45720" rIns="45720"/>
          <a:lstStyle/>
          <a:p>
            <a:pPr algn="l">
              <a:lnSpc>
                <a:spcPct val="105000"/>
              </a:lnSpc>
              <a:spcAft>
                <a:spcPts val="0"/>
              </a:spcAft>
              <a:buNone/>
            </a:pPr>
            <a:r>
              <a:rPr sz="1500" b="0" i="0">
                <a:solidFill>
                  <a:srgbClr val="1F2933"/>
                </a:solidFill>
                <a:latin typeface="Times New Roman"/>
                <a:cs typeface="Times New Roman"/>
              </a:rPr>
              <a:t>Verdict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Demonstration — BBN Controlling iFogSim Live (2/3)</a:t>
            </a:r>
            <a:endParaRPr lang="en-US" sz="2800">
              <a:solidFill>
                <a:schemeClr val="bg1"/>
              </a:solidFill>
            </a:endParaRPr>
          </a:p>
        </p:txBody>
      </p:sp>
      <p:pic>
        <p:nvPicPr>
          <p:cNvPr id="278531" name="Picture 278530" descr="demo_live.png"/>
          <p:cNvPicPr>
            <a:picLocks noChangeAspect="1"/>
          </p:cNvPicPr>
          <p:nvPr/>
        </p:nvPicPr>
        <p:blipFill>
          <a:blip r:embed="rId3"/>
          <a:stretch>
            <a:fillRect/>
          </a:stretch>
        </p:blipFill>
        <p:spPr>
          <a:xfrm>
            <a:off x="901613" y="1225296"/>
            <a:ext cx="10385725" cy="3566160"/>
          </a:xfrm>
          <a:prstGeom prst="rect">
            <a:avLst/>
          </a:prstGeom>
        </p:spPr>
      </p:pic>
      <p:sp>
        <p:nvSpPr>
          <p:cNvPr id="278532" name="TextBox 278531"/>
          <p:cNvSpPr txBox="1"/>
          <p:nvPr/>
        </p:nvSpPr>
        <p:spPr>
          <a:xfrm>
            <a:off x="502920" y="4846320"/>
            <a:ext cx="3544823" cy="1097280"/>
          </a:xfrm>
          <a:prstGeom prst="rect">
            <a:avLst/>
          </a:prstGeom>
          <a:noFill/>
        </p:spPr>
        <p:txBody>
          <a:bodyPr wrap="square" anchor="t" lIns="45720" rIns="45720"/>
          <a:lstStyle/>
          <a:p>
            <a:pPr algn="l">
              <a:lnSpc>
                <a:spcPct val="105000"/>
              </a:lnSpc>
              <a:spcAft>
                <a:spcPts val="200"/>
              </a:spcAft>
              <a:buNone/>
            </a:pPr>
            <a:r>
              <a:rPr sz="1600" b="1" i="0">
                <a:solidFill>
                  <a:srgbClr val="0F8A6A"/>
                </a:solidFill>
                <a:latin typeface="Times New Roman"/>
                <a:cs typeface="Times New Roman"/>
              </a:rPr>
              <a:t>Proactive migration</a:t>
            </a:r>
          </a:p>
          <a:p>
            <a:pPr algn="l">
              <a:lnSpc>
                <a:spcPct val="100000"/>
              </a:lnSpc>
              <a:spcAft>
                <a:spcPts val="0"/>
              </a:spcAft>
              <a:buNone/>
            </a:pPr>
            <a:r>
              <a:rPr sz="1400" b="0" i="0">
                <a:solidFill>
                  <a:srgbClr val="1F2933"/>
                </a:solidFill>
                <a:latin typeface="Times New Roman"/>
                <a:cs typeface="Times New Roman"/>
              </a:rPr>
              <a:t>sessions leave fog-61 at P(fail) = 0.41 &gt; P* = 0.272 — cause: energy stress</a:t>
            </a:r>
          </a:p>
        </p:txBody>
      </p:sp>
      <p:sp>
        <p:nvSpPr>
          <p:cNvPr id="278533" name="TextBox 278532"/>
          <p:cNvSpPr txBox="1"/>
          <p:nvPr/>
        </p:nvSpPr>
        <p:spPr>
          <a:xfrm>
            <a:off x="4230623" y="4846320"/>
            <a:ext cx="3544823" cy="1097280"/>
          </a:xfrm>
          <a:prstGeom prst="rect">
            <a:avLst/>
          </a:prstGeom>
          <a:noFill/>
        </p:spPr>
        <p:txBody>
          <a:bodyPr wrap="square" anchor="t" lIns="45720" rIns="45720"/>
          <a:lstStyle/>
          <a:p>
            <a:pPr algn="l">
              <a:lnSpc>
                <a:spcPct val="105000"/>
              </a:lnSpc>
              <a:spcAft>
                <a:spcPts val="200"/>
              </a:spcAft>
              <a:buNone/>
            </a:pPr>
            <a:r>
              <a:rPr sz="1600" b="1" i="0">
                <a:solidFill>
                  <a:srgbClr val="0079BC"/>
                </a:solidFill>
                <a:latin typeface="Times New Roman"/>
                <a:cs typeface="Times New Roman"/>
              </a:rPr>
              <a:t>Own thresholds</a:t>
            </a:r>
          </a:p>
          <a:p>
            <a:pPr algn="l">
              <a:lnSpc>
                <a:spcPct val="100000"/>
              </a:lnSpc>
              <a:spcAft>
                <a:spcPts val="0"/>
              </a:spcAft>
              <a:buNone/>
            </a:pPr>
            <a:r>
              <a:rPr sz="1400" b="0" i="0">
                <a:solidFill>
                  <a:srgbClr val="1F2933"/>
                </a:solidFill>
                <a:latin typeface="Times New Roman"/>
                <a:cs typeface="Times New Roman"/>
              </a:rPr>
              <a:t>same node, different P*: 0.111 standard vs 0.273 best-effort</a:t>
            </a:r>
          </a:p>
        </p:txBody>
      </p:sp>
      <p:sp>
        <p:nvSpPr>
          <p:cNvPr id="278534" name="TextBox 278533"/>
          <p:cNvSpPr txBox="1"/>
          <p:nvPr/>
        </p:nvSpPr>
        <p:spPr>
          <a:xfrm>
            <a:off x="7958328" y="4846320"/>
            <a:ext cx="3544823" cy="1097280"/>
          </a:xfrm>
          <a:prstGeom prst="rect">
            <a:avLst/>
          </a:prstGeom>
          <a:noFill/>
        </p:spPr>
        <p:txBody>
          <a:bodyPr wrap="square" anchor="t" lIns="45720" rIns="45720"/>
          <a:lstStyle/>
          <a:p>
            <a:pPr algn="l">
              <a:lnSpc>
                <a:spcPct val="105000"/>
              </a:lnSpc>
              <a:spcAft>
                <a:spcPts val="200"/>
              </a:spcAft>
              <a:buNone/>
            </a:pPr>
            <a:r>
              <a:rPr sz="1600" b="1" i="0">
                <a:solidFill>
                  <a:srgbClr val="B83232"/>
                </a:solidFill>
                <a:latin typeface="Times New Roman"/>
                <a:cs typeface="Times New Roman"/>
              </a:rPr>
              <a:t>Sudden failure</a:t>
            </a:r>
          </a:p>
          <a:p>
            <a:pPr algn="l">
              <a:lnSpc>
                <a:spcPct val="100000"/>
              </a:lnSpc>
              <a:spcAft>
                <a:spcPts val="0"/>
              </a:spcAft>
              <a:buNone/>
            </a:pPr>
            <a:r>
              <a:rPr sz="1400" b="0" i="0">
                <a:solidFill>
                  <a:srgbClr val="1F2933"/>
                </a:solidFill>
                <a:latin typeface="Times New Roman"/>
                <a:cs typeface="Times New Roman"/>
              </a:rPr>
              <a:t>fog-38 has no precursor; 4 users recovered by cold restart (330 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Demonstration — Every Policy on the Same Runs (3/3)</a:t>
            </a:r>
            <a:endParaRPr lang="en-US" sz="2800">
              <a:solidFill>
                <a:schemeClr val="bg1"/>
              </a:solidFill>
            </a:endParaRPr>
          </a:p>
        </p:txBody>
      </p:sp>
      <p:pic>
        <p:nvPicPr>
          <p:cNvPr id="278531" name="Picture 278530" descr="demo_policies.png"/>
          <p:cNvPicPr>
            <a:picLocks noChangeAspect="1"/>
          </p:cNvPicPr>
          <p:nvPr/>
        </p:nvPicPr>
        <p:blipFill>
          <a:blip r:embed="rId3"/>
          <a:stretch>
            <a:fillRect/>
          </a:stretch>
        </p:blipFill>
        <p:spPr>
          <a:xfrm>
            <a:off x="502920" y="1252728"/>
            <a:ext cx="11183111" cy="2962516"/>
          </a:xfrm>
          <a:prstGeom prst="rect">
            <a:avLst/>
          </a:prstGeom>
        </p:spPr>
      </p:pic>
      <p:sp>
        <p:nvSpPr>
          <p:cNvPr id="278532" name="Rounded Rectangle 278531"/>
          <p:cNvSpPr/>
          <p:nvPr/>
        </p:nvSpPr>
        <p:spPr>
          <a:xfrm>
            <a:off x="502920" y="4709160"/>
            <a:ext cx="2651760" cy="960120"/>
          </a:xfrm>
          <a:prstGeom prst="roundRect">
            <a:avLst>
              <a:gd name="adj" fmla="val 6000"/>
            </a:avLst>
          </a:prstGeom>
          <a:solidFill>
            <a:srgbClr val="FFFFFF"/>
          </a:solidFill>
          <a:ln w="12700">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3" name="TextBox 278532"/>
          <p:cNvSpPr txBox="1"/>
          <p:nvPr/>
        </p:nvSpPr>
        <p:spPr>
          <a:xfrm>
            <a:off x="576072" y="4764024"/>
            <a:ext cx="2505456" cy="502920"/>
          </a:xfrm>
          <a:prstGeom prst="rect">
            <a:avLst/>
          </a:prstGeom>
          <a:noFill/>
        </p:spPr>
        <p:txBody>
          <a:bodyPr wrap="square" anchor="t" lIns="45720" rIns="45720"/>
          <a:lstStyle/>
          <a:p>
            <a:pPr algn="ctr">
              <a:lnSpc>
                <a:spcPct val="105000"/>
              </a:lnSpc>
              <a:spcAft>
                <a:spcPts val="0"/>
              </a:spcAft>
              <a:buNone/>
            </a:pPr>
            <a:r>
              <a:rPr sz="3000" b="1" i="0">
                <a:solidFill>
                  <a:srgbClr val="0F8A6A"/>
                </a:solidFill>
                <a:latin typeface="Times New Roman"/>
                <a:cs typeface="Times New Roman"/>
              </a:rPr>
              <a:t>−97%</a:t>
            </a:r>
          </a:p>
        </p:txBody>
      </p:sp>
      <p:sp>
        <p:nvSpPr>
          <p:cNvPr id="278534" name="TextBox 278533"/>
          <p:cNvSpPr txBox="1"/>
          <p:nvPr/>
        </p:nvSpPr>
        <p:spPr>
          <a:xfrm>
            <a:off x="576072" y="5239512"/>
            <a:ext cx="2505456" cy="393192"/>
          </a:xfrm>
          <a:prstGeom prst="rect">
            <a:avLst/>
          </a:prstGeom>
          <a:noFill/>
        </p:spPr>
        <p:txBody>
          <a:bodyPr wrap="square" anchor="t" lIns="45720" rIns="45720"/>
          <a:lstStyle/>
          <a:p>
            <a:pPr algn="ctr">
              <a:lnSpc>
                <a:spcPct val="100000"/>
              </a:lnSpc>
              <a:spcAft>
                <a:spcPts val="0"/>
              </a:spcAft>
              <a:buNone/>
            </a:pPr>
            <a:r>
              <a:rPr sz="1300" b="0" i="0">
                <a:solidFill>
                  <a:srgbClr val="52606D"/>
                </a:solidFill>
                <a:latin typeface="Times New Roman"/>
                <a:cs typeface="Times New Roman"/>
              </a:rPr>
              <a:t>vs no fault tolerance</a:t>
            </a:r>
          </a:p>
        </p:txBody>
      </p:sp>
      <p:sp>
        <p:nvSpPr>
          <p:cNvPr id="278535" name="Rounded Rectangle 278534"/>
          <p:cNvSpPr/>
          <p:nvPr/>
        </p:nvSpPr>
        <p:spPr>
          <a:xfrm>
            <a:off x="3337560" y="4709160"/>
            <a:ext cx="2651760" cy="960120"/>
          </a:xfrm>
          <a:prstGeom prst="roundRect">
            <a:avLst>
              <a:gd name="adj" fmla="val 6000"/>
            </a:avLst>
          </a:prstGeom>
          <a:solidFill>
            <a:srgbClr val="FFFFFF"/>
          </a:solidFill>
          <a:ln w="12700">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6" name="TextBox 278535"/>
          <p:cNvSpPr txBox="1"/>
          <p:nvPr/>
        </p:nvSpPr>
        <p:spPr>
          <a:xfrm>
            <a:off x="3410712" y="4764024"/>
            <a:ext cx="2505456" cy="502920"/>
          </a:xfrm>
          <a:prstGeom prst="rect">
            <a:avLst/>
          </a:prstGeom>
          <a:noFill/>
        </p:spPr>
        <p:txBody>
          <a:bodyPr wrap="square" anchor="t" lIns="45720" rIns="45720"/>
          <a:lstStyle/>
          <a:p>
            <a:pPr algn="ctr">
              <a:lnSpc>
                <a:spcPct val="105000"/>
              </a:lnSpc>
              <a:spcAft>
                <a:spcPts val="0"/>
              </a:spcAft>
              <a:buNone/>
            </a:pPr>
            <a:r>
              <a:rPr sz="3000" b="1" i="0">
                <a:solidFill>
                  <a:srgbClr val="0F8A6A"/>
                </a:solidFill>
                <a:latin typeface="Times New Roman"/>
                <a:cs typeface="Times New Roman"/>
              </a:rPr>
              <a:t>−55%</a:t>
            </a:r>
          </a:p>
        </p:txBody>
      </p:sp>
      <p:sp>
        <p:nvSpPr>
          <p:cNvPr id="278537" name="TextBox 278536"/>
          <p:cNvSpPr txBox="1"/>
          <p:nvPr/>
        </p:nvSpPr>
        <p:spPr>
          <a:xfrm>
            <a:off x="3410712" y="5239512"/>
            <a:ext cx="2505456" cy="393192"/>
          </a:xfrm>
          <a:prstGeom prst="rect">
            <a:avLst/>
          </a:prstGeom>
          <a:noFill/>
        </p:spPr>
        <p:txBody>
          <a:bodyPr wrap="square" anchor="t" lIns="45720" rIns="45720"/>
          <a:lstStyle/>
          <a:p>
            <a:pPr algn="ctr">
              <a:lnSpc>
                <a:spcPct val="100000"/>
              </a:lnSpc>
              <a:spcAft>
                <a:spcPts val="0"/>
              </a:spcAft>
              <a:buNone/>
            </a:pPr>
            <a:r>
              <a:rPr sz="1300" b="0" i="0">
                <a:solidFill>
                  <a:srgbClr val="52606D"/>
                </a:solidFill>
                <a:latin typeface="Times New Roman"/>
                <a:cs typeface="Times New Roman"/>
              </a:rPr>
              <a:t>vs FTAPA threshold migration</a:t>
            </a:r>
          </a:p>
        </p:txBody>
      </p:sp>
      <p:sp>
        <p:nvSpPr>
          <p:cNvPr id="278538" name="Rounded Rectangle 278537"/>
          <p:cNvSpPr/>
          <p:nvPr/>
        </p:nvSpPr>
        <p:spPr>
          <a:xfrm>
            <a:off x="6172200" y="4709160"/>
            <a:ext cx="2651760" cy="960120"/>
          </a:xfrm>
          <a:prstGeom prst="roundRect">
            <a:avLst>
              <a:gd name="adj" fmla="val 6000"/>
            </a:avLst>
          </a:prstGeom>
          <a:solidFill>
            <a:srgbClr val="FFFFFF"/>
          </a:solidFill>
          <a:ln w="12700">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9" name="TextBox 278538"/>
          <p:cNvSpPr txBox="1"/>
          <p:nvPr/>
        </p:nvSpPr>
        <p:spPr>
          <a:xfrm>
            <a:off x="6245352" y="4764024"/>
            <a:ext cx="2505456" cy="502920"/>
          </a:xfrm>
          <a:prstGeom prst="rect">
            <a:avLst/>
          </a:prstGeom>
          <a:noFill/>
        </p:spPr>
        <p:txBody>
          <a:bodyPr wrap="square" anchor="t" lIns="45720" rIns="45720"/>
          <a:lstStyle/>
          <a:p>
            <a:pPr algn="ctr">
              <a:lnSpc>
                <a:spcPct val="105000"/>
              </a:lnSpc>
              <a:spcAft>
                <a:spcPts val="0"/>
              </a:spcAft>
              <a:buNone/>
            </a:pPr>
            <a:r>
              <a:rPr sz="3000" b="1" i="0">
                <a:solidFill>
                  <a:srgbClr val="0079BC"/>
                </a:solidFill>
                <a:latin typeface="Times New Roman"/>
                <a:cs typeface="Times New Roman"/>
              </a:rPr>
              <a:t>0.2%</a:t>
            </a:r>
          </a:p>
        </p:txBody>
      </p:sp>
      <p:sp>
        <p:nvSpPr>
          <p:cNvPr id="278540" name="TextBox 278539"/>
          <p:cNvSpPr txBox="1"/>
          <p:nvPr/>
        </p:nvSpPr>
        <p:spPr>
          <a:xfrm>
            <a:off x="6245352" y="5239512"/>
            <a:ext cx="2505456" cy="393192"/>
          </a:xfrm>
          <a:prstGeom prst="rect">
            <a:avLst/>
          </a:prstGeom>
          <a:noFill/>
        </p:spPr>
        <p:txBody>
          <a:bodyPr wrap="square" anchor="t" lIns="45720" rIns="45720"/>
          <a:lstStyle/>
          <a:p>
            <a:pPr algn="ctr">
              <a:lnSpc>
                <a:spcPct val="100000"/>
              </a:lnSpc>
              <a:spcAft>
                <a:spcPts val="0"/>
              </a:spcAft>
              <a:buNone/>
            </a:pPr>
            <a:r>
              <a:rPr sz="1300" b="0" i="0">
                <a:solidFill>
                  <a:srgbClr val="52606D"/>
                </a:solidFill>
                <a:latin typeface="Times New Roman"/>
                <a:cs typeface="Times New Roman"/>
              </a:rPr>
              <a:t>warm standby (FTAPA: 100%)</a:t>
            </a:r>
          </a:p>
        </p:txBody>
      </p:sp>
      <p:sp>
        <p:nvSpPr>
          <p:cNvPr id="278541" name="Rounded Rectangle 278540"/>
          <p:cNvSpPr/>
          <p:nvPr/>
        </p:nvSpPr>
        <p:spPr>
          <a:xfrm>
            <a:off x="9006840" y="4709160"/>
            <a:ext cx="2679191" cy="960120"/>
          </a:xfrm>
          <a:prstGeom prst="roundRect">
            <a:avLst>
              <a:gd name="adj" fmla="val 6000"/>
            </a:avLst>
          </a:prstGeom>
          <a:solidFill>
            <a:srgbClr val="FFFFFF"/>
          </a:solidFill>
          <a:ln w="12700">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42" name="TextBox 278541"/>
          <p:cNvSpPr txBox="1"/>
          <p:nvPr/>
        </p:nvSpPr>
        <p:spPr>
          <a:xfrm>
            <a:off x="9079992" y="4764024"/>
            <a:ext cx="2532887" cy="502920"/>
          </a:xfrm>
          <a:prstGeom prst="rect">
            <a:avLst/>
          </a:prstGeom>
          <a:noFill/>
        </p:spPr>
        <p:txBody>
          <a:bodyPr wrap="square" anchor="t" lIns="45720" rIns="45720"/>
          <a:lstStyle/>
          <a:p>
            <a:pPr algn="ctr">
              <a:lnSpc>
                <a:spcPct val="105000"/>
              </a:lnSpc>
              <a:spcAft>
                <a:spcPts val="0"/>
              </a:spcAft>
              <a:buNone/>
            </a:pPr>
            <a:r>
              <a:rPr sz="3000" b="1" i="0">
                <a:solidFill>
                  <a:srgbClr val="52606D"/>
                </a:solidFill>
                <a:latin typeface="Times New Roman"/>
                <a:cs typeface="Times New Roman"/>
              </a:rPr>
              <a:t>+18%</a:t>
            </a:r>
          </a:p>
        </p:txBody>
      </p:sp>
      <p:sp>
        <p:nvSpPr>
          <p:cNvPr id="278543" name="TextBox 278542"/>
          <p:cNvSpPr txBox="1"/>
          <p:nvPr/>
        </p:nvSpPr>
        <p:spPr>
          <a:xfrm>
            <a:off x="9079992" y="5239512"/>
            <a:ext cx="2532887" cy="393192"/>
          </a:xfrm>
          <a:prstGeom prst="rect">
            <a:avLst/>
          </a:prstGeom>
          <a:noFill/>
        </p:spPr>
        <p:txBody>
          <a:bodyPr wrap="square" anchor="t" lIns="45720" rIns="45720"/>
          <a:lstStyle/>
          <a:p>
            <a:pPr algn="ctr">
              <a:lnSpc>
                <a:spcPct val="100000"/>
              </a:lnSpc>
              <a:spcAft>
                <a:spcPts val="0"/>
              </a:spcAft>
              <a:buNone/>
            </a:pPr>
            <a:r>
              <a:rPr sz="1300" b="0" i="0">
                <a:solidFill>
                  <a:srgbClr val="52606D"/>
                </a:solidFill>
                <a:latin typeface="Times New Roman"/>
                <a:cs typeface="Times New Roman"/>
              </a:rPr>
              <a:t>vs ML controller, p = 0.12 (n.s.)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Experiments — Protocol and Performance Metrics</a:t>
            </a:r>
            <a:endParaRPr lang="en-US" sz="2800">
              <a:solidFill>
                <a:schemeClr val="bg1"/>
              </a:solidFill>
            </a:endParaRPr>
          </a:p>
        </p:txBody>
      </p:sp>
      <p:pic>
        <p:nvPicPr>
          <p:cNvPr id="278531" name="Picture 278530" descr="fig04_pipeline.png"/>
          <p:cNvPicPr>
            <a:picLocks noChangeAspect="1"/>
          </p:cNvPicPr>
          <p:nvPr/>
        </p:nvPicPr>
        <p:blipFill>
          <a:blip r:embed="rId3"/>
          <a:stretch>
            <a:fillRect/>
          </a:stretch>
        </p:blipFill>
        <p:spPr>
          <a:xfrm>
            <a:off x="2063607" y="1207008"/>
            <a:ext cx="8061737" cy="2331720"/>
          </a:xfrm>
          <a:prstGeom prst="rect">
            <a:avLst/>
          </a:prstGeom>
        </p:spPr>
      </p:pic>
      <p:sp>
        <p:nvSpPr>
          <p:cNvPr id="278532" name="Rounded Rectangle 278531"/>
          <p:cNvSpPr/>
          <p:nvPr/>
        </p:nvSpPr>
        <p:spPr>
          <a:xfrm>
            <a:off x="502920" y="3703320"/>
            <a:ext cx="2692908" cy="2194560"/>
          </a:xfrm>
          <a:prstGeom prst="roundRect">
            <a:avLst>
              <a:gd name="adj" fmla="val 6000"/>
            </a:avLst>
          </a:prstGeom>
          <a:solidFill>
            <a:srgbClr val="FFFFFF"/>
          </a:solidFill>
          <a:ln w="15875">
            <a:solidFill>
              <a:srgbClr val="1543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3" name="TextBox 278532"/>
          <p:cNvSpPr txBox="1"/>
          <p:nvPr/>
        </p:nvSpPr>
        <p:spPr>
          <a:xfrm>
            <a:off x="612648" y="3749039"/>
            <a:ext cx="2473452" cy="2103120"/>
          </a:xfrm>
          <a:prstGeom prst="rect">
            <a:avLst/>
          </a:prstGeom>
          <a:noFill/>
        </p:spPr>
        <p:txBody>
          <a:bodyPr wrap="square" anchor="t" lIns="45720" rIns="45720"/>
          <a:lstStyle/>
          <a:p>
            <a:pPr algn="l">
              <a:lnSpc>
                <a:spcPct val="105000"/>
              </a:lnSpc>
              <a:spcAft>
                <a:spcPts val="400"/>
              </a:spcAft>
              <a:buNone/>
            </a:pPr>
            <a:r>
              <a:rPr sz="1600" b="1" i="0">
                <a:solidFill>
                  <a:srgbClr val="154360"/>
                </a:solidFill>
                <a:latin typeface="Times New Roman"/>
                <a:cs typeface="Times New Roman"/>
              </a:rPr>
              <a:t>Protocol</a:t>
            </a:r>
          </a:p>
          <a:p>
            <a:pPr algn="l" marL="237744" indent="-237744">
              <a:lnSpc>
                <a:spcPct val="105000"/>
              </a:lnSpc>
              <a:spcAft>
                <a:spcPts val="300"/>
              </a:spcAft>
              <a:buClr>
                <a:srgbClr val="154360"/>
              </a:buClr>
              <a:buFont typeface="Arial"/>
              <a:buChar char="•"/>
            </a:pPr>
            <a:r>
              <a:rPr sz="1300" b="0" i="0">
                <a:solidFill>
                  <a:srgbClr val="1F2933"/>
                </a:solidFill>
                <a:latin typeface="Times New Roman"/>
                <a:cs typeface="Times New Roman"/>
              </a:rPr>
              <a:t>choices on 4 scenario folds of training runs</a:t>
            </a:r>
          </a:p>
          <a:p>
            <a:pPr algn="l" marL="237744" indent="-237744">
              <a:lnSpc>
                <a:spcPct val="105000"/>
              </a:lnSpc>
              <a:spcAft>
                <a:spcPts val="300"/>
              </a:spcAft>
              <a:buClr>
                <a:srgbClr val="154360"/>
              </a:buClr>
              <a:buFont typeface="Arial"/>
              <a:buChar char="•"/>
            </a:pPr>
            <a:r>
              <a:rPr sz="1300" b="0" i="0">
                <a:solidFill>
                  <a:srgbClr val="1F2933"/>
                </a:solidFill>
                <a:latin typeface="Times New Roman"/>
                <a:cs typeface="Times New Roman"/>
              </a:rPr>
              <a:t>held-out pool scored once</a:t>
            </a:r>
          </a:p>
          <a:p>
            <a:pPr algn="l" marL="237744" indent="-237744">
              <a:lnSpc>
                <a:spcPct val="105000"/>
              </a:lnSpc>
              <a:spcAft>
                <a:spcPts val="300"/>
              </a:spcAft>
              <a:buClr>
                <a:srgbClr val="154360"/>
              </a:buClr>
              <a:buFont typeface="Arial"/>
              <a:buChar char="•"/>
            </a:pPr>
            <a:r>
              <a:rPr sz="1300" b="0" i="0">
                <a:solidFill>
                  <a:srgbClr val="1F2933"/>
                </a:solidFill>
                <a:latin typeface="Times New Roman"/>
                <a:cs typeface="Times New Roman"/>
              </a:rPr>
              <a:t>bootstrap CIs over nodes</a:t>
            </a:r>
          </a:p>
          <a:p>
            <a:pPr algn="l" marL="237744" indent="-237744">
              <a:lnSpc>
                <a:spcPct val="105000"/>
              </a:lnSpc>
              <a:spcAft>
                <a:spcPts val="300"/>
              </a:spcAft>
              <a:buClr>
                <a:srgbClr val="154360"/>
              </a:buClr>
              <a:buFont typeface="Arial"/>
              <a:buChar char="•"/>
            </a:pPr>
            <a:r>
              <a:rPr sz="1300" b="0" i="0">
                <a:solidFill>
                  <a:srgbClr val="1F2933"/>
                </a:solidFill>
                <a:latin typeface="Times New Roman"/>
                <a:cs typeface="Times New Roman"/>
              </a:rPr>
              <a:t>paired Wilcoxon tests, 25 runs</a:t>
            </a:r>
          </a:p>
        </p:txBody>
      </p:sp>
      <p:sp>
        <p:nvSpPr>
          <p:cNvPr id="278534" name="Rounded Rectangle 278533"/>
          <p:cNvSpPr/>
          <p:nvPr/>
        </p:nvSpPr>
        <p:spPr>
          <a:xfrm>
            <a:off x="3332987" y="3703320"/>
            <a:ext cx="2692908" cy="2194560"/>
          </a:xfrm>
          <a:prstGeom prst="roundRect">
            <a:avLst>
              <a:gd name="adj" fmla="val 6000"/>
            </a:avLst>
          </a:prstGeom>
          <a:solidFill>
            <a:srgbClr val="FFFFFF"/>
          </a:solidFill>
          <a:ln w="15875">
            <a:solidFill>
              <a:srgbClr val="0079B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5" name="TextBox 278534"/>
          <p:cNvSpPr txBox="1"/>
          <p:nvPr/>
        </p:nvSpPr>
        <p:spPr>
          <a:xfrm>
            <a:off x="3442715" y="3749039"/>
            <a:ext cx="2473452" cy="2103120"/>
          </a:xfrm>
          <a:prstGeom prst="rect">
            <a:avLst/>
          </a:prstGeom>
          <a:noFill/>
        </p:spPr>
        <p:txBody>
          <a:bodyPr wrap="square" anchor="t" lIns="45720" rIns="45720"/>
          <a:lstStyle/>
          <a:p>
            <a:pPr algn="l">
              <a:lnSpc>
                <a:spcPct val="105000"/>
              </a:lnSpc>
              <a:spcAft>
                <a:spcPts val="400"/>
              </a:spcAft>
              <a:buNone/>
            </a:pPr>
            <a:r>
              <a:rPr sz="1600" b="1" i="0">
                <a:solidFill>
                  <a:srgbClr val="0079BC"/>
                </a:solidFill>
                <a:latin typeface="Times New Roman"/>
                <a:cs typeface="Times New Roman"/>
              </a:rPr>
              <a:t>Prediction metrics</a:t>
            </a:r>
          </a:p>
          <a:p>
            <a:pPr algn="l" marL="237744" indent="-237744">
              <a:lnSpc>
                <a:spcPct val="105000"/>
              </a:lnSpc>
              <a:spcAft>
                <a:spcPts val="300"/>
              </a:spcAft>
              <a:buClr>
                <a:srgbClr val="0079BC"/>
              </a:buClr>
              <a:buFont typeface="Arial"/>
              <a:buChar char="•"/>
            </a:pPr>
            <a:r>
              <a:rPr sz="1300" b="0" i="0">
                <a:solidFill>
                  <a:srgbClr val="1F2933"/>
                </a:solidFill>
                <a:latin typeface="Times New Roman"/>
                <a:cs typeface="Times New Roman"/>
              </a:rPr>
              <a:t>ROC-AUC, PR-AUC (chance 0.0026)</a:t>
            </a:r>
          </a:p>
          <a:p>
            <a:pPr algn="l" marL="237744" indent="-237744">
              <a:lnSpc>
                <a:spcPct val="105000"/>
              </a:lnSpc>
              <a:spcAft>
                <a:spcPts val="300"/>
              </a:spcAft>
              <a:buClr>
                <a:srgbClr val="0079BC"/>
              </a:buClr>
              <a:buFont typeface="Arial"/>
              <a:buChar char="•"/>
            </a:pPr>
            <a:r>
              <a:rPr sz="1300" b="0" i="0">
                <a:solidFill>
                  <a:srgbClr val="1F2933"/>
                </a:solidFill>
                <a:latin typeface="Times New Roman"/>
                <a:cs typeface="Times New Roman"/>
              </a:rPr>
              <a:t>Brier, log-loss, ECE (calibration)</a:t>
            </a:r>
          </a:p>
          <a:p>
            <a:pPr algn="l" marL="237744" indent="-237744">
              <a:lnSpc>
                <a:spcPct val="105000"/>
              </a:lnSpc>
              <a:spcAft>
                <a:spcPts val="300"/>
              </a:spcAft>
              <a:buClr>
                <a:srgbClr val="0079BC"/>
              </a:buClr>
              <a:buFont typeface="Arial"/>
              <a:buChar char="•"/>
            </a:pPr>
            <a:r>
              <a:rPr sz="1300" b="0" i="0">
                <a:solidFill>
                  <a:srgbClr val="1F2933"/>
                </a:solidFill>
                <a:latin typeface="Times New Roman"/>
                <a:cs typeface="Times New Roman"/>
              </a:rPr>
              <a:t>precision, recall, F1; early warning</a:t>
            </a:r>
          </a:p>
          <a:p>
            <a:pPr algn="l" marL="237744" indent="-237744">
              <a:lnSpc>
                <a:spcPct val="105000"/>
              </a:lnSpc>
              <a:spcAft>
                <a:spcPts val="300"/>
              </a:spcAft>
              <a:buClr>
                <a:srgbClr val="0079BC"/>
              </a:buClr>
              <a:buFont typeface="Arial"/>
              <a:buChar char="•"/>
            </a:pPr>
            <a:r>
              <a:rPr sz="1300" b="0" i="0">
                <a:solidFill>
                  <a:srgbClr val="1F2933"/>
                </a:solidFill>
                <a:latin typeface="Times New Roman"/>
                <a:cs typeface="Times New Roman"/>
              </a:rPr>
              <a:t>robustness to MCAR / MNAR loss</a:t>
            </a:r>
          </a:p>
        </p:txBody>
      </p:sp>
      <p:sp>
        <p:nvSpPr>
          <p:cNvPr id="278536" name="Rounded Rectangle 278535"/>
          <p:cNvSpPr/>
          <p:nvPr/>
        </p:nvSpPr>
        <p:spPr>
          <a:xfrm>
            <a:off x="6163055" y="3703320"/>
            <a:ext cx="2692908" cy="2194560"/>
          </a:xfrm>
          <a:prstGeom prst="roundRect">
            <a:avLst>
              <a:gd name="adj" fmla="val 6000"/>
            </a:avLst>
          </a:prstGeom>
          <a:solidFill>
            <a:srgbClr val="FFFFFF"/>
          </a:solidFill>
          <a:ln w="15875">
            <a:solidFill>
              <a:srgbClr val="0F8A6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7" name="TextBox 278536"/>
          <p:cNvSpPr txBox="1"/>
          <p:nvPr/>
        </p:nvSpPr>
        <p:spPr>
          <a:xfrm>
            <a:off x="6272783" y="3749039"/>
            <a:ext cx="2473452" cy="2103120"/>
          </a:xfrm>
          <a:prstGeom prst="rect">
            <a:avLst/>
          </a:prstGeom>
          <a:noFill/>
        </p:spPr>
        <p:txBody>
          <a:bodyPr wrap="square" anchor="t" lIns="45720" rIns="45720"/>
          <a:lstStyle/>
          <a:p>
            <a:pPr algn="l">
              <a:lnSpc>
                <a:spcPct val="105000"/>
              </a:lnSpc>
              <a:spcAft>
                <a:spcPts val="400"/>
              </a:spcAft>
              <a:buNone/>
            </a:pPr>
            <a:r>
              <a:rPr sz="1600" b="1" i="0">
                <a:solidFill>
                  <a:srgbClr val="0F8A6A"/>
                </a:solidFill>
                <a:latin typeface="Times New Roman"/>
                <a:cs typeface="Times New Roman"/>
              </a:rPr>
              <a:t>Service metrics</a:t>
            </a:r>
          </a:p>
          <a:p>
            <a:pPr algn="l" marL="237744" indent="-237744">
              <a:lnSpc>
                <a:spcPct val="105000"/>
              </a:lnSpc>
              <a:spcAft>
                <a:spcPts val="300"/>
              </a:spcAft>
              <a:buClr>
                <a:srgbClr val="0F8A6A"/>
              </a:buClr>
              <a:buFont typeface="Arial"/>
              <a:buChar char="•"/>
            </a:pPr>
            <a:r>
              <a:rPr sz="1300" b="0" i="0">
                <a:solidFill>
                  <a:srgbClr val="1F2933"/>
                </a:solidFill>
                <a:latin typeface="Times New Roman"/>
                <a:cs typeface="Times New Roman"/>
              </a:rPr>
              <a:t>downtime per user: failures + migrations</a:t>
            </a:r>
          </a:p>
          <a:p>
            <a:pPr algn="l" marL="237744" indent="-237744">
              <a:lnSpc>
                <a:spcPct val="105000"/>
              </a:lnSpc>
              <a:spcAft>
                <a:spcPts val="300"/>
              </a:spcAft>
              <a:buClr>
                <a:srgbClr val="0F8A6A"/>
              </a:buClr>
              <a:buFont typeface="Arial"/>
              <a:buChar char="•"/>
            </a:pPr>
            <a:r>
              <a:rPr sz="1300" b="0" i="0">
                <a:solidFill>
                  <a:srgbClr val="1F2933"/>
                </a:solidFill>
                <a:latin typeface="Times New Roman"/>
                <a:cs typeface="Times New Roman"/>
              </a:rPr>
              <a:t>users hit / evacuated; availability</a:t>
            </a:r>
          </a:p>
          <a:p>
            <a:pPr algn="l" marL="237744" indent="-237744">
              <a:lnSpc>
                <a:spcPct val="105000"/>
              </a:lnSpc>
              <a:spcAft>
                <a:spcPts val="300"/>
              </a:spcAft>
              <a:buClr>
                <a:srgbClr val="0F8A6A"/>
              </a:buClr>
              <a:buFont typeface="Arial"/>
              <a:buChar char="•"/>
            </a:pPr>
            <a:r>
              <a:rPr sz="1300" b="0" i="0">
                <a:solidFill>
                  <a:srgbClr val="1F2933"/>
                </a:solidFill>
                <a:latin typeface="Times New Roman"/>
                <a:cs typeface="Times New Roman"/>
              </a:rPr>
              <a:t>critical deadline misses (150 ms), p95</a:t>
            </a:r>
          </a:p>
          <a:p>
            <a:pPr algn="l" marL="237744" indent="-237744">
              <a:lnSpc>
                <a:spcPct val="105000"/>
              </a:lnSpc>
              <a:spcAft>
                <a:spcPts val="300"/>
              </a:spcAft>
              <a:buClr>
                <a:srgbClr val="0F8A6A"/>
              </a:buClr>
              <a:buFont typeface="Arial"/>
              <a:buChar char="•"/>
            </a:pPr>
            <a:r>
              <a:rPr sz="1300" b="0" i="0">
                <a:solidFill>
                  <a:srgbClr val="1F2933"/>
                </a:solidFill>
                <a:latin typeface="Times New Roman"/>
                <a:cs typeface="Times New Roman"/>
              </a:rPr>
              <a:t>warm-standby overhead</a:t>
            </a:r>
          </a:p>
        </p:txBody>
      </p:sp>
      <p:sp>
        <p:nvSpPr>
          <p:cNvPr id="278538" name="Rounded Rectangle 278537"/>
          <p:cNvSpPr/>
          <p:nvPr/>
        </p:nvSpPr>
        <p:spPr>
          <a:xfrm>
            <a:off x="8993124" y="3703320"/>
            <a:ext cx="2692908" cy="2194560"/>
          </a:xfrm>
          <a:prstGeom prst="roundRect">
            <a:avLst>
              <a:gd name="adj" fmla="val 6000"/>
            </a:avLst>
          </a:prstGeom>
          <a:solidFill>
            <a:srgbClr val="FFFFFF"/>
          </a:solidFill>
          <a:ln w="15875">
            <a:solidFill>
              <a:srgbClr val="C255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9" name="TextBox 278538"/>
          <p:cNvSpPr txBox="1"/>
          <p:nvPr/>
        </p:nvSpPr>
        <p:spPr>
          <a:xfrm>
            <a:off x="9102852" y="3749039"/>
            <a:ext cx="2473452" cy="2103120"/>
          </a:xfrm>
          <a:prstGeom prst="rect">
            <a:avLst/>
          </a:prstGeom>
          <a:noFill/>
        </p:spPr>
        <p:txBody>
          <a:bodyPr wrap="square" anchor="t" lIns="45720" rIns="45720"/>
          <a:lstStyle/>
          <a:p>
            <a:pPr algn="l">
              <a:lnSpc>
                <a:spcPct val="105000"/>
              </a:lnSpc>
              <a:spcAft>
                <a:spcPts val="400"/>
              </a:spcAft>
              <a:buNone/>
            </a:pPr>
            <a:r>
              <a:rPr sz="1600" b="1" i="0">
                <a:solidFill>
                  <a:srgbClr val="C2551C"/>
                </a:solidFill>
                <a:latin typeface="Times New Roman"/>
                <a:cs typeface="Times New Roman"/>
              </a:rPr>
              <a:t>Baselines</a:t>
            </a:r>
          </a:p>
          <a:p>
            <a:pPr algn="l" marL="237744" indent="-237744">
              <a:lnSpc>
                <a:spcPct val="105000"/>
              </a:lnSpc>
              <a:spcAft>
                <a:spcPts val="300"/>
              </a:spcAft>
              <a:buClr>
                <a:srgbClr val="C2551C"/>
              </a:buClr>
              <a:buFont typeface="Arial"/>
              <a:buChar char="•"/>
            </a:pPr>
            <a:r>
              <a:rPr sz="1300" b="0" i="0">
                <a:solidFill>
                  <a:srgbClr val="1F2933"/>
                </a:solidFill>
                <a:latin typeface="Times New Roman"/>
                <a:cs typeface="Times New Roman"/>
              </a:rPr>
              <a:t>predictors: RF, GB, NB, LR, MLP, FTAPA, CPU</a:t>
            </a:r>
          </a:p>
          <a:p>
            <a:pPr algn="l" marL="237744" indent="-237744">
              <a:lnSpc>
                <a:spcPct val="105000"/>
              </a:lnSpc>
              <a:spcAft>
                <a:spcPts val="300"/>
              </a:spcAft>
              <a:buClr>
                <a:srgbClr val="C2551C"/>
              </a:buClr>
              <a:buFont typeface="Arial"/>
              <a:buChar char="•"/>
            </a:pPr>
            <a:r>
              <a:rPr sz="1300" b="0" i="0">
                <a:solidFill>
                  <a:srgbClr val="1F2933"/>
                </a:solidFill>
                <a:latin typeface="Times New Roman"/>
                <a:cs typeface="Times New Roman"/>
              </a:rPr>
              <a:t>policies: none, cloud-only, reactive</a:t>
            </a:r>
          </a:p>
          <a:p>
            <a:pPr algn="l" marL="237744" indent="-237744">
              <a:lnSpc>
                <a:spcPct val="105000"/>
              </a:lnSpc>
              <a:spcAft>
                <a:spcPts val="300"/>
              </a:spcAft>
              <a:buClr>
                <a:srgbClr val="C2551C"/>
              </a:buClr>
              <a:buFont typeface="Arial"/>
              <a:buChar char="•"/>
            </a:pPr>
            <a:r>
              <a:rPr sz="1300" b="0" i="0">
                <a:solidFill>
                  <a:srgbClr val="1F2933"/>
                </a:solidFill>
                <a:latin typeface="Times New Roman"/>
                <a:cs typeface="Times New Roman"/>
              </a:rPr>
              <a:t>FTAPA threshold migration</a:t>
            </a:r>
          </a:p>
          <a:p>
            <a:pPr algn="l" marL="237744" indent="-237744">
              <a:lnSpc>
                <a:spcPct val="105000"/>
              </a:lnSpc>
              <a:spcAft>
                <a:spcPts val="300"/>
              </a:spcAft>
              <a:buClr>
                <a:srgbClr val="C2551C"/>
              </a:buClr>
              <a:buFont typeface="Arial"/>
              <a:buChar char="•"/>
            </a:pPr>
            <a:r>
              <a:rPr sz="1300" b="0" i="0">
                <a:solidFill>
                  <a:srgbClr val="1F2933"/>
                </a:solidFill>
                <a:latin typeface="Times New Roman"/>
                <a:cs typeface="Times New Roman"/>
              </a:rPr>
              <a:t>ML-driven controller; oracle bound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Results — Improving the BBN (Training Folds Only)</a:t>
            </a:r>
            <a:endParaRPr lang="en-US" sz="2800">
              <a:solidFill>
                <a:schemeClr val="bg1"/>
              </a:solidFill>
            </a:endParaRPr>
          </a:p>
        </p:txBody>
      </p:sp>
      <p:pic>
        <p:nvPicPr>
          <p:cNvPr id="278531" name="Picture 278530" descr="chart_c7_ladder.png"/>
          <p:cNvPicPr>
            <a:picLocks noChangeAspect="1"/>
          </p:cNvPicPr>
          <p:nvPr/>
        </p:nvPicPr>
        <p:blipFill>
          <a:blip r:embed="rId3"/>
          <a:stretch>
            <a:fillRect/>
          </a:stretch>
        </p:blipFill>
        <p:spPr>
          <a:xfrm>
            <a:off x="502920" y="1389888"/>
            <a:ext cx="7315200" cy="2662878"/>
          </a:xfrm>
          <a:prstGeom prst="rect">
            <a:avLst/>
          </a:prstGeom>
        </p:spPr>
      </p:pic>
      <p:sp>
        <p:nvSpPr>
          <p:cNvPr id="278532" name="Rounded Rectangle 278531"/>
          <p:cNvSpPr/>
          <p:nvPr/>
        </p:nvSpPr>
        <p:spPr>
          <a:xfrm>
            <a:off x="502920" y="4434840"/>
            <a:ext cx="7315200" cy="1143000"/>
          </a:xfrm>
          <a:prstGeom prst="roundRect">
            <a:avLst>
              <a:gd name="adj" fmla="val 6000"/>
            </a:avLst>
          </a:prstGeom>
          <a:solidFill>
            <a:srgbClr val="E8F2FA"/>
          </a:solidFill>
          <a:ln w="15875">
            <a:solidFill>
              <a:srgbClr val="0079B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3" name="TextBox 278532"/>
          <p:cNvSpPr txBox="1"/>
          <p:nvPr/>
        </p:nvSpPr>
        <p:spPr>
          <a:xfrm>
            <a:off x="685800" y="4480560"/>
            <a:ext cx="6949440" cy="1051560"/>
          </a:xfrm>
          <a:prstGeom prst="rect">
            <a:avLst/>
          </a:prstGeom>
          <a:noFill/>
        </p:spPr>
        <p:txBody>
          <a:bodyPr wrap="square" anchor="ctr" lIns="45720" rIns="45720"/>
          <a:lstStyle/>
          <a:p>
            <a:pPr algn="l">
              <a:lnSpc>
                <a:spcPct val="105000"/>
              </a:lnSpc>
              <a:spcAft>
                <a:spcPts val="0"/>
              </a:spcAft>
              <a:buNone/>
            </a:pPr>
            <a:r>
              <a:rPr sz="1500" b="1" i="0">
                <a:solidFill>
                  <a:srgbClr val="1F2933"/>
                </a:solidFill>
                <a:latin typeface="Times New Roman"/>
                <a:cs typeface="Times New Roman"/>
              </a:rPr>
              <a:t>Then, once, on the held-out pool:</a:t>
            </a:r>
            <a:r>
              <a:rPr sz="1500" b="0" i="0">
                <a:solidFill>
                  <a:srgbClr val="1F2933"/>
                </a:solidFill>
                <a:latin typeface="Times New Roman"/>
                <a:cs typeface="Times New Roman"/>
              </a:rPr>
              <a:t> ROC-AUC 0.866 · PR-AUC 0.639 · Brier 0.00128 · ECE 0.0005 — not directly comparable with the CV score: the training runs fail more often (0.48% vs 0.26%), and PR-AUC rises with prevalence</a:t>
            </a:r>
          </a:p>
        </p:txBody>
      </p:sp>
      <p:sp>
        <p:nvSpPr>
          <p:cNvPr id="278534" name="TextBox 278533"/>
          <p:cNvSpPr txBox="1"/>
          <p:nvPr/>
        </p:nvSpPr>
        <p:spPr>
          <a:xfrm>
            <a:off x="8092440" y="1344168"/>
            <a:ext cx="3593591" cy="4572000"/>
          </a:xfrm>
          <a:prstGeom prst="rect">
            <a:avLst/>
          </a:prstGeom>
          <a:noFill/>
        </p:spPr>
        <p:txBody>
          <a:bodyPr wrap="square" anchor="t" lIns="45720" rIns="45720"/>
          <a:lstStyle/>
          <a:p>
            <a:pPr algn="l">
              <a:lnSpc>
                <a:spcPct val="105000"/>
              </a:lnSpc>
              <a:spcAft>
                <a:spcPts val="400"/>
              </a:spcAft>
              <a:buNone/>
            </a:pPr>
            <a:r>
              <a:rPr sz="1800" b="1" i="0">
                <a:solidFill>
                  <a:srgbClr val="154360"/>
                </a:solidFill>
                <a:latin typeface="Times New Roman"/>
                <a:cs typeface="Times New Roman"/>
              </a:rPr>
              <a:t>What moved accuracy</a:t>
            </a:r>
          </a:p>
          <a:p>
            <a:pPr algn="l" marL="237744" indent="-237744">
              <a:lnSpc>
                <a:spcPct val="105000"/>
              </a:lnSpc>
              <a:spcAft>
                <a:spcPts val="600"/>
              </a:spcAft>
              <a:buClr>
                <a:srgbClr val="0079BC"/>
              </a:buClr>
              <a:buFont typeface="Arial"/>
              <a:buChar char="•"/>
            </a:pPr>
            <a:r>
              <a:rPr sz="1500" b="0" i="0">
                <a:solidFill>
                  <a:srgbClr val="1F2933"/>
                </a:solidFill>
                <a:latin typeface="Times New Roman"/>
                <a:cs typeface="Times New Roman"/>
              </a:rPr>
              <a:t>Tertiles hide the tail where failures live: </a:t>
            </a:r>
            <a:r>
              <a:rPr sz="1500" b="1" i="0">
                <a:solidFill>
                  <a:srgbClr val="1F2933"/>
                </a:solidFill>
                <a:latin typeface="Times New Roman"/>
                <a:cs typeface="Times New Roman"/>
              </a:rPr>
              <a:t>0.041</a:t>
            </a:r>
          </a:p>
          <a:p>
            <a:pPr algn="l" marL="237744" indent="-237744">
              <a:lnSpc>
                <a:spcPct val="105000"/>
              </a:lnSpc>
              <a:spcAft>
                <a:spcPts val="600"/>
              </a:spcAft>
              <a:buClr>
                <a:srgbClr val="0079BC"/>
              </a:buClr>
              <a:buFont typeface="Arial"/>
              <a:buChar char="•"/>
            </a:pPr>
            <a:r>
              <a:rPr sz="1500" b="0" i="0">
                <a:solidFill>
                  <a:srgbClr val="1F2933"/>
                </a:solidFill>
                <a:latin typeface="Times New Roman"/>
                <a:cs typeface="Times New Roman"/>
              </a:rPr>
              <a:t>Supervised cut points: </a:t>
            </a:r>
            <a:r>
              <a:rPr sz="1500" b="1" i="0">
                <a:solidFill>
                  <a:srgbClr val="1F2933"/>
                </a:solidFill>
                <a:latin typeface="Times New Roman"/>
                <a:cs typeface="Times New Roman"/>
              </a:rPr>
              <a:t>0.434</a:t>
            </a:r>
          </a:p>
          <a:p>
            <a:pPr algn="l" marL="237744" indent="-237744">
              <a:lnSpc>
                <a:spcPct val="105000"/>
              </a:lnSpc>
              <a:spcAft>
                <a:spcPts val="600"/>
              </a:spcAft>
              <a:buClr>
                <a:srgbClr val="0079BC"/>
              </a:buClr>
              <a:buFont typeface="Arial"/>
              <a:buChar char="•"/>
            </a:pPr>
            <a:r>
              <a:rPr sz="1500" b="0" i="0">
                <a:solidFill>
                  <a:srgbClr val="1F2933"/>
                </a:solidFill>
                <a:latin typeface="Times New Roman"/>
                <a:cs typeface="Times New Roman"/>
              </a:rPr>
              <a:t>Trend channels catch drift: </a:t>
            </a:r>
            <a:r>
              <a:rPr sz="1500" b="1" i="0">
                <a:solidFill>
                  <a:srgbClr val="1F2933"/>
                </a:solidFill>
                <a:latin typeface="Times New Roman"/>
                <a:cs typeface="Times New Roman"/>
              </a:rPr>
              <a:t>0.562</a:t>
            </a:r>
          </a:p>
          <a:p>
            <a:pPr algn="l" marL="237744" indent="-237744">
              <a:lnSpc>
                <a:spcPct val="105000"/>
              </a:lnSpc>
              <a:spcAft>
                <a:spcPts val="600"/>
              </a:spcAft>
              <a:buClr>
                <a:srgbClr val="0079BC"/>
              </a:buClr>
              <a:buFont typeface="Arial"/>
              <a:buChar char="•"/>
            </a:pPr>
            <a:r>
              <a:rPr sz="1500" b="0" i="0">
                <a:solidFill>
                  <a:srgbClr val="1F2933"/>
                </a:solidFill>
                <a:latin typeface="Times New Roman"/>
                <a:cs typeface="Times New Roman"/>
              </a:rPr>
              <a:t>Ranked nodes make 8 bins learnable: </a:t>
            </a:r>
            <a:r>
              <a:rPr sz="1500" b="1" i="0">
                <a:solidFill>
                  <a:srgbClr val="1F2933"/>
                </a:solidFill>
                <a:latin typeface="Times New Roman"/>
                <a:cs typeface="Times New Roman"/>
              </a:rPr>
              <a:t>0.653</a:t>
            </a:r>
          </a:p>
          <a:p>
            <a:pPr algn="l" marL="237744" indent="-237744">
              <a:lnSpc>
                <a:spcPct val="105000"/>
              </a:lnSpc>
              <a:spcAft>
                <a:spcPts val="600"/>
              </a:spcAft>
              <a:buClr>
                <a:srgbClr val="0079BC"/>
              </a:buClr>
              <a:buFont typeface="Arial"/>
              <a:buChar char="•"/>
            </a:pPr>
            <a:r>
              <a:rPr sz="1500" b="0" i="0">
                <a:solidFill>
                  <a:srgbClr val="1F2933"/>
                </a:solidFill>
                <a:latin typeface="Times New Roman"/>
                <a:cs typeface="Times New Roman"/>
              </a:rPr>
              <a:t>Per-class bins: </a:t>
            </a:r>
            <a:r>
              <a:rPr sz="1500" b="1" i="0">
                <a:solidFill>
                  <a:srgbClr val="1F2933"/>
                </a:solidFill>
                <a:latin typeface="Times New Roman"/>
                <a:cs typeface="Times New Roman"/>
              </a:rPr>
              <a:t>0.753 → 0.759</a:t>
            </a:r>
          </a:p>
          <a:p>
            <a:pPr algn="l">
              <a:lnSpc>
                <a:spcPct val="105000"/>
              </a:lnSpc>
              <a:spcAft>
                <a:spcPts val="0"/>
              </a:spcAft>
              <a:buNone/>
            </a:pPr>
            <a:r>
              <a:rPr sz="1300" b="0" i="1">
                <a:solidFill>
                  <a:srgbClr val="52606D"/>
                </a:solidFill>
                <a:latin typeface="Times New Roman"/>
                <a:cs typeface="Times New Roman"/>
              </a:rPr>
              <a:t>24 configurations, 4 scenario folds; the held-out pool was scored once, afterwards.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Results — Failure Prediction against Eight Models</a:t>
            </a:r>
            <a:endParaRPr lang="en-US" sz="2800">
              <a:solidFill>
                <a:schemeClr val="bg1"/>
              </a:solidFill>
            </a:endParaRPr>
          </a:p>
        </p:txBody>
      </p:sp>
      <p:pic>
        <p:nvPicPr>
          <p:cNvPr id="278531" name="Picture 278530" descr="chart_c1_discrimination.png"/>
          <p:cNvPicPr>
            <a:picLocks noChangeAspect="1"/>
          </p:cNvPicPr>
          <p:nvPr/>
        </p:nvPicPr>
        <p:blipFill>
          <a:blip r:embed="rId3"/>
          <a:stretch>
            <a:fillRect/>
          </a:stretch>
        </p:blipFill>
        <p:spPr>
          <a:xfrm>
            <a:off x="502920" y="1252728"/>
            <a:ext cx="7589520" cy="3128719"/>
          </a:xfrm>
          <a:prstGeom prst="rect">
            <a:avLst/>
          </a:prstGeom>
        </p:spPr>
      </p:pic>
      <p:sp>
        <p:nvSpPr>
          <p:cNvPr id="278532" name="Rounded Rectangle 278531"/>
          <p:cNvSpPr/>
          <p:nvPr/>
        </p:nvSpPr>
        <p:spPr>
          <a:xfrm>
            <a:off x="8366760" y="1252728"/>
            <a:ext cx="3319271" cy="960120"/>
          </a:xfrm>
          <a:prstGeom prst="roundRect">
            <a:avLst>
              <a:gd name="adj" fmla="val 6000"/>
            </a:avLst>
          </a:prstGeom>
          <a:solidFill>
            <a:srgbClr val="FFFFFF"/>
          </a:solidFill>
          <a:ln w="12700">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3" name="TextBox 278532"/>
          <p:cNvSpPr txBox="1"/>
          <p:nvPr/>
        </p:nvSpPr>
        <p:spPr>
          <a:xfrm>
            <a:off x="8439912" y="1307592"/>
            <a:ext cx="3172967" cy="502920"/>
          </a:xfrm>
          <a:prstGeom prst="rect">
            <a:avLst/>
          </a:prstGeom>
          <a:noFill/>
        </p:spPr>
        <p:txBody>
          <a:bodyPr wrap="square" anchor="t" lIns="45720" rIns="45720"/>
          <a:lstStyle/>
          <a:p>
            <a:pPr algn="ctr">
              <a:lnSpc>
                <a:spcPct val="105000"/>
              </a:lnSpc>
              <a:spcAft>
                <a:spcPts val="0"/>
              </a:spcAft>
              <a:buNone/>
            </a:pPr>
            <a:r>
              <a:rPr sz="3000" b="1" i="0">
                <a:solidFill>
                  <a:srgbClr val="0079BC"/>
                </a:solidFill>
                <a:latin typeface="Times New Roman"/>
                <a:cs typeface="Times New Roman"/>
              </a:rPr>
              <a:t>0.866</a:t>
            </a:r>
          </a:p>
        </p:txBody>
      </p:sp>
      <p:sp>
        <p:nvSpPr>
          <p:cNvPr id="278534" name="TextBox 278533"/>
          <p:cNvSpPr txBox="1"/>
          <p:nvPr/>
        </p:nvSpPr>
        <p:spPr>
          <a:xfrm>
            <a:off x="8439912" y="1783080"/>
            <a:ext cx="3172967" cy="393192"/>
          </a:xfrm>
          <a:prstGeom prst="rect">
            <a:avLst/>
          </a:prstGeom>
          <a:noFill/>
        </p:spPr>
        <p:txBody>
          <a:bodyPr wrap="square" anchor="t" lIns="45720" rIns="45720"/>
          <a:lstStyle/>
          <a:p>
            <a:pPr algn="ctr">
              <a:lnSpc>
                <a:spcPct val="100000"/>
              </a:lnSpc>
              <a:spcAft>
                <a:spcPts val="0"/>
              </a:spcAft>
              <a:buNone/>
            </a:pPr>
            <a:r>
              <a:rPr sz="1300" b="0" i="0">
                <a:solidFill>
                  <a:srgbClr val="52606D"/>
                </a:solidFill>
                <a:latin typeface="Times New Roman"/>
                <a:cs typeface="Times New Roman"/>
              </a:rPr>
              <a:t>ROC-AUC — best of 9 models</a:t>
            </a:r>
          </a:p>
        </p:txBody>
      </p:sp>
      <p:sp>
        <p:nvSpPr>
          <p:cNvPr id="278535" name="Rounded Rectangle 278534"/>
          <p:cNvSpPr/>
          <p:nvPr/>
        </p:nvSpPr>
        <p:spPr>
          <a:xfrm>
            <a:off x="8366760" y="2350008"/>
            <a:ext cx="3319271" cy="960120"/>
          </a:xfrm>
          <a:prstGeom prst="roundRect">
            <a:avLst>
              <a:gd name="adj" fmla="val 6000"/>
            </a:avLst>
          </a:prstGeom>
          <a:solidFill>
            <a:srgbClr val="FFFFFF"/>
          </a:solidFill>
          <a:ln w="12700">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6" name="TextBox 278535"/>
          <p:cNvSpPr txBox="1"/>
          <p:nvPr/>
        </p:nvSpPr>
        <p:spPr>
          <a:xfrm>
            <a:off x="8439912" y="2404872"/>
            <a:ext cx="3172967" cy="502920"/>
          </a:xfrm>
          <a:prstGeom prst="rect">
            <a:avLst/>
          </a:prstGeom>
          <a:noFill/>
        </p:spPr>
        <p:txBody>
          <a:bodyPr wrap="square" anchor="t" lIns="45720" rIns="45720"/>
          <a:lstStyle/>
          <a:p>
            <a:pPr algn="ctr">
              <a:lnSpc>
                <a:spcPct val="105000"/>
              </a:lnSpc>
              <a:spcAft>
                <a:spcPts val="0"/>
              </a:spcAft>
              <a:buNone/>
            </a:pPr>
            <a:r>
              <a:rPr sz="3000" b="1" i="0">
                <a:solidFill>
                  <a:srgbClr val="0079BC"/>
                </a:solidFill>
                <a:latin typeface="Times New Roman"/>
                <a:cs typeface="Times New Roman"/>
              </a:rPr>
              <a:t>0.639</a:t>
            </a:r>
          </a:p>
        </p:txBody>
      </p:sp>
      <p:sp>
        <p:nvSpPr>
          <p:cNvPr id="278537" name="TextBox 278536"/>
          <p:cNvSpPr txBox="1"/>
          <p:nvPr/>
        </p:nvSpPr>
        <p:spPr>
          <a:xfrm>
            <a:off x="8439912" y="2880360"/>
            <a:ext cx="3172967" cy="393192"/>
          </a:xfrm>
          <a:prstGeom prst="rect">
            <a:avLst/>
          </a:prstGeom>
          <a:noFill/>
        </p:spPr>
        <p:txBody>
          <a:bodyPr wrap="square" anchor="t" lIns="45720" rIns="45720"/>
          <a:lstStyle/>
          <a:p>
            <a:pPr algn="ctr">
              <a:lnSpc>
                <a:spcPct val="100000"/>
              </a:lnSpc>
              <a:spcAft>
                <a:spcPts val="0"/>
              </a:spcAft>
              <a:buNone/>
            </a:pPr>
            <a:r>
              <a:rPr sz="1300" b="0" i="0">
                <a:solidFill>
                  <a:srgbClr val="52606D"/>
                </a:solidFill>
                <a:latin typeface="Times New Roman"/>
                <a:cs typeface="Times New Roman"/>
              </a:rPr>
              <a:t>PR-AUC — tied with RF (0.651)</a:t>
            </a:r>
          </a:p>
        </p:txBody>
      </p:sp>
      <p:sp>
        <p:nvSpPr>
          <p:cNvPr id="278538" name="Rounded Rectangle 278537"/>
          <p:cNvSpPr/>
          <p:nvPr/>
        </p:nvSpPr>
        <p:spPr>
          <a:xfrm>
            <a:off x="8366760" y="3447288"/>
            <a:ext cx="3319271" cy="960120"/>
          </a:xfrm>
          <a:prstGeom prst="roundRect">
            <a:avLst>
              <a:gd name="adj" fmla="val 6000"/>
            </a:avLst>
          </a:prstGeom>
          <a:solidFill>
            <a:srgbClr val="FFFFFF"/>
          </a:solidFill>
          <a:ln w="12700">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9" name="TextBox 278538"/>
          <p:cNvSpPr txBox="1"/>
          <p:nvPr/>
        </p:nvSpPr>
        <p:spPr>
          <a:xfrm>
            <a:off x="8439912" y="3502152"/>
            <a:ext cx="3172967" cy="502920"/>
          </a:xfrm>
          <a:prstGeom prst="rect">
            <a:avLst/>
          </a:prstGeom>
          <a:noFill/>
        </p:spPr>
        <p:txBody>
          <a:bodyPr wrap="square" anchor="t" lIns="45720" rIns="45720"/>
          <a:lstStyle/>
          <a:p>
            <a:pPr algn="ctr">
              <a:lnSpc>
                <a:spcPct val="105000"/>
              </a:lnSpc>
              <a:spcAft>
                <a:spcPts val="0"/>
              </a:spcAft>
              <a:buNone/>
            </a:pPr>
            <a:r>
              <a:rPr sz="2600" b="1" i="0">
                <a:solidFill>
                  <a:srgbClr val="0F8A6A"/>
                </a:solidFill>
                <a:latin typeface="Times New Roman"/>
                <a:cs typeface="Times New Roman"/>
              </a:rPr>
              <a:t>99% / 90%</a:t>
            </a:r>
          </a:p>
        </p:txBody>
      </p:sp>
      <p:sp>
        <p:nvSpPr>
          <p:cNvPr id="278540" name="TextBox 278539"/>
          <p:cNvSpPr txBox="1"/>
          <p:nvPr/>
        </p:nvSpPr>
        <p:spPr>
          <a:xfrm>
            <a:off x="8439912" y="3977640"/>
            <a:ext cx="3172967" cy="393192"/>
          </a:xfrm>
          <a:prstGeom prst="rect">
            <a:avLst/>
          </a:prstGeom>
          <a:noFill/>
        </p:spPr>
        <p:txBody>
          <a:bodyPr wrap="square" anchor="t" lIns="45720" rIns="45720"/>
          <a:lstStyle/>
          <a:p>
            <a:pPr algn="ctr">
              <a:lnSpc>
                <a:spcPct val="100000"/>
              </a:lnSpc>
              <a:spcAft>
                <a:spcPts val="0"/>
              </a:spcAft>
              <a:buNone/>
            </a:pPr>
            <a:r>
              <a:rPr sz="1300" b="0" i="0">
                <a:solidFill>
                  <a:srgbClr val="52606D"/>
                </a:solidFill>
                <a:latin typeface="Times New Roman"/>
                <a:cs typeface="Times New Roman"/>
              </a:rPr>
              <a:t>of the achievable ROC / PR-AUC</a:t>
            </a:r>
          </a:p>
        </p:txBody>
      </p:sp>
      <p:sp>
        <p:nvSpPr>
          <p:cNvPr id="278541" name="Rounded Rectangle 278540"/>
          <p:cNvSpPr/>
          <p:nvPr/>
        </p:nvSpPr>
        <p:spPr>
          <a:xfrm>
            <a:off x="8366760" y="4544568"/>
            <a:ext cx="3319271" cy="960120"/>
          </a:xfrm>
          <a:prstGeom prst="roundRect">
            <a:avLst>
              <a:gd name="adj" fmla="val 6000"/>
            </a:avLst>
          </a:prstGeom>
          <a:solidFill>
            <a:srgbClr val="FFFFFF"/>
          </a:solidFill>
          <a:ln w="12700">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42" name="TextBox 278541"/>
          <p:cNvSpPr txBox="1"/>
          <p:nvPr/>
        </p:nvSpPr>
        <p:spPr>
          <a:xfrm>
            <a:off x="8439912" y="4599431"/>
            <a:ext cx="3172967" cy="502920"/>
          </a:xfrm>
          <a:prstGeom prst="rect">
            <a:avLst/>
          </a:prstGeom>
          <a:noFill/>
        </p:spPr>
        <p:txBody>
          <a:bodyPr wrap="square" anchor="t" lIns="45720" rIns="45720"/>
          <a:lstStyle/>
          <a:p>
            <a:pPr algn="ctr">
              <a:lnSpc>
                <a:spcPct val="105000"/>
              </a:lnSpc>
              <a:spcAft>
                <a:spcPts val="0"/>
              </a:spcAft>
              <a:buNone/>
            </a:pPr>
            <a:r>
              <a:rPr sz="3000" b="1" i="0">
                <a:solidFill>
                  <a:srgbClr val="C2551C"/>
                </a:solidFill>
                <a:latin typeface="Times New Roman"/>
                <a:cs typeface="Times New Roman"/>
              </a:rPr>
              <a:t>63%</a:t>
            </a:r>
          </a:p>
        </p:txBody>
      </p:sp>
      <p:sp>
        <p:nvSpPr>
          <p:cNvPr id="278543" name="TextBox 278542"/>
          <p:cNvSpPr txBox="1"/>
          <p:nvPr/>
        </p:nvSpPr>
        <p:spPr>
          <a:xfrm>
            <a:off x="8439912" y="5074920"/>
            <a:ext cx="3172967" cy="393192"/>
          </a:xfrm>
          <a:prstGeom prst="rect">
            <a:avLst/>
          </a:prstGeom>
          <a:noFill/>
        </p:spPr>
        <p:txBody>
          <a:bodyPr wrap="square" anchor="t" lIns="45720" rIns="45720"/>
          <a:lstStyle/>
          <a:p>
            <a:pPr algn="ctr">
              <a:lnSpc>
                <a:spcPct val="100000"/>
              </a:lnSpc>
              <a:spcAft>
                <a:spcPts val="0"/>
              </a:spcAft>
              <a:buNone/>
            </a:pPr>
            <a:r>
              <a:rPr sz="1300" b="0" i="0">
                <a:solidFill>
                  <a:srgbClr val="52606D"/>
                </a:solidFill>
                <a:latin typeface="Times New Roman"/>
                <a:cs typeface="Times New Roman"/>
              </a:rPr>
              <a:t>failing nodes flagged in time (RF 68%)</a:t>
            </a:r>
          </a:p>
        </p:txBody>
      </p:sp>
      <p:sp>
        <p:nvSpPr>
          <p:cNvPr id="278544" name="TextBox 278543"/>
          <p:cNvSpPr txBox="1"/>
          <p:nvPr/>
        </p:nvSpPr>
        <p:spPr>
          <a:xfrm>
            <a:off x="502920" y="5669280"/>
            <a:ext cx="11183111" cy="310896"/>
          </a:xfrm>
          <a:prstGeom prst="rect">
            <a:avLst/>
          </a:prstGeom>
          <a:noFill/>
        </p:spPr>
        <p:txBody>
          <a:bodyPr wrap="square" anchor="t" lIns="45720" rIns="45720"/>
          <a:lstStyle/>
          <a:p>
            <a:pPr algn="ctr">
              <a:lnSpc>
                <a:spcPct val="105000"/>
              </a:lnSpc>
              <a:spcAft>
                <a:spcPts val="0"/>
              </a:spcAft>
              <a:buNone/>
            </a:pPr>
            <a:r>
              <a:rPr sz="1200" b="0" i="1">
                <a:solidFill>
                  <a:srgbClr val="52606D"/>
                </a:solidFill>
                <a:latin typeface="Times New Roman"/>
                <a:cs typeface="Times New Roman"/>
              </a:rPr>
              <a:t>159,813 held-out snapshots, 422 failing (prevalence 0.26%); 95% bootstrap intervals over nodes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Results — Calibration and Missing Telemetry</a:t>
            </a:r>
            <a:endParaRPr lang="en-US" sz="2800">
              <a:solidFill>
                <a:schemeClr val="bg1"/>
              </a:solidFill>
            </a:endParaRPr>
          </a:p>
        </p:txBody>
      </p:sp>
      <p:pic>
        <p:nvPicPr>
          <p:cNvPr id="278531" name="Picture 278530" descr="chart_c2_reliability.png"/>
          <p:cNvPicPr>
            <a:picLocks noChangeAspect="1"/>
          </p:cNvPicPr>
          <p:nvPr/>
        </p:nvPicPr>
        <p:blipFill>
          <a:blip r:embed="rId3"/>
          <a:stretch>
            <a:fillRect/>
          </a:stretch>
        </p:blipFill>
        <p:spPr>
          <a:xfrm>
            <a:off x="502920" y="1252728"/>
            <a:ext cx="5212080" cy="3315779"/>
          </a:xfrm>
          <a:prstGeom prst="rect">
            <a:avLst/>
          </a:prstGeom>
        </p:spPr>
      </p:pic>
      <p:pic>
        <p:nvPicPr>
          <p:cNvPr id="278532" name="Picture 278531" descr="chart_c3_robustness.png"/>
          <p:cNvPicPr>
            <a:picLocks noChangeAspect="1"/>
          </p:cNvPicPr>
          <p:nvPr/>
        </p:nvPicPr>
        <p:blipFill>
          <a:blip r:embed="rId4"/>
          <a:stretch>
            <a:fillRect/>
          </a:stretch>
        </p:blipFill>
        <p:spPr>
          <a:xfrm>
            <a:off x="5989320" y="1527048"/>
            <a:ext cx="5696712" cy="2171518"/>
          </a:xfrm>
          <a:prstGeom prst="rect">
            <a:avLst/>
          </a:prstGeom>
        </p:spPr>
      </p:pic>
      <p:sp>
        <p:nvSpPr>
          <p:cNvPr id="278533" name="TextBox 278532"/>
          <p:cNvSpPr txBox="1"/>
          <p:nvPr/>
        </p:nvSpPr>
        <p:spPr>
          <a:xfrm>
            <a:off x="502920" y="5029200"/>
            <a:ext cx="5212080" cy="868680"/>
          </a:xfrm>
          <a:prstGeom prst="rect">
            <a:avLst/>
          </a:prstGeom>
          <a:noFill/>
        </p:spPr>
        <p:txBody>
          <a:bodyPr wrap="square" anchor="t" lIns="45720" rIns="45720"/>
          <a:lstStyle/>
          <a:p>
            <a:pPr algn="l" marL="237744" indent="-237744">
              <a:lnSpc>
                <a:spcPct val="105000"/>
              </a:lnSpc>
              <a:spcAft>
                <a:spcPts val="600"/>
              </a:spcAft>
              <a:buClr>
                <a:srgbClr val="0079BC"/>
              </a:buClr>
              <a:buFont typeface="Arial"/>
              <a:buChar char="•"/>
            </a:pPr>
            <a:r>
              <a:rPr sz="1500" b="0" i="0">
                <a:solidFill>
                  <a:srgbClr val="1F2933"/>
                </a:solidFill>
                <a:latin typeface="Times New Roman"/>
                <a:cs typeface="Times New Roman"/>
              </a:rPr>
              <a:t>Best </a:t>
            </a:r>
            <a:r>
              <a:rPr sz="1500" b="1" i="0">
                <a:solidFill>
                  <a:srgbClr val="1F2933"/>
                </a:solidFill>
                <a:latin typeface="Times New Roman"/>
                <a:cs typeface="Times New Roman"/>
              </a:rPr>
              <a:t>Brier 0.00128</a:t>
            </a:r>
            <a:r>
              <a:rPr sz="1500" b="0" i="0">
                <a:solidFill>
                  <a:srgbClr val="1F2933"/>
                </a:solidFill>
                <a:latin typeface="Times New Roman"/>
                <a:cs typeface="Times New Roman"/>
              </a:rPr>
              <a:t> and </a:t>
            </a:r>
            <a:r>
              <a:rPr sz="1500" b="1" i="0">
                <a:solidFill>
                  <a:srgbClr val="1F2933"/>
                </a:solidFill>
                <a:latin typeface="Times New Roman"/>
                <a:cs typeface="Times New Roman"/>
              </a:rPr>
              <a:t>ECE 0.0005</a:t>
            </a:r>
            <a:r>
              <a:rPr sz="1500" b="0" i="0">
                <a:solidFill>
                  <a:srgbClr val="1F2933"/>
                </a:solidFill>
                <a:latin typeface="Times New Roman"/>
                <a:cs typeface="Times New Roman"/>
              </a:rPr>
              <a:t>: probabilities mean what they say — they are multiplied by costs</a:t>
            </a:r>
          </a:p>
        </p:txBody>
      </p:sp>
      <p:sp>
        <p:nvSpPr>
          <p:cNvPr id="278534" name="TextBox 278533"/>
          <p:cNvSpPr txBox="1"/>
          <p:nvPr/>
        </p:nvSpPr>
        <p:spPr>
          <a:xfrm>
            <a:off x="5989320" y="5029200"/>
            <a:ext cx="5696712" cy="868680"/>
          </a:xfrm>
          <a:prstGeom prst="rect">
            <a:avLst/>
          </a:prstGeom>
          <a:noFill/>
        </p:spPr>
        <p:txBody>
          <a:bodyPr wrap="square" anchor="t" lIns="45720" rIns="45720"/>
          <a:lstStyle/>
          <a:p>
            <a:pPr algn="l" marL="237744" indent="-237744">
              <a:lnSpc>
                <a:spcPct val="105000"/>
              </a:lnSpc>
              <a:spcAft>
                <a:spcPts val="600"/>
              </a:spcAft>
              <a:buClr>
                <a:srgbClr val="0079BC"/>
              </a:buClr>
              <a:buFont typeface="Arial"/>
              <a:buChar char="•"/>
            </a:pPr>
            <a:r>
              <a:rPr sz="1500" b="0" i="0">
                <a:solidFill>
                  <a:srgbClr val="1F2933"/>
                </a:solidFill>
                <a:latin typeface="Times New Roman"/>
                <a:cs typeface="Times New Roman"/>
              </a:rPr>
              <a:t>Lowest </a:t>
            </a:r>
            <a:r>
              <a:rPr sz="1500" b="1" i="0">
                <a:solidFill>
                  <a:srgbClr val="1F2933"/>
                </a:solidFill>
                <a:latin typeface="Times New Roman"/>
                <a:cs typeface="Times New Roman"/>
              </a:rPr>
              <a:t>log-loss at every loss rate</a:t>
            </a:r>
            <a:r>
              <a:rPr sz="1500" b="0" i="0">
                <a:solidFill>
                  <a:srgbClr val="1F2933"/>
                </a:solidFill>
                <a:latin typeface="Times New Roman"/>
                <a:cs typeface="Times New Roman"/>
              </a:rPr>
              <a:t>; under heavy loss Naive Bayes ranks best (ROC 0.821 vs 0.700)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Results — Closed-Loop Fault Tolerance in iFogSim</a:t>
            </a:r>
            <a:endParaRPr lang="en-US" sz="2800">
              <a:solidFill>
                <a:schemeClr val="bg1"/>
              </a:solidFill>
            </a:endParaRPr>
          </a:p>
        </p:txBody>
      </p:sp>
      <p:pic>
        <p:nvPicPr>
          <p:cNvPr id="278531" name="Picture 278530" descr="chart_c4_downtime.png"/>
          <p:cNvPicPr>
            <a:picLocks noChangeAspect="1"/>
          </p:cNvPicPr>
          <p:nvPr/>
        </p:nvPicPr>
        <p:blipFill>
          <a:blip r:embed="rId3"/>
          <a:stretch>
            <a:fillRect/>
          </a:stretch>
        </p:blipFill>
        <p:spPr>
          <a:xfrm>
            <a:off x="502920" y="1344168"/>
            <a:ext cx="7863840" cy="2701658"/>
          </a:xfrm>
          <a:prstGeom prst="rect">
            <a:avLst/>
          </a:prstGeom>
        </p:spPr>
      </p:pic>
      <p:sp>
        <p:nvSpPr>
          <p:cNvPr id="278532" name="Rounded Rectangle 278531"/>
          <p:cNvSpPr/>
          <p:nvPr/>
        </p:nvSpPr>
        <p:spPr>
          <a:xfrm>
            <a:off x="8641080" y="1252728"/>
            <a:ext cx="3044952" cy="960120"/>
          </a:xfrm>
          <a:prstGeom prst="roundRect">
            <a:avLst>
              <a:gd name="adj" fmla="val 6000"/>
            </a:avLst>
          </a:prstGeom>
          <a:solidFill>
            <a:srgbClr val="FFFFFF"/>
          </a:solidFill>
          <a:ln w="12700">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3" name="TextBox 278532"/>
          <p:cNvSpPr txBox="1"/>
          <p:nvPr/>
        </p:nvSpPr>
        <p:spPr>
          <a:xfrm>
            <a:off x="8714232" y="1307592"/>
            <a:ext cx="2898648" cy="502920"/>
          </a:xfrm>
          <a:prstGeom prst="rect">
            <a:avLst/>
          </a:prstGeom>
          <a:noFill/>
        </p:spPr>
        <p:txBody>
          <a:bodyPr wrap="square" anchor="t" lIns="45720" rIns="45720"/>
          <a:lstStyle/>
          <a:p>
            <a:pPr algn="ctr">
              <a:lnSpc>
                <a:spcPct val="105000"/>
              </a:lnSpc>
              <a:spcAft>
                <a:spcPts val="0"/>
              </a:spcAft>
              <a:buNone/>
            </a:pPr>
            <a:r>
              <a:rPr sz="2200" b="1" i="0">
                <a:solidFill>
                  <a:srgbClr val="0F8A6A"/>
                </a:solidFill>
                <a:latin typeface="Times New Roman"/>
                <a:cs typeface="Times New Roman"/>
              </a:rPr>
              <a:t>−97 / −85 / −55%</a:t>
            </a:r>
          </a:p>
        </p:txBody>
      </p:sp>
      <p:sp>
        <p:nvSpPr>
          <p:cNvPr id="278534" name="TextBox 278533"/>
          <p:cNvSpPr txBox="1"/>
          <p:nvPr/>
        </p:nvSpPr>
        <p:spPr>
          <a:xfrm>
            <a:off x="8714232" y="1783080"/>
            <a:ext cx="2898648" cy="393192"/>
          </a:xfrm>
          <a:prstGeom prst="rect">
            <a:avLst/>
          </a:prstGeom>
          <a:noFill/>
        </p:spPr>
        <p:txBody>
          <a:bodyPr wrap="square" anchor="t" lIns="45720" rIns="45720"/>
          <a:lstStyle/>
          <a:p>
            <a:pPr algn="ctr">
              <a:lnSpc>
                <a:spcPct val="100000"/>
              </a:lnSpc>
              <a:spcAft>
                <a:spcPts val="0"/>
              </a:spcAft>
              <a:buNone/>
            </a:pPr>
            <a:r>
              <a:rPr sz="1300" b="0" i="0">
                <a:solidFill>
                  <a:srgbClr val="52606D"/>
                </a:solidFill>
                <a:latin typeface="Times New Roman"/>
                <a:cs typeface="Times New Roman"/>
              </a:rPr>
              <a:t>fault downtime vs none, reactive, FTAPA</a:t>
            </a:r>
          </a:p>
        </p:txBody>
      </p:sp>
      <p:sp>
        <p:nvSpPr>
          <p:cNvPr id="278535" name="Rounded Rectangle 278534"/>
          <p:cNvSpPr/>
          <p:nvPr/>
        </p:nvSpPr>
        <p:spPr>
          <a:xfrm>
            <a:off x="8641080" y="2350008"/>
            <a:ext cx="3044952" cy="960120"/>
          </a:xfrm>
          <a:prstGeom prst="roundRect">
            <a:avLst>
              <a:gd name="adj" fmla="val 6000"/>
            </a:avLst>
          </a:prstGeom>
          <a:solidFill>
            <a:srgbClr val="FFFFFF"/>
          </a:solidFill>
          <a:ln w="12700">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6" name="TextBox 278535"/>
          <p:cNvSpPr txBox="1"/>
          <p:nvPr/>
        </p:nvSpPr>
        <p:spPr>
          <a:xfrm>
            <a:off x="8714232" y="2404872"/>
            <a:ext cx="2898648" cy="502920"/>
          </a:xfrm>
          <a:prstGeom prst="rect">
            <a:avLst/>
          </a:prstGeom>
          <a:noFill/>
        </p:spPr>
        <p:txBody>
          <a:bodyPr wrap="square" anchor="t" lIns="45720" rIns="45720"/>
          <a:lstStyle/>
          <a:p>
            <a:pPr algn="ctr">
              <a:lnSpc>
                <a:spcPct val="105000"/>
              </a:lnSpc>
              <a:spcAft>
                <a:spcPts val="0"/>
              </a:spcAft>
              <a:buNone/>
            </a:pPr>
            <a:r>
              <a:rPr sz="3000" b="1" i="0">
                <a:solidFill>
                  <a:srgbClr val="0079BC"/>
                </a:solidFill>
                <a:latin typeface="Times New Roman"/>
                <a:cs typeface="Times New Roman"/>
              </a:rPr>
              <a:t>4.5</a:t>
            </a:r>
          </a:p>
        </p:txBody>
      </p:sp>
      <p:sp>
        <p:nvSpPr>
          <p:cNvPr id="278537" name="TextBox 278536"/>
          <p:cNvSpPr txBox="1"/>
          <p:nvPr/>
        </p:nvSpPr>
        <p:spPr>
          <a:xfrm>
            <a:off x="8714232" y="2880360"/>
            <a:ext cx="2898648" cy="393192"/>
          </a:xfrm>
          <a:prstGeom prst="rect">
            <a:avLst/>
          </a:prstGeom>
          <a:noFill/>
        </p:spPr>
        <p:txBody>
          <a:bodyPr wrap="square" anchor="t" lIns="45720" rIns="45720"/>
          <a:lstStyle/>
          <a:p>
            <a:pPr algn="ctr">
              <a:lnSpc>
                <a:spcPct val="100000"/>
              </a:lnSpc>
              <a:spcAft>
                <a:spcPts val="0"/>
              </a:spcAft>
              <a:buNone/>
            </a:pPr>
            <a:r>
              <a:rPr sz="1300" b="0" i="0">
                <a:solidFill>
                  <a:srgbClr val="52606D"/>
                </a:solidFill>
                <a:latin typeface="Times New Roman"/>
                <a:cs typeface="Times New Roman"/>
              </a:rPr>
              <a:t>users hit per run (FTAPA 54.1)</a:t>
            </a:r>
          </a:p>
        </p:txBody>
      </p:sp>
      <p:sp>
        <p:nvSpPr>
          <p:cNvPr id="278538" name="Rounded Rectangle 278537"/>
          <p:cNvSpPr/>
          <p:nvPr/>
        </p:nvSpPr>
        <p:spPr>
          <a:xfrm>
            <a:off x="8641080" y="3447288"/>
            <a:ext cx="3044952" cy="960120"/>
          </a:xfrm>
          <a:prstGeom prst="roundRect">
            <a:avLst>
              <a:gd name="adj" fmla="val 6000"/>
            </a:avLst>
          </a:prstGeom>
          <a:solidFill>
            <a:srgbClr val="FFFFFF"/>
          </a:solidFill>
          <a:ln w="12700">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9" name="TextBox 278538"/>
          <p:cNvSpPr txBox="1"/>
          <p:nvPr/>
        </p:nvSpPr>
        <p:spPr>
          <a:xfrm>
            <a:off x="8714232" y="3502152"/>
            <a:ext cx="2898648" cy="502920"/>
          </a:xfrm>
          <a:prstGeom prst="rect">
            <a:avLst/>
          </a:prstGeom>
          <a:noFill/>
        </p:spPr>
        <p:txBody>
          <a:bodyPr wrap="square" anchor="t" lIns="45720" rIns="45720"/>
          <a:lstStyle/>
          <a:p>
            <a:pPr algn="ctr">
              <a:lnSpc>
                <a:spcPct val="105000"/>
              </a:lnSpc>
              <a:spcAft>
                <a:spcPts val="0"/>
              </a:spcAft>
              <a:buNone/>
            </a:pPr>
            <a:r>
              <a:rPr sz="3000" b="1" i="0">
                <a:solidFill>
                  <a:srgbClr val="0079BC"/>
                </a:solidFill>
                <a:latin typeface="Times New Roman"/>
                <a:cs typeface="Times New Roman"/>
              </a:rPr>
              <a:t>0.13%</a:t>
            </a:r>
          </a:p>
        </p:txBody>
      </p:sp>
      <p:sp>
        <p:nvSpPr>
          <p:cNvPr id="278540" name="TextBox 278539"/>
          <p:cNvSpPr txBox="1"/>
          <p:nvPr/>
        </p:nvSpPr>
        <p:spPr>
          <a:xfrm>
            <a:off x="8714232" y="3977640"/>
            <a:ext cx="2898648" cy="393192"/>
          </a:xfrm>
          <a:prstGeom prst="rect">
            <a:avLst/>
          </a:prstGeom>
          <a:noFill/>
        </p:spPr>
        <p:txBody>
          <a:bodyPr wrap="square" anchor="t" lIns="45720" rIns="45720"/>
          <a:lstStyle/>
          <a:p>
            <a:pPr algn="ctr">
              <a:lnSpc>
                <a:spcPct val="100000"/>
              </a:lnSpc>
              <a:spcAft>
                <a:spcPts val="0"/>
              </a:spcAft>
              <a:buNone/>
            </a:pPr>
            <a:r>
              <a:rPr sz="1300" b="0" i="0">
                <a:solidFill>
                  <a:srgbClr val="52606D"/>
                </a:solidFill>
                <a:latin typeface="Times New Roman"/>
                <a:cs typeface="Times New Roman"/>
              </a:rPr>
              <a:t>critical alarms past 150 ms</a:t>
            </a:r>
          </a:p>
        </p:txBody>
      </p:sp>
      <p:sp>
        <p:nvSpPr>
          <p:cNvPr id="278541" name="Rounded Rectangle 278540"/>
          <p:cNvSpPr/>
          <p:nvPr/>
        </p:nvSpPr>
        <p:spPr>
          <a:xfrm>
            <a:off x="8641080" y="4544568"/>
            <a:ext cx="3044952" cy="960120"/>
          </a:xfrm>
          <a:prstGeom prst="roundRect">
            <a:avLst>
              <a:gd name="adj" fmla="val 6000"/>
            </a:avLst>
          </a:prstGeom>
          <a:solidFill>
            <a:srgbClr val="FFFFFF"/>
          </a:solidFill>
          <a:ln w="12700">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42" name="TextBox 278541"/>
          <p:cNvSpPr txBox="1"/>
          <p:nvPr/>
        </p:nvSpPr>
        <p:spPr>
          <a:xfrm>
            <a:off x="8714232" y="4599431"/>
            <a:ext cx="2898648" cy="502920"/>
          </a:xfrm>
          <a:prstGeom prst="rect">
            <a:avLst/>
          </a:prstGeom>
          <a:noFill/>
        </p:spPr>
        <p:txBody>
          <a:bodyPr wrap="square" anchor="t" lIns="45720" rIns="45720"/>
          <a:lstStyle/>
          <a:p>
            <a:pPr algn="ctr">
              <a:lnSpc>
                <a:spcPct val="105000"/>
              </a:lnSpc>
              <a:spcAft>
                <a:spcPts val="0"/>
              </a:spcAft>
              <a:buNone/>
            </a:pPr>
            <a:r>
              <a:rPr sz="3000" b="1" i="0">
                <a:solidFill>
                  <a:srgbClr val="154360"/>
                </a:solidFill>
                <a:latin typeface="Times New Roman"/>
                <a:cs typeface="Times New Roman"/>
              </a:rPr>
              <a:t>98.9%</a:t>
            </a:r>
          </a:p>
        </p:txBody>
      </p:sp>
      <p:sp>
        <p:nvSpPr>
          <p:cNvPr id="278543" name="TextBox 278542"/>
          <p:cNvSpPr txBox="1"/>
          <p:nvPr/>
        </p:nvSpPr>
        <p:spPr>
          <a:xfrm>
            <a:off x="8714232" y="5074920"/>
            <a:ext cx="2898648" cy="393192"/>
          </a:xfrm>
          <a:prstGeom prst="rect">
            <a:avLst/>
          </a:prstGeom>
          <a:noFill/>
        </p:spPr>
        <p:txBody>
          <a:bodyPr wrap="square" anchor="t" lIns="45720" rIns="45720"/>
          <a:lstStyle/>
          <a:p>
            <a:pPr algn="ctr">
              <a:lnSpc>
                <a:spcPct val="100000"/>
              </a:lnSpc>
              <a:spcAft>
                <a:spcPts val="0"/>
              </a:spcAft>
              <a:buNone/>
            </a:pPr>
            <a:r>
              <a:rPr sz="1300" b="0" i="0">
                <a:solidFill>
                  <a:srgbClr val="52606D"/>
                </a:solidFill>
                <a:latin typeface="Times New Roman"/>
                <a:cs typeface="Times New Roman"/>
              </a:rPr>
              <a:t>of the oracle’s downtime reduction</a:t>
            </a:r>
          </a:p>
        </p:txBody>
      </p:sp>
      <p:sp>
        <p:nvSpPr>
          <p:cNvPr id="278544" name="TextBox 278543"/>
          <p:cNvSpPr txBox="1"/>
          <p:nvPr/>
        </p:nvSpPr>
        <p:spPr>
          <a:xfrm>
            <a:off x="502920" y="5669280"/>
            <a:ext cx="11183111" cy="310896"/>
          </a:xfrm>
          <a:prstGeom prst="rect">
            <a:avLst/>
          </a:prstGeom>
          <a:noFill/>
        </p:spPr>
        <p:txBody>
          <a:bodyPr wrap="square" anchor="t" lIns="45720" rIns="45720"/>
          <a:lstStyle/>
          <a:p>
            <a:pPr algn="ctr">
              <a:lnSpc>
                <a:spcPct val="105000"/>
              </a:lnSpc>
              <a:spcAft>
                <a:spcPts val="0"/>
              </a:spcAft>
              <a:buNone/>
            </a:pPr>
            <a:r>
              <a:rPr sz="1200" b="0" i="1">
                <a:solidFill>
                  <a:srgbClr val="52606D"/>
                </a:solidFill>
                <a:latin typeface="Times New Roman"/>
                <a:cs typeface="Times New Roman"/>
              </a:rPr>
              <a:t>Cloud-only placement: least downtime, but its 310 ms p95 loop delay misses every critical deadline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Results — Degraded Telemetry and Ablation</a:t>
            </a:r>
            <a:endParaRPr lang="en-US" sz="2800">
              <a:solidFill>
                <a:schemeClr val="bg1"/>
              </a:solidFill>
            </a:endParaRPr>
          </a:p>
        </p:txBody>
      </p:sp>
      <p:sp>
        <p:nvSpPr>
          <p:cNvPr id="278531" name="TextBox 278530"/>
          <p:cNvSpPr txBox="1"/>
          <p:nvPr/>
        </p:nvSpPr>
        <p:spPr>
          <a:xfrm>
            <a:off x="502920" y="1225296"/>
            <a:ext cx="5303520" cy="411480"/>
          </a:xfrm>
          <a:prstGeom prst="rect">
            <a:avLst/>
          </a:prstGeom>
          <a:noFill/>
        </p:spPr>
        <p:txBody>
          <a:bodyPr wrap="square" anchor="t" lIns="45720" rIns="45720"/>
          <a:lstStyle/>
          <a:p>
            <a:pPr algn="l">
              <a:lnSpc>
                <a:spcPct val="105000"/>
              </a:lnSpc>
              <a:spcAft>
                <a:spcPts val="400"/>
              </a:spcAft>
              <a:buNone/>
            </a:pPr>
            <a:r>
              <a:rPr sz="1800" b="1" i="0">
                <a:solidFill>
                  <a:srgbClr val="154360"/>
                </a:solidFill>
                <a:latin typeface="Times New Roman"/>
                <a:cs typeface="Times New Roman"/>
              </a:rPr>
              <a:t>30% of channels missing on degrading nodes</a:t>
            </a:r>
          </a:p>
        </p:txBody>
      </p:sp>
      <p:graphicFrame>
        <p:nvGraphicFramePr>
          <p:cNvPr id="278532" name="Table 278531"/>
          <p:cNvGraphicFramePr>
            <a:graphicFrameLocks noGrp="1"/>
          </p:cNvGraphicFramePr>
          <p:nvPr/>
        </p:nvGraphicFramePr>
        <p:xfrm>
          <a:off x="502920" y="1709928"/>
          <a:ext cx="5303517" cy="2194560"/>
        </p:xfrm>
        <a:graphic>
          <a:graphicData uri="http://schemas.openxmlformats.org/drawingml/2006/table">
            <a:tbl>
              <a:tblPr firstRow="0" bandRow="0">
                <a:tableStyleId>{5C22544A-7EE6-4342-B048-85BDC9FD1C3A}</a:tableStyleId>
              </a:tblPr>
              <a:tblGrid>
                <a:gridCol w="2011679"/>
                <a:gridCol w="1645919"/>
                <a:gridCol w="1645919"/>
              </a:tblGrid>
              <a:tr h="548640">
                <a:tc>
                  <a:txBody>
                    <a:bodyPr wrap="square"/>
                    <a:lstStyle/>
                    <a:p>
                      <a:pPr algn="l"/>
                      <a:r>
                        <a:rPr sz="1500" b="1" i="0">
                          <a:solidFill>
                            <a:srgbClr val="FFFFFF"/>
                          </a:solidFill>
                          <a:latin typeface="Times New Roman"/>
                          <a:cs typeface="Times New Roman"/>
                        </a:rPr>
                        <a:t>Policy</a:t>
                      </a:r>
                    </a:p>
                  </a:txBody>
                  <a:tcPr marL="64008" marR="64008" marT="27432" marB="27432" anchor="ctr">
                    <a:solidFill>
                      <a:srgbClr val="0079BC"/>
                    </a:solidFill>
                  </a:tcPr>
                </a:tc>
                <a:tc>
                  <a:txBody>
                    <a:bodyPr wrap="square"/>
                    <a:lstStyle/>
                    <a:p>
                      <a:pPr algn="ctr"/>
                      <a:r>
                        <a:rPr sz="1500" b="1" i="0">
                          <a:solidFill>
                            <a:srgbClr val="FFFFFF"/>
                          </a:solidFill>
                          <a:latin typeface="Times New Roman"/>
                          <a:cs typeface="Times New Roman"/>
                        </a:rPr>
                        <a:t>Fault downtime / user</a:t>
                      </a:r>
                    </a:p>
                  </a:txBody>
                  <a:tcPr marL="64008" marR="64008" marT="27432" marB="27432" anchor="ctr">
                    <a:solidFill>
                      <a:srgbClr val="0079BC"/>
                    </a:solidFill>
                  </a:tcPr>
                </a:tc>
                <a:tc>
                  <a:txBody>
                    <a:bodyPr wrap="square"/>
                    <a:lstStyle/>
                    <a:p>
                      <a:pPr algn="ctr"/>
                      <a:r>
                        <a:rPr sz="1500" b="1" i="0">
                          <a:solidFill>
                            <a:srgbClr val="FFFFFF"/>
                          </a:solidFill>
                          <a:latin typeface="Times New Roman"/>
                          <a:cs typeface="Times New Roman"/>
                        </a:rPr>
                        <a:t>Total downtime / user</a:t>
                      </a:r>
                    </a:p>
                  </a:txBody>
                  <a:tcPr marL="64008" marR="64008" marT="27432" marB="27432" anchor="ctr">
                    <a:solidFill>
                      <a:srgbClr val="0079BC"/>
                    </a:solidFill>
                  </a:tcPr>
                </a:tc>
              </a:tr>
              <a:tr h="548640">
                <a:tc>
                  <a:txBody>
                    <a:bodyPr wrap="square"/>
                    <a:lstStyle/>
                    <a:p>
                      <a:pPr algn="l"/>
                      <a:r>
                        <a:rPr sz="1500" b="0" i="0">
                          <a:solidFill>
                            <a:srgbClr val="1F2933"/>
                          </a:solidFill>
                          <a:latin typeface="Times New Roman"/>
                          <a:cs typeface="Times New Roman"/>
                        </a:rPr>
                        <a:t>FTAPA threshold</a:t>
                      </a:r>
                    </a:p>
                  </a:txBody>
                  <a:tcPr marL="64008" marR="64008" marT="27432" marB="27432" anchor="ctr">
                    <a:solidFill>
                      <a:srgbClr val="FFFFFF"/>
                    </a:solidFill>
                  </a:tcPr>
                </a:tc>
                <a:tc>
                  <a:txBody>
                    <a:bodyPr wrap="square"/>
                    <a:lstStyle/>
                    <a:p>
                      <a:pPr algn="ctr"/>
                      <a:r>
                        <a:rPr sz="1500" b="0" i="0">
                          <a:solidFill>
                            <a:srgbClr val="1F2933"/>
                          </a:solidFill>
                          <a:latin typeface="Times New Roman"/>
                          <a:cs typeface="Times New Roman"/>
                        </a:rPr>
                        <a:t>33.9 ms</a:t>
                      </a:r>
                    </a:p>
                  </a:txBody>
                  <a:tcPr marL="64008" marR="64008" marT="27432" marB="27432" anchor="ctr">
                    <a:solidFill>
                      <a:srgbClr val="FFFFFF"/>
                    </a:solidFill>
                  </a:tcPr>
                </a:tc>
                <a:tc>
                  <a:txBody>
                    <a:bodyPr wrap="square"/>
                    <a:lstStyle/>
                    <a:p>
                      <a:pPr algn="ctr"/>
                      <a:r>
                        <a:rPr sz="1500" b="0" i="0">
                          <a:solidFill>
                            <a:srgbClr val="1F2933"/>
                          </a:solidFill>
                          <a:latin typeface="Times New Roman"/>
                          <a:cs typeface="Times New Roman"/>
                        </a:rPr>
                        <a:t>133.7 ms</a:t>
                      </a:r>
                    </a:p>
                  </a:txBody>
                  <a:tcPr marL="64008" marR="64008" marT="27432" marB="27432" anchor="ctr">
                    <a:solidFill>
                      <a:srgbClr val="FFFFFF"/>
                    </a:solidFill>
                  </a:tcPr>
                </a:tc>
              </a:tr>
              <a:tr h="548640">
                <a:tc>
                  <a:txBody>
                    <a:bodyPr wrap="square"/>
                    <a:lstStyle/>
                    <a:p>
                      <a:pPr algn="l"/>
                      <a:r>
                        <a:rPr sz="1500" b="0" i="0">
                          <a:solidFill>
                            <a:srgbClr val="1F2933"/>
                          </a:solidFill>
                          <a:latin typeface="Times New Roman"/>
                          <a:cs typeface="Times New Roman"/>
                        </a:rPr>
                        <a:t>Controller + ML</a:t>
                      </a:r>
                    </a:p>
                  </a:txBody>
                  <a:tcPr marL="64008" marR="64008" marT="27432" marB="27432" anchor="ctr">
                    <a:solidFill>
                      <a:srgbClr val="F4F6F8"/>
                    </a:solidFill>
                  </a:tcPr>
                </a:tc>
                <a:tc>
                  <a:txBody>
                    <a:bodyPr wrap="square"/>
                    <a:lstStyle/>
                    <a:p>
                      <a:pPr algn="ctr"/>
                      <a:r>
                        <a:rPr sz="1500" b="0" i="0">
                          <a:solidFill>
                            <a:srgbClr val="1F2933"/>
                          </a:solidFill>
                          <a:latin typeface="Times New Roman"/>
                          <a:cs typeface="Times New Roman"/>
                        </a:rPr>
                        <a:t>90.6 ms</a:t>
                      </a:r>
                    </a:p>
                  </a:txBody>
                  <a:tcPr marL="64008" marR="64008" marT="27432" marB="27432" anchor="ctr">
                    <a:solidFill>
                      <a:srgbClr val="F4F6F8"/>
                    </a:solidFill>
                  </a:tcPr>
                </a:tc>
                <a:tc>
                  <a:txBody>
                    <a:bodyPr wrap="square"/>
                    <a:lstStyle/>
                    <a:p>
                      <a:pPr algn="ctr"/>
                      <a:r>
                        <a:rPr sz="1500" b="0" i="0">
                          <a:solidFill>
                            <a:srgbClr val="1F2933"/>
                          </a:solidFill>
                          <a:latin typeface="Times New Roman"/>
                          <a:cs typeface="Times New Roman"/>
                        </a:rPr>
                        <a:t>156.2 ms</a:t>
                      </a:r>
                    </a:p>
                  </a:txBody>
                  <a:tcPr marL="64008" marR="64008" marT="27432" marB="27432" anchor="ctr">
                    <a:solidFill>
                      <a:srgbClr val="F4F6F8"/>
                    </a:solidFill>
                  </a:tcPr>
                </a:tc>
              </a:tr>
              <a:tr h="548640">
                <a:tc>
                  <a:txBody>
                    <a:bodyPr wrap="square"/>
                    <a:lstStyle/>
                    <a:p>
                      <a:pPr algn="l"/>
                      <a:r>
                        <a:rPr sz="1500" b="1" i="0">
                          <a:solidFill>
                            <a:srgbClr val="1F2933"/>
                          </a:solidFill>
                          <a:latin typeface="Times New Roman"/>
                          <a:cs typeface="Times New Roman"/>
                        </a:rPr>
                        <a:t>BBN framework</a:t>
                      </a:r>
                    </a:p>
                  </a:txBody>
                  <a:tcPr marL="64008" marR="64008" marT="27432" marB="27432" anchor="ctr">
                    <a:solidFill>
                      <a:srgbClr val="D6E8F7"/>
                    </a:solidFill>
                  </a:tcPr>
                </a:tc>
                <a:tc>
                  <a:txBody>
                    <a:bodyPr wrap="square"/>
                    <a:lstStyle/>
                    <a:p>
                      <a:pPr algn="ctr"/>
                      <a:r>
                        <a:rPr sz="1500" b="1" i="0">
                          <a:solidFill>
                            <a:srgbClr val="1F2933"/>
                          </a:solidFill>
                          <a:latin typeface="Times New Roman"/>
                          <a:cs typeface="Times New Roman"/>
                        </a:rPr>
                        <a:t>65.9 ms</a:t>
                      </a:r>
                    </a:p>
                  </a:txBody>
                  <a:tcPr marL="64008" marR="64008" marT="27432" marB="27432" anchor="ctr">
                    <a:solidFill>
                      <a:srgbClr val="D6E8F7"/>
                    </a:solidFill>
                  </a:tcPr>
                </a:tc>
                <a:tc>
                  <a:txBody>
                    <a:bodyPr wrap="square"/>
                    <a:lstStyle/>
                    <a:p>
                      <a:pPr algn="ctr"/>
                      <a:r>
                        <a:rPr sz="1500" b="1" i="0">
                          <a:solidFill>
                            <a:srgbClr val="1F2933"/>
                          </a:solidFill>
                          <a:latin typeface="Times New Roman"/>
                          <a:cs typeface="Times New Roman"/>
                        </a:rPr>
                        <a:t>131.8 ms</a:t>
                      </a:r>
                    </a:p>
                  </a:txBody>
                  <a:tcPr marL="64008" marR="64008" marT="27432" marB="27432" anchor="ctr">
                    <a:solidFill>
                      <a:srgbClr val="D6E8F7"/>
                    </a:solidFill>
                  </a:tcPr>
                </a:tc>
              </a:tr>
            </a:tbl>
          </a:graphicData>
        </a:graphic>
      </p:graphicFrame>
      <p:sp>
        <p:nvSpPr>
          <p:cNvPr id="278533" name="TextBox 278532"/>
          <p:cNvSpPr txBox="1"/>
          <p:nvPr/>
        </p:nvSpPr>
        <p:spPr>
          <a:xfrm>
            <a:off x="502920" y="3977639"/>
            <a:ext cx="5303520" cy="2011680"/>
          </a:xfrm>
          <a:prstGeom prst="rect">
            <a:avLst/>
          </a:prstGeom>
          <a:noFill/>
        </p:spPr>
        <p:txBody>
          <a:bodyPr wrap="square" anchor="t" lIns="45720" rIns="45720"/>
          <a:lstStyle/>
          <a:p>
            <a:pPr algn="l" marL="237744" indent="-237744">
              <a:lnSpc>
                <a:spcPct val="105000"/>
              </a:lnSpc>
              <a:spcAft>
                <a:spcPts val="600"/>
              </a:spcAft>
              <a:buClr>
                <a:srgbClr val="0079BC"/>
              </a:buClr>
              <a:buFont typeface="Arial"/>
              <a:buChar char="•"/>
            </a:pPr>
            <a:r>
              <a:rPr sz="1600" b="0" i="0">
                <a:solidFill>
                  <a:srgbClr val="1F2933"/>
                </a:solidFill>
                <a:latin typeface="Times New Roman"/>
                <a:cs typeface="Times New Roman"/>
              </a:rPr>
              <a:t>BBN vs ML controller: </a:t>
            </a:r>
            <a:r>
              <a:rPr sz="1600" b="1" i="0">
                <a:solidFill>
                  <a:srgbClr val="1F2933"/>
                </a:solidFill>
                <a:latin typeface="Times New Roman"/>
                <a:cs typeface="Times New Roman"/>
              </a:rPr>
              <a:t>−29.2%</a:t>
            </a:r>
            <a:r>
              <a:rPr sz="1600" b="0" i="0">
                <a:solidFill>
                  <a:srgbClr val="1F2933"/>
                </a:solidFill>
                <a:latin typeface="Times New Roman"/>
                <a:cs typeface="Times New Roman"/>
              </a:rPr>
              <a:t> fault downtime (p = 0.006)</a:t>
            </a:r>
          </a:p>
          <a:p>
            <a:pPr algn="l" marL="237744" indent="-237744">
              <a:lnSpc>
                <a:spcPct val="105000"/>
              </a:lnSpc>
              <a:spcAft>
                <a:spcPts val="600"/>
              </a:spcAft>
              <a:buClr>
                <a:srgbClr val="0079BC"/>
              </a:buClr>
              <a:buFont typeface="Arial"/>
              <a:buChar char="•"/>
            </a:pPr>
            <a:r>
              <a:rPr sz="1600" b="0" i="0">
                <a:solidFill>
                  <a:srgbClr val="1F2933"/>
                </a:solidFill>
                <a:latin typeface="Times New Roman"/>
                <a:cs typeface="Times New Roman"/>
              </a:rPr>
              <a:t>Summing out a dark channel beats imputing a healthy-looking median</a:t>
            </a:r>
          </a:p>
          <a:p>
            <a:pPr algn="l" marL="237744" indent="-237744">
              <a:lnSpc>
                <a:spcPct val="105000"/>
              </a:lnSpc>
              <a:spcAft>
                <a:spcPts val="600"/>
              </a:spcAft>
              <a:buClr>
                <a:srgbClr val="0079BC"/>
              </a:buClr>
              <a:buFont typeface="Arial"/>
              <a:buChar char="•"/>
            </a:pPr>
            <a:r>
              <a:rPr sz="1600" b="0" i="0">
                <a:solidFill>
                  <a:srgbClr val="1F2933"/>
                </a:solidFill>
                <a:latin typeface="Times New Roman"/>
                <a:cs typeface="Times New Roman"/>
              </a:rPr>
              <a:t>FTAPA is most robust on fault downtime (p = 0.004) — bought with a standby for </a:t>
            </a:r>
            <a:r>
              <a:rPr sz="1600" b="1" i="0">
                <a:solidFill>
                  <a:srgbClr val="1F2933"/>
                </a:solidFill>
                <a:latin typeface="Times New Roman"/>
                <a:cs typeface="Times New Roman"/>
              </a:rPr>
              <a:t>every</a:t>
            </a:r>
            <a:r>
              <a:rPr sz="1600" b="0" i="0">
                <a:solidFill>
                  <a:srgbClr val="1F2933"/>
                </a:solidFill>
                <a:latin typeface="Times New Roman"/>
                <a:cs typeface="Times New Roman"/>
              </a:rPr>
              <a:t> session</a:t>
            </a:r>
          </a:p>
        </p:txBody>
      </p:sp>
      <p:sp>
        <p:nvSpPr>
          <p:cNvPr id="278534" name="TextBox 278533"/>
          <p:cNvSpPr txBox="1"/>
          <p:nvPr/>
        </p:nvSpPr>
        <p:spPr>
          <a:xfrm>
            <a:off x="6172200" y="1225296"/>
            <a:ext cx="5513831" cy="411480"/>
          </a:xfrm>
          <a:prstGeom prst="rect">
            <a:avLst/>
          </a:prstGeom>
          <a:noFill/>
        </p:spPr>
        <p:txBody>
          <a:bodyPr wrap="square" anchor="t" lIns="45720" rIns="45720"/>
          <a:lstStyle/>
          <a:p>
            <a:pPr algn="l">
              <a:lnSpc>
                <a:spcPct val="105000"/>
              </a:lnSpc>
              <a:spcAft>
                <a:spcPts val="400"/>
              </a:spcAft>
              <a:buNone/>
            </a:pPr>
            <a:r>
              <a:rPr sz="1800" b="1" i="0">
                <a:solidFill>
                  <a:srgbClr val="154360"/>
                </a:solidFill>
                <a:latin typeface="Times New Roman"/>
                <a:cs typeface="Times New Roman"/>
              </a:rPr>
              <a:t>Ablation: remove one component</a:t>
            </a:r>
          </a:p>
        </p:txBody>
      </p:sp>
      <p:pic>
        <p:nvPicPr>
          <p:cNvPr id="278535" name="Picture 278534" descr="chart_c5_ablation.png"/>
          <p:cNvPicPr>
            <a:picLocks noChangeAspect="1"/>
          </p:cNvPicPr>
          <p:nvPr/>
        </p:nvPicPr>
        <p:blipFill>
          <a:blip r:embed="rId3"/>
          <a:stretch>
            <a:fillRect/>
          </a:stretch>
        </p:blipFill>
        <p:spPr>
          <a:xfrm>
            <a:off x="6172200" y="1892808"/>
            <a:ext cx="5513831" cy="1426555"/>
          </a:xfrm>
          <a:prstGeom prst="rect">
            <a:avLst/>
          </a:prstGeom>
        </p:spPr>
      </p:pic>
      <p:sp>
        <p:nvSpPr>
          <p:cNvPr id="278536" name="TextBox 278535"/>
          <p:cNvSpPr txBox="1"/>
          <p:nvPr/>
        </p:nvSpPr>
        <p:spPr>
          <a:xfrm>
            <a:off x="6172200" y="3977639"/>
            <a:ext cx="5513831" cy="2011680"/>
          </a:xfrm>
          <a:prstGeom prst="rect">
            <a:avLst/>
          </a:prstGeom>
          <a:noFill/>
        </p:spPr>
        <p:txBody>
          <a:bodyPr wrap="square" anchor="t" lIns="45720" rIns="45720"/>
          <a:lstStyle/>
          <a:p>
            <a:pPr algn="l" marL="237744" indent="-237744">
              <a:lnSpc>
                <a:spcPct val="105000"/>
              </a:lnSpc>
              <a:spcAft>
                <a:spcPts val="600"/>
              </a:spcAft>
              <a:buClr>
                <a:srgbClr val="0079BC"/>
              </a:buClr>
              <a:buFont typeface="Arial"/>
              <a:buChar char="•"/>
            </a:pPr>
            <a:r>
              <a:rPr sz="1600" b="0" i="0">
                <a:solidFill>
                  <a:srgbClr val="1F2933"/>
                </a:solidFill>
                <a:latin typeface="Times New Roman"/>
                <a:cs typeface="Times New Roman"/>
              </a:rPr>
              <a:t>Risk-aware placement (+71%) and selective replication (+58%) are significant</a:t>
            </a:r>
          </a:p>
          <a:p>
            <a:pPr algn="l" marL="237744" indent="-237744">
              <a:lnSpc>
                <a:spcPct val="105000"/>
              </a:lnSpc>
              <a:spcAft>
                <a:spcPts val="600"/>
              </a:spcAft>
              <a:buClr>
                <a:srgbClr val="0079BC"/>
              </a:buClr>
              <a:buFont typeface="Arial"/>
              <a:buChar char="•"/>
            </a:pPr>
            <a:r>
              <a:rPr sz="1600" b="0" i="0">
                <a:solidFill>
                  <a:srgbClr val="1F2933"/>
                </a:solidFill>
                <a:latin typeface="Times New Roman"/>
                <a:cs typeface="Times New Roman"/>
              </a:rPr>
              <a:t>Online learning and migration alone: not significant once placement and replication are risk-aware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Results — Cost Sensitivity and Explanations</a:t>
            </a:r>
            <a:endParaRPr lang="en-US" sz="2800">
              <a:solidFill>
                <a:schemeClr val="bg1"/>
              </a:solidFill>
            </a:endParaRPr>
          </a:p>
        </p:txBody>
      </p:sp>
      <p:pic>
        <p:nvPicPr>
          <p:cNvPr id="278531" name="Picture 278530" descr="chart_c6_sensitivity.png"/>
          <p:cNvPicPr>
            <a:picLocks noChangeAspect="1"/>
          </p:cNvPicPr>
          <p:nvPr/>
        </p:nvPicPr>
        <p:blipFill>
          <a:blip r:embed="rId3"/>
          <a:stretch>
            <a:fillRect/>
          </a:stretch>
        </p:blipFill>
        <p:spPr>
          <a:xfrm>
            <a:off x="502920" y="1298448"/>
            <a:ext cx="6583680" cy="2890580"/>
          </a:xfrm>
          <a:prstGeom prst="rect">
            <a:avLst/>
          </a:prstGeom>
        </p:spPr>
      </p:pic>
      <p:sp>
        <p:nvSpPr>
          <p:cNvPr id="278532" name="TextBox 278531"/>
          <p:cNvSpPr txBox="1"/>
          <p:nvPr/>
        </p:nvSpPr>
        <p:spPr>
          <a:xfrm>
            <a:off x="502920" y="4572000"/>
            <a:ext cx="6583680" cy="1371600"/>
          </a:xfrm>
          <a:prstGeom prst="rect">
            <a:avLst/>
          </a:prstGeom>
          <a:noFill/>
        </p:spPr>
        <p:txBody>
          <a:bodyPr wrap="square" anchor="t" lIns="45720" rIns="45720"/>
          <a:lstStyle/>
          <a:p>
            <a:pPr algn="l" marL="237744" indent="-237744">
              <a:lnSpc>
                <a:spcPct val="105000"/>
              </a:lnSpc>
              <a:spcAft>
                <a:spcPts val="600"/>
              </a:spcAft>
              <a:buClr>
                <a:srgbClr val="0079BC"/>
              </a:buClr>
              <a:buFont typeface="Arial"/>
              <a:buChar char="•"/>
            </a:pPr>
            <a:r>
              <a:rPr sz="1600" b="0" i="0">
                <a:solidFill>
                  <a:srgbClr val="1F2933"/>
                </a:solidFill>
                <a:latin typeface="Times New Roman"/>
                <a:cs typeface="Times New Roman"/>
              </a:rPr>
              <a:t>Migrations fall </a:t>
            </a:r>
            <a:r>
              <a:rPr sz="1600" b="1" i="0">
                <a:solidFill>
                  <a:srgbClr val="1F2933"/>
                </a:solidFill>
                <a:latin typeface="Times New Roman"/>
                <a:cs typeface="Times New Roman"/>
              </a:rPr>
              <a:t>104 → 11</a:t>
            </a:r>
            <a:r>
              <a:rPr sz="1600" b="0" i="0">
                <a:solidFill>
                  <a:srgbClr val="1F2933"/>
                </a:solidFill>
                <a:latin typeface="Times New Roman"/>
                <a:cs typeface="Times New Roman"/>
              </a:rPr>
              <a:t> per run as the cost rises 16-fold</a:t>
            </a:r>
          </a:p>
          <a:p>
            <a:pPr algn="l" marL="237744" indent="-237744">
              <a:lnSpc>
                <a:spcPct val="105000"/>
              </a:lnSpc>
              <a:spcAft>
                <a:spcPts val="600"/>
              </a:spcAft>
              <a:buClr>
                <a:srgbClr val="0079BC"/>
              </a:buClr>
              <a:buFont typeface="Arial"/>
              <a:buChar char="•"/>
            </a:pPr>
            <a:r>
              <a:rPr sz="1600" b="0" i="0">
                <a:solidFill>
                  <a:srgbClr val="1F2933"/>
                </a:solidFill>
                <a:latin typeface="Times New Roman"/>
                <a:cs typeface="Times New Roman"/>
              </a:rPr>
              <a:t>Fault downtime stays </a:t>
            </a:r>
            <a:r>
              <a:rPr sz="1600" b="1" i="0">
                <a:solidFill>
                  <a:srgbClr val="1F2933"/>
                </a:solidFill>
                <a:latin typeface="Times New Roman"/>
                <a:cs typeface="Times New Roman"/>
              </a:rPr>
              <a:t>20.0–23.3 ms</a:t>
            </a:r>
            <a:r>
              <a:rPr sz="1600" b="0" i="0">
                <a:solidFill>
                  <a:srgbClr val="1F2933"/>
                </a:solidFill>
                <a:latin typeface="Times New Roman"/>
                <a:cs typeface="Times New Roman"/>
              </a:rPr>
              <a:t> per user: the rule calibrates itself</a:t>
            </a:r>
          </a:p>
        </p:txBody>
      </p:sp>
      <p:sp>
        <p:nvSpPr>
          <p:cNvPr id="278533" name="TextBox 278532"/>
          <p:cNvSpPr txBox="1"/>
          <p:nvPr/>
        </p:nvSpPr>
        <p:spPr>
          <a:xfrm>
            <a:off x="7360920" y="1225296"/>
            <a:ext cx="4325111" cy="411480"/>
          </a:xfrm>
          <a:prstGeom prst="rect">
            <a:avLst/>
          </a:prstGeom>
          <a:noFill/>
        </p:spPr>
        <p:txBody>
          <a:bodyPr wrap="square" anchor="t" lIns="45720" rIns="45720"/>
          <a:lstStyle/>
          <a:p>
            <a:pPr algn="l">
              <a:lnSpc>
                <a:spcPct val="105000"/>
              </a:lnSpc>
              <a:spcAft>
                <a:spcPts val="400"/>
              </a:spcAft>
              <a:buNone/>
            </a:pPr>
            <a:r>
              <a:rPr sz="1800" b="1" i="0">
                <a:solidFill>
                  <a:srgbClr val="154360"/>
                </a:solidFill>
                <a:latin typeface="Times New Roman"/>
                <a:cs typeface="Times New Roman"/>
              </a:rPr>
              <a:t>Does the named cause match?</a:t>
            </a:r>
          </a:p>
        </p:txBody>
      </p:sp>
      <p:graphicFrame>
        <p:nvGraphicFramePr>
          <p:cNvPr id="278534" name="Table 278533"/>
          <p:cNvGraphicFramePr>
            <a:graphicFrameLocks noGrp="1"/>
          </p:cNvGraphicFramePr>
          <p:nvPr/>
        </p:nvGraphicFramePr>
        <p:xfrm>
          <a:off x="7360920" y="1709928"/>
          <a:ext cx="4325109" cy="1828800"/>
        </p:xfrm>
        <a:graphic>
          <a:graphicData uri="http://schemas.openxmlformats.org/drawingml/2006/table">
            <a:tbl>
              <a:tblPr firstRow="0" bandRow="0">
                <a:tableStyleId>{5C22544A-7EE6-4342-B048-85BDC9FD1C3A}</a:tableStyleId>
              </a:tblPr>
              <a:tblGrid>
                <a:gridCol w="1598410"/>
                <a:gridCol w="940241"/>
                <a:gridCol w="940241"/>
                <a:gridCol w="846217"/>
              </a:tblGrid>
              <a:tr h="457200">
                <a:tc>
                  <a:txBody>
                    <a:bodyPr wrap="square"/>
                    <a:lstStyle/>
                    <a:p>
                      <a:pPr algn="l"/>
                      <a:r>
                        <a:rPr sz="1400" b="1" i="0">
                          <a:solidFill>
                            <a:srgbClr val="FFFFFF"/>
                          </a:solidFill>
                          <a:latin typeface="Times New Roman"/>
                          <a:cs typeface="Times New Roman"/>
                        </a:rPr>
                        <a:t>Actual cause</a:t>
                      </a:r>
                    </a:p>
                  </a:txBody>
                  <a:tcPr marL="64008" marR="64008" marT="27432" marB="27432" anchor="ctr">
                    <a:solidFill>
                      <a:srgbClr val="0079BC"/>
                    </a:solidFill>
                  </a:tcPr>
                </a:tc>
                <a:tc>
                  <a:txBody>
                    <a:bodyPr wrap="square"/>
                    <a:lstStyle/>
                    <a:p>
                      <a:pPr algn="ctr"/>
                      <a:r>
                        <a:rPr sz="1400" b="1" i="0">
                          <a:solidFill>
                            <a:srgbClr val="FFFFFF"/>
                          </a:solidFill>
                          <a:latin typeface="Times New Roman"/>
                          <a:cs typeface="Times New Roman"/>
                        </a:rPr>
                        <a:t>Energy</a:t>
                      </a:r>
                    </a:p>
                  </a:txBody>
                  <a:tcPr marL="64008" marR="64008" marT="27432" marB="27432" anchor="ctr">
                    <a:solidFill>
                      <a:srgbClr val="0079BC"/>
                    </a:solidFill>
                  </a:tcPr>
                </a:tc>
                <a:tc>
                  <a:txBody>
                    <a:bodyPr wrap="square"/>
                    <a:lstStyle/>
                    <a:p>
                      <a:pPr algn="ctr"/>
                      <a:r>
                        <a:rPr sz="1400" b="1" i="0">
                          <a:solidFill>
                            <a:srgbClr val="FFFFFF"/>
                          </a:solidFill>
                          <a:latin typeface="Times New Roman"/>
                          <a:cs typeface="Times New Roman"/>
                        </a:rPr>
                        <a:t>Network</a:t>
                      </a:r>
                    </a:p>
                  </a:txBody>
                  <a:tcPr marL="64008" marR="64008" marT="27432" marB="27432" anchor="ctr">
                    <a:solidFill>
                      <a:srgbClr val="0079BC"/>
                    </a:solidFill>
                  </a:tcPr>
                </a:tc>
                <a:tc>
                  <a:txBody>
                    <a:bodyPr wrap="square"/>
                    <a:lstStyle/>
                    <a:p>
                      <a:pPr algn="ctr"/>
                      <a:r>
                        <a:rPr sz="1400" b="1" i="0">
                          <a:solidFill>
                            <a:srgbClr val="FFFFFF"/>
                          </a:solidFill>
                          <a:latin typeface="Times New Roman"/>
                          <a:cs typeface="Times New Roman"/>
                        </a:rPr>
                        <a:t>None</a:t>
                      </a:r>
                    </a:p>
                  </a:txBody>
                  <a:tcPr marL="64008" marR="64008" marT="27432" marB="27432" anchor="ctr">
                    <a:solidFill>
                      <a:srgbClr val="0079BC"/>
                    </a:solidFill>
                  </a:tcPr>
                </a:tc>
              </a:tr>
              <a:tr h="457200">
                <a:tc>
                  <a:txBody>
                    <a:bodyPr wrap="square"/>
                    <a:lstStyle/>
                    <a:p>
                      <a:pPr algn="l"/>
                      <a:r>
                        <a:rPr sz="1400" b="0" i="0">
                          <a:solidFill>
                            <a:srgbClr val="1F2933"/>
                          </a:solidFill>
                          <a:latin typeface="Times New Roman"/>
                          <a:cs typeface="Times New Roman"/>
                        </a:rPr>
                        <a:t>Battery (22)</a:t>
                      </a:r>
                    </a:p>
                  </a:txBody>
                  <a:tcPr marL="64008" marR="64008" marT="27432" marB="27432" anchor="ctr">
                    <a:solidFill>
                      <a:srgbClr val="FFFFFF"/>
                    </a:solidFill>
                  </a:tcPr>
                </a:tc>
                <a:tc>
                  <a:txBody>
                    <a:bodyPr wrap="square"/>
                    <a:lstStyle/>
                    <a:p>
                      <a:pPr algn="ctr"/>
                      <a:r>
                        <a:rPr sz="1400" b="1" i="0">
                          <a:solidFill>
                            <a:srgbClr val="1F2933"/>
                          </a:solidFill>
                          <a:latin typeface="Times New Roman"/>
                          <a:cs typeface="Times New Roman"/>
                        </a:rPr>
                        <a:t>0.86</a:t>
                      </a:r>
                    </a:p>
                  </a:txBody>
                  <a:tcPr marL="64008" marR="64008" marT="27432" marB="27432" anchor="ctr">
                    <a:solidFill>
                      <a:srgbClr val="FFFFFF"/>
                    </a:solidFill>
                  </a:tcPr>
                </a:tc>
                <a:tc>
                  <a:txBody>
                    <a:bodyPr wrap="square"/>
                    <a:lstStyle/>
                    <a:p>
                      <a:pPr algn="ctr"/>
                      <a:r>
                        <a:rPr sz="1400" b="0" i="0">
                          <a:solidFill>
                            <a:srgbClr val="1F2933"/>
                          </a:solidFill>
                          <a:latin typeface="Times New Roman"/>
                          <a:cs typeface="Times New Roman"/>
                        </a:rPr>
                        <a:t>0.14</a:t>
                      </a:r>
                    </a:p>
                  </a:txBody>
                  <a:tcPr marL="64008" marR="64008" marT="27432" marB="27432" anchor="ctr">
                    <a:solidFill>
                      <a:srgbClr val="FFFFFF"/>
                    </a:solidFill>
                  </a:tcPr>
                </a:tc>
                <a:tc>
                  <a:txBody>
                    <a:bodyPr wrap="square"/>
                    <a:lstStyle/>
                    <a:p>
                      <a:pPr algn="ctr"/>
                      <a:r>
                        <a:rPr sz="1400" b="0" i="0">
                          <a:solidFill>
                            <a:srgbClr val="1F2933"/>
                          </a:solidFill>
                          <a:latin typeface="Times New Roman"/>
                          <a:cs typeface="Times New Roman"/>
                        </a:rPr>
                        <a:t>0.00</a:t>
                      </a:r>
                    </a:p>
                  </a:txBody>
                  <a:tcPr marL="64008" marR="64008" marT="27432" marB="27432" anchor="ctr">
                    <a:solidFill>
                      <a:srgbClr val="FFFFFF"/>
                    </a:solidFill>
                  </a:tcPr>
                </a:tc>
              </a:tr>
              <a:tr h="457200">
                <a:tc>
                  <a:txBody>
                    <a:bodyPr wrap="square"/>
                    <a:lstStyle/>
                    <a:p>
                      <a:pPr algn="l"/>
                      <a:r>
                        <a:rPr sz="1400" b="0" i="0">
                          <a:solidFill>
                            <a:srgbClr val="1F2933"/>
                          </a:solidFill>
                          <a:latin typeface="Times New Roman"/>
                          <a:cs typeface="Times New Roman"/>
                        </a:rPr>
                        <a:t>Wear-out (278)</a:t>
                      </a:r>
                    </a:p>
                  </a:txBody>
                  <a:tcPr marL="64008" marR="64008" marT="27432" marB="27432" anchor="ctr">
                    <a:solidFill>
                      <a:srgbClr val="F4F6F8"/>
                    </a:solidFill>
                  </a:tcPr>
                </a:tc>
                <a:tc>
                  <a:txBody>
                    <a:bodyPr wrap="square"/>
                    <a:lstStyle/>
                    <a:p>
                      <a:pPr algn="ctr"/>
                      <a:r>
                        <a:rPr sz="1400" b="1" i="0">
                          <a:solidFill>
                            <a:srgbClr val="1F2933"/>
                          </a:solidFill>
                          <a:latin typeface="Times New Roman"/>
                          <a:cs typeface="Times New Roman"/>
                        </a:rPr>
                        <a:t>0.92</a:t>
                      </a:r>
                    </a:p>
                  </a:txBody>
                  <a:tcPr marL="64008" marR="64008" marT="27432" marB="27432" anchor="ctr">
                    <a:solidFill>
                      <a:srgbClr val="F4F6F8"/>
                    </a:solidFill>
                  </a:tcPr>
                </a:tc>
                <a:tc>
                  <a:txBody>
                    <a:bodyPr wrap="square"/>
                    <a:lstStyle/>
                    <a:p>
                      <a:pPr algn="ctr"/>
                      <a:r>
                        <a:rPr sz="1400" b="0" i="0">
                          <a:solidFill>
                            <a:srgbClr val="1F2933"/>
                          </a:solidFill>
                          <a:latin typeface="Times New Roman"/>
                          <a:cs typeface="Times New Roman"/>
                        </a:rPr>
                        <a:t>0.04</a:t>
                      </a:r>
                    </a:p>
                  </a:txBody>
                  <a:tcPr marL="64008" marR="64008" marT="27432" marB="27432" anchor="ctr">
                    <a:solidFill>
                      <a:srgbClr val="F4F6F8"/>
                    </a:solidFill>
                  </a:tcPr>
                </a:tc>
                <a:tc>
                  <a:txBody>
                    <a:bodyPr wrap="square"/>
                    <a:lstStyle/>
                    <a:p>
                      <a:pPr algn="ctr"/>
                      <a:r>
                        <a:rPr sz="1400" b="0" i="0">
                          <a:solidFill>
                            <a:srgbClr val="1F2933"/>
                          </a:solidFill>
                          <a:latin typeface="Times New Roman"/>
                          <a:cs typeface="Times New Roman"/>
                        </a:rPr>
                        <a:t>0.00</a:t>
                      </a:r>
                    </a:p>
                  </a:txBody>
                  <a:tcPr marL="64008" marR="64008" marT="27432" marB="27432" anchor="ctr">
                    <a:solidFill>
                      <a:srgbClr val="F4F6F8"/>
                    </a:solidFill>
                  </a:tcPr>
                </a:tc>
              </a:tr>
              <a:tr h="457200">
                <a:tc>
                  <a:txBody>
                    <a:bodyPr wrap="square"/>
                    <a:lstStyle/>
                    <a:p>
                      <a:pPr algn="l"/>
                      <a:r>
                        <a:rPr sz="1400" b="0" i="0">
                          <a:solidFill>
                            <a:srgbClr val="1F2933"/>
                          </a:solidFill>
                          <a:latin typeface="Times New Roman"/>
                          <a:cs typeface="Times New Roman"/>
                        </a:rPr>
                        <a:t>Sudden (122)</a:t>
                      </a:r>
                    </a:p>
                  </a:txBody>
                  <a:tcPr marL="64008" marR="64008" marT="27432" marB="27432" anchor="ctr">
                    <a:solidFill>
                      <a:srgbClr val="FFFFFF"/>
                    </a:solidFill>
                  </a:tcPr>
                </a:tc>
                <a:tc>
                  <a:txBody>
                    <a:bodyPr wrap="square"/>
                    <a:lstStyle/>
                    <a:p>
                      <a:pPr algn="ctr"/>
                      <a:r>
                        <a:rPr sz="1400" b="0" i="0">
                          <a:solidFill>
                            <a:srgbClr val="1F2933"/>
                          </a:solidFill>
                          <a:latin typeface="Times New Roman"/>
                          <a:cs typeface="Times New Roman"/>
                        </a:rPr>
                        <a:t>0.16</a:t>
                      </a:r>
                    </a:p>
                  </a:txBody>
                  <a:tcPr marL="64008" marR="64008" marT="27432" marB="27432" anchor="ctr">
                    <a:solidFill>
                      <a:srgbClr val="FFFFFF"/>
                    </a:solidFill>
                  </a:tcPr>
                </a:tc>
                <a:tc>
                  <a:txBody>
                    <a:bodyPr wrap="square"/>
                    <a:lstStyle/>
                    <a:p>
                      <a:pPr algn="ctr"/>
                      <a:r>
                        <a:rPr sz="1400" b="0" i="0">
                          <a:solidFill>
                            <a:srgbClr val="1F2933"/>
                          </a:solidFill>
                          <a:latin typeface="Times New Roman"/>
                          <a:cs typeface="Times New Roman"/>
                        </a:rPr>
                        <a:t>0.30</a:t>
                      </a:r>
                    </a:p>
                  </a:txBody>
                  <a:tcPr marL="64008" marR="64008" marT="27432" marB="27432" anchor="ctr">
                    <a:solidFill>
                      <a:srgbClr val="FFFFFF"/>
                    </a:solidFill>
                  </a:tcPr>
                </a:tc>
                <a:tc>
                  <a:txBody>
                    <a:bodyPr wrap="square"/>
                    <a:lstStyle/>
                    <a:p>
                      <a:pPr algn="ctr"/>
                      <a:r>
                        <a:rPr sz="1400" b="1" i="0">
                          <a:solidFill>
                            <a:srgbClr val="1F2933"/>
                          </a:solidFill>
                          <a:latin typeface="Times New Roman"/>
                          <a:cs typeface="Times New Roman"/>
                        </a:rPr>
                        <a:t>0.52</a:t>
                      </a:r>
                    </a:p>
                  </a:txBody>
                  <a:tcPr marL="64008" marR="64008" marT="27432" marB="27432" anchor="ctr">
                    <a:solidFill>
                      <a:srgbClr val="FFFFFF"/>
                    </a:solidFill>
                  </a:tcPr>
                </a:tc>
              </a:tr>
            </a:tbl>
          </a:graphicData>
        </a:graphic>
      </p:graphicFrame>
      <p:sp>
        <p:nvSpPr>
          <p:cNvPr id="278535" name="TextBox 278534"/>
          <p:cNvSpPr txBox="1"/>
          <p:nvPr/>
        </p:nvSpPr>
        <p:spPr>
          <a:xfrm>
            <a:off x="7360920" y="4069080"/>
            <a:ext cx="4325111" cy="1828800"/>
          </a:xfrm>
          <a:prstGeom prst="rect">
            <a:avLst/>
          </a:prstGeom>
          <a:noFill/>
        </p:spPr>
        <p:txBody>
          <a:bodyPr wrap="square" anchor="t" lIns="45720" rIns="45720"/>
          <a:lstStyle/>
          <a:p>
            <a:pPr algn="l" marL="237744" indent="-237744">
              <a:lnSpc>
                <a:spcPct val="105000"/>
              </a:lnSpc>
              <a:spcAft>
                <a:spcPts val="600"/>
              </a:spcAft>
              <a:buClr>
                <a:srgbClr val="0079BC"/>
              </a:buClr>
              <a:buFont typeface="Arial"/>
              <a:buChar char="•"/>
            </a:pPr>
            <a:r>
              <a:rPr sz="1400" b="0" i="0">
                <a:solidFill>
                  <a:srgbClr val="1F2933"/>
                </a:solidFill>
                <a:latin typeface="Times New Roman"/>
                <a:cs typeface="Times New Roman"/>
              </a:rPr>
              <a:t>Energy drain is the earliest wear symptom in this simulator</a:t>
            </a:r>
          </a:p>
          <a:p>
            <a:pPr algn="l" marL="237744" indent="-237744">
              <a:lnSpc>
                <a:spcPct val="105000"/>
              </a:lnSpc>
              <a:spcAft>
                <a:spcPts val="600"/>
              </a:spcAft>
              <a:buClr>
                <a:srgbClr val="0079BC"/>
              </a:buClr>
              <a:buFont typeface="Arial"/>
              <a:buChar char="•"/>
            </a:pPr>
            <a:r>
              <a:rPr sz="1400" b="0" i="0">
                <a:solidFill>
                  <a:srgbClr val="1F2933"/>
                </a:solidFill>
                <a:latin typeface="Times New Roman"/>
                <a:cs typeface="Times New Roman"/>
              </a:rPr>
              <a:t>Sudden failures have no precursor: mostly </a:t>
            </a:r>
            <a:r>
              <a:rPr sz="1400" b="1" i="0">
                <a:solidFill>
                  <a:srgbClr val="1F2933"/>
                </a:solidFill>
                <a:latin typeface="Times New Roman"/>
                <a:cs typeface="Times New Roman"/>
              </a:rPr>
              <a:t>no condition raised</a:t>
            </a:r>
          </a:p>
          <a:p>
            <a:pPr algn="l" marL="237744" indent="-237744">
              <a:lnSpc>
                <a:spcPct val="105000"/>
              </a:lnSpc>
              <a:spcAft>
                <a:spcPts val="600"/>
              </a:spcAft>
              <a:buClr>
                <a:srgbClr val="0079BC"/>
              </a:buClr>
              <a:buFont typeface="Arial"/>
              <a:buChar char="•"/>
            </a:pPr>
            <a:r>
              <a:rPr sz="1400" b="0" i="0">
                <a:solidFill>
                  <a:srgbClr val="1F2933"/>
                </a:solidFill>
                <a:latin typeface="Times New Roman"/>
                <a:cs typeface="Times New Roman"/>
              </a:rPr>
              <a:t>Elicited tables alone (no failure data): ROC-AUC </a:t>
            </a:r>
            <a:r>
              <a:rPr sz="1400" b="1" i="0">
                <a:solidFill>
                  <a:srgbClr val="1F2933"/>
                </a:solidFill>
                <a:latin typeface="Times New Roman"/>
                <a:cs typeface="Times New Roman"/>
              </a:rPr>
              <a:t>0.750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Inferences — Why a BBN, and Where It Is Not Ahead</a:t>
            </a:r>
            <a:endParaRPr lang="en-US" sz="2800">
              <a:solidFill>
                <a:schemeClr val="bg1"/>
              </a:solidFill>
            </a:endParaRPr>
          </a:p>
        </p:txBody>
      </p:sp>
      <p:sp>
        <p:nvSpPr>
          <p:cNvPr id="278531" name="Rounded Rectangle 278530"/>
          <p:cNvSpPr/>
          <p:nvPr/>
        </p:nvSpPr>
        <p:spPr>
          <a:xfrm>
            <a:off x="502920" y="1252728"/>
            <a:ext cx="5486400" cy="4617720"/>
          </a:xfrm>
          <a:prstGeom prst="roundRect">
            <a:avLst>
              <a:gd name="adj" fmla="val 6000"/>
            </a:avLst>
          </a:prstGeom>
          <a:solidFill>
            <a:srgbClr val="EEF8F3"/>
          </a:solidFill>
          <a:ln w="15875">
            <a:solidFill>
              <a:srgbClr val="0F8A6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2" name="TextBox 278531"/>
          <p:cNvSpPr txBox="1"/>
          <p:nvPr/>
        </p:nvSpPr>
        <p:spPr>
          <a:xfrm>
            <a:off x="685800" y="1344168"/>
            <a:ext cx="5120640" cy="4480560"/>
          </a:xfrm>
          <a:prstGeom prst="rect">
            <a:avLst/>
          </a:prstGeom>
          <a:noFill/>
        </p:spPr>
        <p:txBody>
          <a:bodyPr wrap="square" anchor="t" lIns="45720" rIns="45720"/>
          <a:lstStyle/>
          <a:p>
            <a:pPr algn="l">
              <a:lnSpc>
                <a:spcPct val="105000"/>
              </a:lnSpc>
              <a:spcAft>
                <a:spcPts val="400"/>
              </a:spcAft>
              <a:buNone/>
            </a:pPr>
            <a:r>
              <a:rPr sz="1800" b="1" i="0">
                <a:solidFill>
                  <a:srgbClr val="0F8A6A"/>
                </a:solidFill>
                <a:latin typeface="Times New Roman"/>
                <a:cs typeface="Times New Roman"/>
              </a:rPr>
              <a:t>Supported by the results</a:t>
            </a:r>
          </a:p>
          <a:p>
            <a:pPr algn="l" marL="237744" indent="-237744">
              <a:lnSpc>
                <a:spcPct val="105000"/>
              </a:lnSpc>
              <a:spcAft>
                <a:spcPts val="900"/>
              </a:spcAft>
              <a:buClr>
                <a:srgbClr val="0F8A6A"/>
              </a:buClr>
              <a:buFont typeface="Arial"/>
              <a:buChar char="•"/>
            </a:pPr>
            <a:r>
              <a:rPr sz="1700" b="0" i="0">
                <a:solidFill>
                  <a:srgbClr val="1F2933"/>
                </a:solidFill>
                <a:latin typeface="Times New Roman"/>
                <a:cs typeface="Times New Roman"/>
              </a:rPr>
              <a:t>Ranks failures as well as the best of 8 models (ROC-AUC best; PR-AUC tied)</a:t>
            </a:r>
          </a:p>
          <a:p>
            <a:pPr algn="l" marL="237744" indent="-237744">
              <a:lnSpc>
                <a:spcPct val="105000"/>
              </a:lnSpc>
              <a:spcAft>
                <a:spcPts val="900"/>
              </a:spcAft>
              <a:buClr>
                <a:srgbClr val="0F8A6A"/>
              </a:buClr>
              <a:buFont typeface="Arial"/>
              <a:buChar char="•"/>
            </a:pPr>
            <a:r>
              <a:rPr sz="1700" b="1" i="0">
                <a:solidFill>
                  <a:srgbClr val="1F2933"/>
                </a:solidFill>
                <a:latin typeface="Times New Roman"/>
                <a:cs typeface="Times New Roman"/>
              </a:rPr>
              <a:t>Best-calibrated</a:t>
            </a:r>
            <a:r>
              <a:rPr sz="1700" b="0" i="0">
                <a:solidFill>
                  <a:srgbClr val="1F2933"/>
                </a:solidFill>
                <a:latin typeface="Times New Roman"/>
                <a:cs typeface="Times New Roman"/>
              </a:rPr>
              <a:t> probabilities — what cost-based rules need</a:t>
            </a:r>
          </a:p>
          <a:p>
            <a:pPr algn="l" marL="237744" indent="-237744">
              <a:lnSpc>
                <a:spcPct val="105000"/>
              </a:lnSpc>
              <a:spcAft>
                <a:spcPts val="900"/>
              </a:spcAft>
              <a:buClr>
                <a:srgbClr val="0F8A6A"/>
              </a:buClr>
              <a:buFont typeface="Arial"/>
              <a:buChar char="•"/>
            </a:pPr>
            <a:r>
              <a:rPr sz="1700" b="0" i="0">
                <a:solidFill>
                  <a:srgbClr val="1F2933"/>
                </a:solidFill>
                <a:latin typeface="Times New Roman"/>
                <a:cs typeface="Times New Roman"/>
              </a:rPr>
              <a:t>Summing out missing telemetry: </a:t>
            </a:r>
            <a:r>
              <a:rPr sz="1700" b="1" i="0">
                <a:solidFill>
                  <a:srgbClr val="1F2933"/>
                </a:solidFill>
                <a:latin typeface="Times New Roman"/>
                <a:cs typeface="Times New Roman"/>
              </a:rPr>
              <a:t>−29%</a:t>
            </a:r>
            <a:r>
              <a:rPr sz="1700" b="0" i="0">
                <a:solidFill>
                  <a:srgbClr val="1F2933"/>
                </a:solidFill>
                <a:latin typeface="Times New Roman"/>
                <a:cs typeface="Times New Roman"/>
              </a:rPr>
              <a:t> fault downtime vs ML under MNAR loss</a:t>
            </a:r>
          </a:p>
          <a:p>
            <a:pPr algn="l" marL="237744" indent="-237744">
              <a:lnSpc>
                <a:spcPct val="105000"/>
              </a:lnSpc>
              <a:spcAft>
                <a:spcPts val="900"/>
              </a:spcAft>
              <a:buClr>
                <a:srgbClr val="0F8A6A"/>
              </a:buClr>
              <a:buFont typeface="Arial"/>
              <a:buChar char="•"/>
            </a:pPr>
            <a:r>
              <a:rPr sz="1700" b="0" i="0">
                <a:solidFill>
                  <a:srgbClr val="1F2933"/>
                </a:solidFill>
                <a:latin typeface="Times New Roman"/>
                <a:cs typeface="Times New Roman"/>
              </a:rPr>
              <a:t>Beats thresholds with </a:t>
            </a:r>
            <a:r>
              <a:rPr sz="1700" b="1" i="0">
                <a:solidFill>
                  <a:srgbClr val="1F2933"/>
                </a:solidFill>
                <a:latin typeface="Times New Roman"/>
                <a:cs typeface="Times New Roman"/>
              </a:rPr>
              <a:t>0.2%</a:t>
            </a:r>
            <a:r>
              <a:rPr sz="1700" b="0" i="0">
                <a:solidFill>
                  <a:srgbClr val="1F2933"/>
                </a:solidFill>
                <a:latin typeface="Times New Roman"/>
                <a:cs typeface="Times New Roman"/>
              </a:rPr>
              <a:t> standby instead of 100%</a:t>
            </a:r>
          </a:p>
          <a:p>
            <a:pPr algn="l" marL="237744" indent="-237744">
              <a:lnSpc>
                <a:spcPct val="105000"/>
              </a:lnSpc>
              <a:spcAft>
                <a:spcPts val="900"/>
              </a:spcAft>
              <a:buClr>
                <a:srgbClr val="0F8A6A"/>
              </a:buClr>
              <a:buFont typeface="Arial"/>
              <a:buChar char="•"/>
            </a:pPr>
            <a:r>
              <a:rPr sz="1700" b="0" i="0">
                <a:solidFill>
                  <a:srgbClr val="1F2933"/>
                </a:solidFill>
                <a:latin typeface="Times New Roman"/>
                <a:cs typeface="Times New Roman"/>
              </a:rPr>
              <a:t>Usable before any failure is seen (elicited ROC-AUC 0.750)</a:t>
            </a:r>
          </a:p>
          <a:p>
            <a:pPr algn="l" marL="237744" indent="-237744">
              <a:lnSpc>
                <a:spcPct val="105000"/>
              </a:lnSpc>
              <a:spcAft>
                <a:spcPts val="900"/>
              </a:spcAft>
              <a:buClr>
                <a:srgbClr val="0F8A6A"/>
              </a:buClr>
              <a:buFont typeface="Arial"/>
              <a:buChar char="•"/>
            </a:pPr>
            <a:r>
              <a:rPr sz="1700" b="0" i="0">
                <a:solidFill>
                  <a:srgbClr val="1F2933"/>
                </a:solidFill>
                <a:latin typeface="Times New Roman"/>
                <a:cs typeface="Times New Roman"/>
              </a:rPr>
              <a:t>Explains every alarm with a named condition</a:t>
            </a:r>
          </a:p>
        </p:txBody>
      </p:sp>
      <p:sp>
        <p:nvSpPr>
          <p:cNvPr id="278533" name="Rounded Rectangle 278532"/>
          <p:cNvSpPr/>
          <p:nvPr/>
        </p:nvSpPr>
        <p:spPr>
          <a:xfrm>
            <a:off x="6199632" y="1252728"/>
            <a:ext cx="5486399" cy="4617720"/>
          </a:xfrm>
          <a:prstGeom prst="roundRect">
            <a:avLst>
              <a:gd name="adj" fmla="val 6000"/>
            </a:avLst>
          </a:prstGeom>
          <a:solidFill>
            <a:srgbClr val="FDF4EC"/>
          </a:solidFill>
          <a:ln w="15875">
            <a:solidFill>
              <a:srgbClr val="C255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4" name="TextBox 278533"/>
          <p:cNvSpPr txBox="1"/>
          <p:nvPr/>
        </p:nvSpPr>
        <p:spPr>
          <a:xfrm>
            <a:off x="6382512" y="1344168"/>
            <a:ext cx="5120640" cy="4480560"/>
          </a:xfrm>
          <a:prstGeom prst="rect">
            <a:avLst/>
          </a:prstGeom>
          <a:noFill/>
        </p:spPr>
        <p:txBody>
          <a:bodyPr wrap="square" anchor="t" lIns="45720" rIns="45720"/>
          <a:lstStyle/>
          <a:p>
            <a:pPr algn="l">
              <a:lnSpc>
                <a:spcPct val="105000"/>
              </a:lnSpc>
              <a:spcAft>
                <a:spcPts val="400"/>
              </a:spcAft>
              <a:buNone/>
            </a:pPr>
            <a:r>
              <a:rPr sz="1800" b="1" i="0">
                <a:solidFill>
                  <a:srgbClr val="C2551C"/>
                </a:solidFill>
                <a:latin typeface="Times New Roman"/>
                <a:cs typeface="Times New Roman"/>
              </a:rPr>
              <a:t>Where it is not ahead</a:t>
            </a:r>
          </a:p>
          <a:p>
            <a:pPr algn="l" marL="237744" indent="-237744">
              <a:lnSpc>
                <a:spcPct val="105000"/>
              </a:lnSpc>
              <a:spcAft>
                <a:spcPts val="500"/>
              </a:spcAft>
              <a:buClr>
                <a:srgbClr val="C2551C"/>
              </a:buClr>
              <a:buFont typeface="Arial"/>
              <a:buChar char="•"/>
            </a:pPr>
            <a:r>
              <a:rPr sz="1700" b="0" i="0">
                <a:solidFill>
                  <a:srgbClr val="1F2933"/>
                </a:solidFill>
                <a:latin typeface="Times New Roman"/>
                <a:cs typeface="Times New Roman"/>
              </a:rPr>
              <a:t>Random forest: slightly higher PR-AUC (0.651), F1 (0.687), early detection (68%)</a:t>
            </a:r>
          </a:p>
          <a:p>
            <a:pPr algn="l" marL="237744" indent="-237744">
              <a:lnSpc>
                <a:spcPct val="105000"/>
              </a:lnSpc>
              <a:spcAft>
                <a:spcPts val="500"/>
              </a:spcAft>
              <a:buClr>
                <a:srgbClr val="C2551C"/>
              </a:buClr>
              <a:buFont typeface="Arial"/>
              <a:buChar char="•"/>
            </a:pPr>
            <a:r>
              <a:rPr sz="1700" b="0" i="0">
                <a:solidFill>
                  <a:srgbClr val="1F2933"/>
                </a:solidFill>
                <a:latin typeface="Times New Roman"/>
                <a:cs typeface="Times New Roman"/>
              </a:rPr>
              <a:t>Complete telemetry: ML-driven controller equal (+18%, p = 0.12)</a:t>
            </a:r>
          </a:p>
          <a:p>
            <a:pPr algn="l" marL="237744" indent="-237744">
              <a:lnSpc>
                <a:spcPct val="105000"/>
              </a:lnSpc>
              <a:spcAft>
                <a:spcPts val="500"/>
              </a:spcAft>
              <a:buClr>
                <a:srgbClr val="C2551C"/>
              </a:buClr>
              <a:buFont typeface="Arial"/>
              <a:buChar char="•"/>
            </a:pPr>
            <a:r>
              <a:rPr sz="1700" b="0" i="0">
                <a:solidFill>
                  <a:srgbClr val="1F2933"/>
                </a:solidFill>
                <a:latin typeface="Times New Roman"/>
                <a:cs typeface="Times New Roman"/>
              </a:rPr>
              <a:t>Heavy telemetry loss: every model collapses; Naive Bayes ranks best</a:t>
            </a:r>
          </a:p>
          <a:p>
            <a:pPr algn="l" marL="237744" indent="-237744">
              <a:lnSpc>
                <a:spcPct val="105000"/>
              </a:lnSpc>
              <a:spcAft>
                <a:spcPts val="500"/>
              </a:spcAft>
              <a:buClr>
                <a:srgbClr val="C2551C"/>
              </a:buClr>
              <a:buFont typeface="Arial"/>
              <a:buChar char="•"/>
            </a:pPr>
            <a:r>
              <a:rPr sz="1700" b="0" i="0">
                <a:solidFill>
                  <a:srgbClr val="1F2933"/>
                </a:solidFill>
                <a:latin typeface="Times New Roman"/>
                <a:cs typeface="Times New Roman"/>
              </a:rPr>
              <a:t>Sudden failures (29%) cannot be predicted — only redundancy helps</a:t>
            </a:r>
          </a:p>
          <a:p>
            <a:pPr algn="l" marL="237744" indent="-237744">
              <a:lnSpc>
                <a:spcPct val="105000"/>
              </a:lnSpc>
              <a:spcAft>
                <a:spcPts val="500"/>
              </a:spcAft>
              <a:buClr>
                <a:srgbClr val="C2551C"/>
              </a:buClr>
              <a:buFont typeface="Arial"/>
              <a:buChar char="•"/>
            </a:pPr>
            <a:r>
              <a:rPr sz="1700" b="0" i="0">
                <a:solidFill>
                  <a:srgbClr val="1F2933"/>
                </a:solidFill>
                <a:latin typeface="Times New Roman"/>
                <a:cs typeface="Times New Roman"/>
              </a:rPr>
              <a:t>Simulation study: a synthetic fault model, accelerated wear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Conclusion and Future Work</a:t>
            </a:r>
            <a:endParaRPr lang="en-US" sz="2800">
              <a:solidFill>
                <a:schemeClr val="bg1"/>
              </a:solidFill>
            </a:endParaRPr>
          </a:p>
        </p:txBody>
      </p:sp>
      <p:sp>
        <p:nvSpPr>
          <p:cNvPr id="278531" name="TextBox 278530"/>
          <p:cNvSpPr txBox="1"/>
          <p:nvPr/>
        </p:nvSpPr>
        <p:spPr>
          <a:xfrm>
            <a:off x="502920" y="1252728"/>
            <a:ext cx="6583680" cy="4663440"/>
          </a:xfrm>
          <a:prstGeom prst="rect">
            <a:avLst/>
          </a:prstGeom>
          <a:noFill/>
        </p:spPr>
        <p:txBody>
          <a:bodyPr wrap="square" anchor="t" lIns="45720" rIns="45720"/>
          <a:lstStyle/>
          <a:p>
            <a:pPr algn="l">
              <a:lnSpc>
                <a:spcPct val="105000"/>
              </a:lnSpc>
              <a:spcAft>
                <a:spcPts val="400"/>
              </a:spcAft>
              <a:buNone/>
            </a:pPr>
            <a:r>
              <a:rPr sz="1800" b="1" i="0">
                <a:solidFill>
                  <a:srgbClr val="154360"/>
                </a:solidFill>
                <a:latin typeface="Times New Roman"/>
                <a:cs typeface="Times New Roman"/>
              </a:rPr>
              <a:t>Conclusion</a:t>
            </a:r>
          </a:p>
          <a:p>
            <a:pPr algn="l" marL="237744" indent="-237744">
              <a:lnSpc>
                <a:spcPct val="105000"/>
              </a:lnSpc>
              <a:spcAft>
                <a:spcPts val="1200"/>
              </a:spcAft>
              <a:buClr>
                <a:srgbClr val="0079BC"/>
              </a:buClr>
              <a:buFont typeface="Arial"/>
              <a:buChar char="•"/>
            </a:pPr>
            <a:r>
              <a:rPr sz="1700" b="0" i="0">
                <a:solidFill>
                  <a:srgbClr val="1F2933"/>
                </a:solidFill>
                <a:latin typeface="Times New Roman"/>
                <a:cs typeface="Times New Roman"/>
              </a:rPr>
              <a:t>A causal BBN, extended and learned by MAP-EM, predicts fog-node failure from incomplete telemetry and explains each alarm</a:t>
            </a:r>
          </a:p>
          <a:p>
            <a:pPr algn="l" marL="237744" indent="-237744">
              <a:lnSpc>
                <a:spcPct val="105000"/>
              </a:lnSpc>
              <a:spcAft>
                <a:spcPts val="1200"/>
              </a:spcAft>
              <a:buClr>
                <a:srgbClr val="0079BC"/>
              </a:buClr>
              <a:buFont typeface="Arial"/>
              <a:buChar char="•"/>
            </a:pPr>
            <a:r>
              <a:rPr sz="1700" b="0" i="0">
                <a:solidFill>
                  <a:srgbClr val="1F2933"/>
                </a:solidFill>
                <a:latin typeface="Times New Roman"/>
                <a:cs typeface="Times New Roman"/>
              </a:rPr>
              <a:t>Inside iFogSim2 it drives placement, expected-loss migration and selective replication</a:t>
            </a:r>
          </a:p>
          <a:p>
            <a:pPr algn="l" marL="237744" indent="-237744">
              <a:lnSpc>
                <a:spcPct val="105000"/>
              </a:lnSpc>
              <a:spcAft>
                <a:spcPts val="1200"/>
              </a:spcAft>
              <a:buClr>
                <a:srgbClr val="0079BC"/>
              </a:buClr>
              <a:buFont typeface="Arial"/>
              <a:buChar char="•"/>
            </a:pPr>
            <a:r>
              <a:rPr sz="1700" b="0" i="0">
                <a:solidFill>
                  <a:srgbClr val="1F2933"/>
                </a:solidFill>
                <a:latin typeface="Times New Roman"/>
                <a:cs typeface="Times New Roman"/>
              </a:rPr>
              <a:t>On unseen regimes and seeds: ROC-AUC 0.866 with the best calibration; fault downtime −97% / −85% / −55% vs none / reactive / FTAPA, with 0.2% warm standby</a:t>
            </a:r>
          </a:p>
          <a:p>
            <a:pPr algn="l" marL="237744" indent="-237744">
              <a:lnSpc>
                <a:spcPct val="105000"/>
              </a:lnSpc>
              <a:spcAft>
                <a:spcPts val="1200"/>
              </a:spcAft>
              <a:buClr>
                <a:srgbClr val="0079BC"/>
              </a:buClr>
              <a:buFont typeface="Arial"/>
              <a:buChar char="•"/>
            </a:pPr>
            <a:r>
              <a:rPr sz="1700" b="0" i="0">
                <a:solidFill>
                  <a:srgbClr val="1F2933"/>
                </a:solidFill>
                <a:latin typeface="Times New Roman"/>
                <a:cs typeface="Times New Roman"/>
              </a:rPr>
              <a:t>Advantage over ML appears when telemetry fails with the node</a:t>
            </a:r>
          </a:p>
        </p:txBody>
      </p:sp>
      <p:sp>
        <p:nvSpPr>
          <p:cNvPr id="278532" name="Rounded Rectangle 278531"/>
          <p:cNvSpPr/>
          <p:nvPr/>
        </p:nvSpPr>
        <p:spPr>
          <a:xfrm>
            <a:off x="7406640" y="1252728"/>
            <a:ext cx="4279392" cy="4617720"/>
          </a:xfrm>
          <a:prstGeom prst="roundRect">
            <a:avLst>
              <a:gd name="adj" fmla="val 6000"/>
            </a:avLst>
          </a:prstGeom>
          <a:solidFill>
            <a:srgbClr val="E8F2FA"/>
          </a:solidFill>
          <a:ln w="15875">
            <a:solidFill>
              <a:srgbClr val="0079B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533" name="TextBox 278532"/>
          <p:cNvSpPr txBox="1"/>
          <p:nvPr/>
        </p:nvSpPr>
        <p:spPr>
          <a:xfrm>
            <a:off x="7589520" y="1344168"/>
            <a:ext cx="3913631" cy="4480560"/>
          </a:xfrm>
          <a:prstGeom prst="rect">
            <a:avLst/>
          </a:prstGeom>
          <a:noFill/>
        </p:spPr>
        <p:txBody>
          <a:bodyPr wrap="square" anchor="t" lIns="45720" rIns="45720"/>
          <a:lstStyle/>
          <a:p>
            <a:pPr algn="l">
              <a:lnSpc>
                <a:spcPct val="105000"/>
              </a:lnSpc>
              <a:spcAft>
                <a:spcPts val="400"/>
              </a:spcAft>
              <a:buNone/>
            </a:pPr>
            <a:r>
              <a:rPr sz="1800" b="1" i="0">
                <a:solidFill>
                  <a:srgbClr val="154360"/>
                </a:solidFill>
                <a:latin typeface="Times New Roman"/>
                <a:cs typeface="Times New Roman"/>
              </a:rPr>
              <a:t>Future work</a:t>
            </a:r>
          </a:p>
          <a:p>
            <a:pPr algn="l" marL="237744" indent="-237744">
              <a:lnSpc>
                <a:spcPct val="105000"/>
              </a:lnSpc>
              <a:spcAft>
                <a:spcPts val="1400"/>
              </a:spcAft>
              <a:buClr>
                <a:srgbClr val="0079BC"/>
              </a:buClr>
              <a:buFont typeface="Arial"/>
              <a:buChar char="•"/>
            </a:pPr>
            <a:r>
              <a:rPr sz="1700" b="1" i="0">
                <a:solidFill>
                  <a:srgbClr val="1F2933"/>
                </a:solidFill>
                <a:latin typeface="Times New Roman"/>
                <a:cs typeface="Times New Roman"/>
              </a:rPr>
              <a:t>Real failure traces</a:t>
            </a:r>
            <a:r>
              <a:rPr sz="1700" b="0" i="0">
                <a:solidFill>
                  <a:srgbClr val="1F2933"/>
                </a:solidFill>
                <a:latin typeface="Times New Roman"/>
                <a:cs typeface="Times New Roman"/>
              </a:rPr>
              <a:t> from fog / edge deployments, to test whether the learned precursors transfer</a:t>
            </a:r>
          </a:p>
          <a:p>
            <a:pPr algn="l" marL="237744" indent="-237744">
              <a:lnSpc>
                <a:spcPct val="105000"/>
              </a:lnSpc>
              <a:spcAft>
                <a:spcPts val="1400"/>
              </a:spcAft>
              <a:buClr>
                <a:srgbClr val="0079BC"/>
              </a:buClr>
              <a:buFont typeface="Arial"/>
              <a:buChar char="•"/>
            </a:pPr>
            <a:r>
              <a:rPr sz="1700" b="1" i="0">
                <a:solidFill>
                  <a:srgbClr val="1F2933"/>
                </a:solidFill>
                <a:latin typeface="Times New Roman"/>
                <a:cs typeface="Times New Roman"/>
              </a:rPr>
              <a:t>Dynamic Bayesian network</a:t>
            </a:r>
            <a:r>
              <a:rPr sz="1700" b="0" i="0">
                <a:solidFill>
                  <a:srgbClr val="1F2933"/>
                </a:solidFill>
                <a:latin typeface="Times New Roman"/>
                <a:cs typeface="Times New Roman"/>
              </a:rPr>
              <a:t> to model degradation over time and extend the horizon</a:t>
            </a:r>
          </a:p>
          <a:p>
            <a:pPr algn="l" marL="237744" indent="-237744">
              <a:lnSpc>
                <a:spcPct val="105000"/>
              </a:lnSpc>
              <a:spcAft>
                <a:spcPts val="1400"/>
              </a:spcAft>
              <a:buClr>
                <a:srgbClr val="0079BC"/>
              </a:buClr>
              <a:buFont typeface="Arial"/>
              <a:buChar char="•"/>
            </a:pPr>
            <a:r>
              <a:rPr sz="1700" b="1" i="0">
                <a:solidFill>
                  <a:srgbClr val="1F2933"/>
                </a:solidFill>
                <a:latin typeface="Times New Roman"/>
                <a:cs typeface="Times New Roman"/>
              </a:rPr>
              <a:t>Distributed inference</a:t>
            </a:r>
            <a:r>
              <a:rPr sz="1700" b="0" i="0">
                <a:solidFill>
                  <a:srgbClr val="1F2933"/>
                </a:solidFill>
                <a:latin typeface="Times New Roman"/>
                <a:cs typeface="Times New Roman"/>
              </a:rPr>
              <a:t> across fog clusters — no single controller to fail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8530" name="Rectangle 2"/>
          <p:cNvSpPr>
            <a:spLocks noGrp="1" noChangeArrowheads="1"/>
          </p:cNvSpPr>
          <p:nvPr>
            <p:ph type="title"/>
          </p:nvPr>
        </p:nvSpPr>
        <p:spPr>
          <a:xfrm>
            <a:off x="0" y="0"/>
            <a:ext cx="12192000" cy="1005840"/>
          </a:xfrm>
          <a:solidFill>
            <a:srgbClr val="0079BC"/>
          </a:solidFill>
        </p:spPr>
        <p:txBody>
          <a:bodyPr anchor="ctr"/>
          <a:lstStyle/>
          <a:p>
            <a:pPr algn="ctr">
              <a:defRPr sz="2600" b="1">
                <a:solidFill>
                  <a:srgbClr val="154360"/>
                </a:solidFill>
                <a:latin typeface="Aptos Display"/>
              </a:defRPr>
            </a:pPr>
            <a:r>
              <a:rPr sz="2800" b="1" i="0">
                <a:solidFill>
                  <a:srgbClr val="FFFFFF"/>
                </a:solidFill>
                <a:latin typeface="Times New Roman"/>
                <a:cs typeface="Times New Roman"/>
              </a:rPr>
              <a:t>References</a:t>
            </a:r>
            <a:endParaRPr lang="en-US" sz="2800">
              <a:solidFill>
                <a:schemeClr val="bg1"/>
              </a:solidFill>
            </a:endParaRPr>
          </a:p>
        </p:txBody>
      </p:sp>
      <p:sp>
        <p:nvSpPr>
          <p:cNvPr id="278531" name="TextBox 278530"/>
          <p:cNvSpPr txBox="1"/>
          <p:nvPr/>
        </p:nvSpPr>
        <p:spPr>
          <a:xfrm>
            <a:off x="502920" y="1225296"/>
            <a:ext cx="11183111" cy="4709160"/>
          </a:xfrm>
          <a:prstGeom prst="rect">
            <a:avLst/>
          </a:prstGeom>
          <a:noFill/>
        </p:spPr>
        <p:txBody>
          <a:bodyPr wrap="square" anchor="t" lIns="45720" rIns="45720"/>
          <a:lstStyle/>
          <a:p>
            <a:pPr algn="l">
              <a:lnSpc>
                <a:spcPct val="100000"/>
              </a:lnSpc>
              <a:spcAft>
                <a:spcPts val="500"/>
              </a:spcAft>
              <a:buNone/>
            </a:pPr>
            <a:r>
              <a:rPr sz="1250" b="0" i="0">
                <a:solidFill>
                  <a:srgbClr val="1F2933"/>
                </a:solidFill>
                <a:latin typeface="Times New Roman"/>
                <a:cs typeface="Times New Roman"/>
              </a:rPr>
              <a:t>[1] R. Mahmud, S. Pallewatta, M. Goudarzi, R. Buyya, “iFogSim2: An extended iFogSim simulator for mobility, clustering, and microservice management,” J. Systems and Software, vol. 190, 2022.</a:t>
            </a:r>
          </a:p>
          <a:p>
            <a:pPr algn="l">
              <a:lnSpc>
                <a:spcPct val="100000"/>
              </a:lnSpc>
              <a:spcAft>
                <a:spcPts val="500"/>
              </a:spcAft>
              <a:buNone/>
            </a:pPr>
            <a:r>
              <a:rPr sz="1250" b="0" i="0">
                <a:solidFill>
                  <a:srgbClr val="1F2933"/>
                </a:solidFill>
                <a:latin typeface="Times New Roman"/>
                <a:cs typeface="Times New Roman"/>
              </a:rPr>
              <a:t>[2] H. T. Rajab, M. F. Younis, “Dynamic fault tolerance aware scheduling for healthcare system on fog computing,” Iraqi J. Science, pp. 308–318, 2021.</a:t>
            </a:r>
          </a:p>
          <a:p>
            <a:pPr algn="l">
              <a:lnSpc>
                <a:spcPct val="100000"/>
              </a:lnSpc>
              <a:spcAft>
                <a:spcPts val="500"/>
              </a:spcAft>
              <a:buNone/>
            </a:pPr>
            <a:r>
              <a:rPr sz="1250" b="0" i="0">
                <a:solidFill>
                  <a:srgbClr val="1F2933"/>
                </a:solidFill>
                <a:latin typeface="Times New Roman"/>
                <a:cs typeface="Times New Roman"/>
              </a:rPr>
              <a:t>[3] S. A. Syed et al., “QoS aware and fault tolerance based software-defined vehicular networks using cloud-fog computing,” Sensors, vol. 22, no. 1, 2022.</a:t>
            </a:r>
          </a:p>
          <a:p>
            <a:pPr algn="l">
              <a:lnSpc>
                <a:spcPct val="100000"/>
              </a:lnSpc>
              <a:spcAft>
                <a:spcPts val="500"/>
              </a:spcAft>
              <a:buNone/>
            </a:pPr>
            <a:r>
              <a:rPr sz="1250" b="0" i="0">
                <a:solidFill>
                  <a:srgbClr val="1F2933"/>
                </a:solidFill>
                <a:latin typeface="Times New Roman"/>
                <a:cs typeface="Times New Roman"/>
              </a:rPr>
              <a:t>[4] M. H. Naim, J. M. Zain, K. A. Jalil, “Fault tolerance mechanism for software application through fog computing as middleware,” IJCDS, vol. 5, no. 3, 2016.</a:t>
            </a:r>
          </a:p>
          <a:p>
            <a:pPr algn="l">
              <a:lnSpc>
                <a:spcPct val="100000"/>
              </a:lnSpc>
              <a:spcAft>
                <a:spcPts val="500"/>
              </a:spcAft>
              <a:buNone/>
            </a:pPr>
            <a:r>
              <a:rPr sz="1250" b="0" i="0">
                <a:solidFill>
                  <a:srgbClr val="1F2933"/>
                </a:solidFill>
                <a:latin typeface="Times New Roman"/>
                <a:cs typeface="Times New Roman"/>
              </a:rPr>
              <a:t>[5] A. Reyana et al., “Opportunities of IoT in fog computing for high fault tolerance and sustainable energy optimization,” Sustainability, vol. 15, no. 11, 2023.</a:t>
            </a:r>
          </a:p>
          <a:p>
            <a:pPr algn="l">
              <a:lnSpc>
                <a:spcPct val="100000"/>
              </a:lnSpc>
              <a:spcAft>
                <a:spcPts val="500"/>
              </a:spcAft>
              <a:buNone/>
            </a:pPr>
            <a:r>
              <a:rPr sz="1250" b="0" i="0">
                <a:solidFill>
                  <a:srgbClr val="1F2933"/>
                </a:solidFill>
                <a:latin typeface="Times New Roman"/>
                <a:cs typeface="Times New Roman"/>
              </a:rPr>
              <a:t>[6] S. Gupta, N. Singh, “Optimized fault-tolerant placement of microservices in distributed fog networks,” IJDIIC, vol. 4, no. 4, pp. 52–69, 2025.</a:t>
            </a:r>
          </a:p>
          <a:p>
            <a:pPr algn="l">
              <a:lnSpc>
                <a:spcPct val="100000"/>
              </a:lnSpc>
              <a:spcAft>
                <a:spcPts val="500"/>
              </a:spcAft>
              <a:buNone/>
            </a:pPr>
            <a:r>
              <a:rPr sz="1250" b="0" i="0">
                <a:solidFill>
                  <a:srgbClr val="1F2933"/>
                </a:solidFill>
                <a:latin typeface="Times New Roman"/>
                <a:cs typeface="Times New Roman"/>
              </a:rPr>
              <a:t>[7] J. Pearl, Probabilistic Reasoning in Intelligent Systems. Morgan Kaufmann, 1988.</a:t>
            </a:r>
          </a:p>
          <a:p>
            <a:pPr algn="l">
              <a:lnSpc>
                <a:spcPct val="100000"/>
              </a:lnSpc>
              <a:spcAft>
                <a:spcPts val="500"/>
              </a:spcAft>
              <a:buNone/>
            </a:pPr>
            <a:r>
              <a:rPr sz="1250" b="0" i="0">
                <a:solidFill>
                  <a:srgbClr val="1F2933"/>
                </a:solidFill>
                <a:latin typeface="Times New Roman"/>
                <a:cs typeface="Times New Roman"/>
              </a:rPr>
              <a:t>[8] N. E. Fenton, M. Neil, J. G. Caballero, “Using ranked nodes to model qualitative judgments in Bayesian networks,” IEEE TKDE, vol. 19, no. 10, 2007.</a:t>
            </a:r>
          </a:p>
          <a:p>
            <a:pPr algn="l">
              <a:lnSpc>
                <a:spcPct val="100000"/>
              </a:lnSpc>
              <a:spcAft>
                <a:spcPts val="500"/>
              </a:spcAft>
              <a:buNone/>
            </a:pPr>
            <a:r>
              <a:rPr sz="1250" b="0" i="0">
                <a:solidFill>
                  <a:srgbClr val="1F2933"/>
                </a:solidFill>
                <a:latin typeface="Times New Roman"/>
                <a:cs typeface="Times New Roman"/>
              </a:rPr>
              <a:t>[9] A. P. Dempster, N. M. Laird, D. B. Rubin, “Maximum likelihood from incomplete data via the EM algorithm,” J. Royal Stat. Soc. B, vol. 39, 1977.</a:t>
            </a:r>
          </a:p>
          <a:p>
            <a:pPr algn="l">
              <a:lnSpc>
                <a:spcPct val="100000"/>
              </a:lnSpc>
              <a:spcAft>
                <a:spcPts val="500"/>
              </a:spcAft>
              <a:buNone/>
            </a:pPr>
            <a:r>
              <a:rPr sz="1250" b="0" i="0">
                <a:solidFill>
                  <a:srgbClr val="1F2933"/>
                </a:solidFill>
                <a:latin typeface="Times New Roman"/>
                <a:cs typeface="Times New Roman"/>
              </a:rPr>
              <a:t>[10] P. Weber, G. Medina-Oliva, C. Simon, B. Iung, “Overview on Bayesian networks applications for dependability, risk analysis and maintenance,” EAAI, vol. 25, no. 4, 2012.</a:t>
            </a:r>
          </a:p>
          <a:p>
            <a:pPr algn="l">
              <a:lnSpc>
                <a:spcPct val="100000"/>
              </a:lnSpc>
              <a:spcAft>
                <a:spcPts val="500"/>
              </a:spcAft>
              <a:buNone/>
            </a:pPr>
            <a:r>
              <a:rPr sz="1250" b="0" i="0">
                <a:solidFill>
                  <a:srgbClr val="1F2933"/>
                </a:solidFill>
                <a:latin typeface="Times New Roman"/>
                <a:cs typeface="Times New Roman"/>
              </a:rPr>
              <a:t>[11] C. Guo, G. Pleiss, Y. Sun, K. Q. Weinberger, “On calibration of modern neural networks,” ICML, 2017.</a:t>
            </a:r>
          </a:p>
          <a:p>
            <a:pPr algn="l">
              <a:lnSpc>
                <a:spcPct val="100000"/>
              </a:lnSpc>
              <a:spcAft>
                <a:spcPts val="500"/>
              </a:spcAft>
              <a:buNone/>
            </a:pPr>
            <a:r>
              <a:rPr sz="1250" b="0" i="0">
                <a:solidFill>
                  <a:srgbClr val="1F2933"/>
                </a:solidFill>
                <a:latin typeface="Times New Roman"/>
                <a:cs typeface="Times New Roman"/>
              </a:rPr>
              <a:t>[12] F. Wilcoxon, “Individual comparisons by ranking methods,” Biometrics Bulletin, vol. 1, no. 6, 1945.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81200" y="2256183"/>
            <a:ext cx="8229600" cy="1143000"/>
          </a:xfrm>
        </p:spPr>
        <p:txBody>
          <a:bodyPr/>
          <a:lstStyle/>
          <a:p>
            <a:pPr algn="ctr">
              <a:defRPr sz="2600" b="1">
                <a:solidFill>
                  <a:srgbClr val="154360"/>
                </a:solidFill>
                <a:latin typeface="Aptos Display"/>
              </a:defRPr>
            </a:pPr>
            <a:r>
              <a:rPr lang="en-IN" sz="3200" b="1"/>
              <a:t>Thank You</a:t>
            </a:r>
            <a:r>
              <a:rPr lang="en-IN"/>
              <a:t> </a:t>
            </a:r>
            <a:endParaRPr lang="en-IN"/>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heme/theme1.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254</Words>
  <Application>WPS Presentation</Application>
  <PresentationFormat>Widescreen</PresentationFormat>
  <Paragraphs>21</Paragraphs>
  <Slides>6</Slides>
  <Notes>27</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0</vt:i4>
      </vt:variant>
      <vt:variant>
        <vt:lpstr>幻灯片标题</vt:lpstr>
      </vt:variant>
      <vt:variant>
        <vt:i4>6</vt:i4>
      </vt:variant>
    </vt:vector>
  </HeadingPairs>
  <TitlesOfParts>
    <vt:vector size="19" baseType="lpstr">
      <vt:lpstr>Arial</vt:lpstr>
      <vt:lpstr>SimSun</vt:lpstr>
      <vt:lpstr>Wingdings</vt:lpstr>
      <vt:lpstr>Verdana</vt:lpstr>
      <vt:lpstr>Aptos Display</vt:lpstr>
      <vt:lpstr>Helvetica Neue</vt:lpstr>
      <vt:lpstr>Times New Roman</vt:lpstr>
      <vt:lpstr>Aptos</vt:lpstr>
      <vt:lpstr>Microsoft YaHei</vt:lpstr>
      <vt:lpstr>汉仪旗黑</vt:lpstr>
      <vt:lpstr>Arial Unicode MS</vt:lpstr>
      <vt:lpstr>宋体-简</vt:lpstr>
      <vt:lpstr>1_Default Design</vt:lpstr>
      <vt:lpstr>SSN College of Engineering, Kalavakkam - 603110 Department of Information Technology</vt:lpstr>
      <vt:lpstr>Title</vt:lpstr>
      <vt:lpstr>Title</vt:lpstr>
      <vt:lpstr>Title</vt:lpstr>
      <vt:lpstr>Title</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SENTHIL KUMAR</dc:creator>
  <cp:lastModifiedBy>rahul</cp:lastModifiedBy>
  <cp:revision>112</cp:revision>
  <cp:lastPrinted>2026-10-11T18:14:36Z</cp:lastPrinted>
  <dcterms:created xsi:type="dcterms:W3CDTF">2026-10-11T18:14:36Z</dcterms:created>
  <dcterms:modified xsi:type="dcterms:W3CDTF">2026-10-11T18:14:36Z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1033-12.1.28496.28496</vt:lpwstr>
  </property>
  <property fmtid="{D5CDD505-2E9C-101B-9397-08002B2CF9AE}" pid="3" name="ICV">
    <vt:lpwstr>C74005CF77AE1C8DECF8566A79DFFBB0_42</vt:lpwstr>
  </property>
</Properties>
</file>